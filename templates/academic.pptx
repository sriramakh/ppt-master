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FY 2025</c:v>
                </c:pt>
              </c:strCache>
            </c:strRef>
          </c:tx>
          <c:spPr>
            <a:solidFill>
              <a:srgbClr val="2563EB"/>
            </a:solidFill>
            <a:ln w="31750">
              <a:solidFill>
                <a:srgbClr val="2563EB"/>
              </a:solidFill>
            </a:ln>
          </c:spPr>
          <c:cat>
            <c:strRef>
              <c:f>Sheet1!$A$2:$A$7</c:f>
              <c:strCache>
                <c:ptCount val="6"/>
                <c:pt idx="0">
                  <c:v>North America</c:v>
                </c:pt>
                <c:pt idx="1">
                  <c:v>Europe</c:v>
                </c:pt>
                <c:pt idx="2">
                  <c:v>Asia Pacific</c:v>
                </c:pt>
                <c:pt idx="3">
                  <c:v>Latin America</c:v>
                </c:pt>
                <c:pt idx="4">
                  <c:v>Middle East</c:v>
                </c:pt>
                <c:pt idx="5">
                  <c:v>Africa</c:v>
                </c:pt>
              </c:strCache>
            </c:strRef>
          </c:cat>
          <c:val>
            <c:numRef>
              <c:f>Sheet1!$B$2:$B$7</c:f>
              <c:numCache>
                <c:formatCode>General</c:formatCode>
                <c:ptCount val="6"/>
                <c:pt idx="0">
                  <c:v>320</c:v>
                </c:pt>
                <c:pt idx="1">
                  <c:v>210</c:v>
                </c:pt>
                <c:pt idx="2">
                  <c:v>180</c:v>
                </c:pt>
                <c:pt idx="3">
                  <c:v>95</c:v>
                </c:pt>
                <c:pt idx="4">
                  <c:v>65</c:v>
                </c:pt>
                <c:pt idx="5">
                  <c:v>45</c:v>
                </c:pt>
              </c:numCache>
            </c:numRef>
          </c:val>
        </c:ser>
        <c:ser>
          <c:idx val="1"/>
          <c:order val="1"/>
          <c:tx>
            <c:strRef>
              <c:f>Sheet1!$C$1</c:f>
              <c:strCache>
                <c:ptCount val="1"/>
                <c:pt idx="0">
                  <c:v>FY 2026</c:v>
                </c:pt>
              </c:strCache>
            </c:strRef>
          </c:tx>
          <c:spPr>
            <a:solidFill>
              <a:srgbClr val="E85D04"/>
            </a:solidFill>
            <a:ln w="31750">
              <a:solidFill>
                <a:srgbClr val="E85D04"/>
              </a:solidFill>
            </a:ln>
          </c:spPr>
          <c:cat>
            <c:strRef>
              <c:f>Sheet1!$A$2:$A$7</c:f>
              <c:strCache>
                <c:ptCount val="6"/>
                <c:pt idx="0">
                  <c:v>North America</c:v>
                </c:pt>
                <c:pt idx="1">
                  <c:v>Europe</c:v>
                </c:pt>
                <c:pt idx="2">
                  <c:v>Asia Pacific</c:v>
                </c:pt>
                <c:pt idx="3">
                  <c:v>Latin America</c:v>
                </c:pt>
                <c:pt idx="4">
                  <c:v>Middle East</c:v>
                </c:pt>
                <c:pt idx="5">
                  <c:v>Africa</c:v>
                </c:pt>
              </c:strCache>
            </c:strRef>
          </c:cat>
          <c:val>
            <c:numRef>
              <c:f>Sheet1!$C$2:$C$7</c:f>
              <c:numCache>
                <c:formatCode>General</c:formatCode>
                <c:ptCount val="6"/>
                <c:pt idx="0">
                  <c:v>380</c:v>
                </c:pt>
                <c:pt idx="1">
                  <c:v>250</c:v>
                </c:pt>
                <c:pt idx="2">
                  <c:v>220</c:v>
                </c:pt>
                <c:pt idx="3">
                  <c:v>120</c:v>
                </c:pt>
                <c:pt idx="4">
                  <c:v>85</c:v>
                </c:pt>
                <c:pt idx="5">
                  <c:v>60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4A5568"/>
                </a:solidFill>
                <a:latin typeface="Georgia"/>
              </a:defRPr>
            </a:pPr>
          </a:p>
        </c:txPr>
        <c:crossAx val="-2113994440"/>
        <c:crosses val="autoZero"/>
        <c:auto val="1"/>
        <c:lblAlgn val="ctr"/>
        <c:lblOffset val="100"/>
        <c:noMultiLvlLbl val="0"/>
      </c:catAx>
      <c:valAx>
        <c:axId val="-2113994440"/>
        <c:scaling/>
        <c:delete val="0"/>
        <c:axPos val="l"/>
        <c:majorGridlines>
          <c:spPr>
            <a:ln>
              <a:noFill/>
            </a:ln>
          </c:spPr>
        </c:majorGridlines>
        <c:majorTickMark val="out"/>
        <c:minorTickMark val="none"/>
        <c:tickLblPos val="nextTo"/>
        <c:txPr>
          <a:bodyPr/>
          <a:lstStyle/>
          <a:p>
            <a:pPr>
              <a:defRPr sz="1000">
                <a:solidFill>
                  <a:srgbClr val="4A5568"/>
                </a:solidFill>
                <a:latin typeface="Georgia"/>
              </a:defRPr>
            </a:pPr>
          </a:p>
        </c:txPr>
        <c:crossAx val="-2068027336"/>
        <c:crosses val="autoZero"/>
      </c:valAx>
    </c:plotArea>
    <c:legend>
      <c:legendPos val="b"/>
      <c:overlay val="0"/>
      <c:txPr>
        <a:bodyPr/>
        <a:lstStyle/>
        <a:p>
          <a:pPr>
            <a:defRPr sz="1000">
              <a:latin typeface="Georgia"/>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Revenue ($M)</c:v>
                </c:pt>
              </c:strCache>
            </c:strRef>
          </c:tx>
          <c:spPr>
            <a:solidFill>
              <a:srgbClr val="2563EB"/>
            </a:solidFill>
            <a:ln w="31750">
              <a:solidFill>
                <a:srgbClr val="2563EB"/>
              </a:solidFill>
            </a:ln>
          </c:spPr>
          <c:cat>
            <c:strRef>
              <c:f>Sheet1!$A$2:$A$6</c:f>
              <c:strCache>
                <c:ptCount val="5"/>
                <c:pt idx="0">
                  <c:v>2022</c:v>
                </c:pt>
                <c:pt idx="1">
                  <c:v>2023</c:v>
                </c:pt>
                <c:pt idx="2">
                  <c:v>2024</c:v>
                </c:pt>
                <c:pt idx="3">
                  <c:v>2025</c:v>
                </c:pt>
                <c:pt idx="4">
                  <c:v>2026</c:v>
                </c:pt>
              </c:strCache>
            </c:strRef>
          </c:cat>
          <c:val>
            <c:numRef>
              <c:f>Sheet1!$B$2:$B$6</c:f>
              <c:numCache>
                <c:formatCode>General</c:formatCode>
                <c:ptCount val="5"/>
                <c:pt idx="0">
                  <c:v>520</c:v>
                </c:pt>
                <c:pt idx="1">
                  <c:v>610</c:v>
                </c:pt>
                <c:pt idx="2">
                  <c:v>690</c:v>
                </c:pt>
                <c:pt idx="3">
                  <c:v>780</c:v>
                </c:pt>
                <c:pt idx="4">
                  <c:v>850</c:v>
                </c:pt>
              </c:numCache>
            </c:numRef>
          </c:val>
          <c:smooth val="0"/>
        </c:ser>
        <c:ser>
          <c:idx val="1"/>
          <c:order val="1"/>
          <c:tx>
            <c:strRef>
              <c:f>Sheet1!$C$1</c:f>
              <c:strCache>
                <c:ptCount val="1"/>
                <c:pt idx="0">
                  <c:v>Profit ($M)</c:v>
                </c:pt>
              </c:strCache>
            </c:strRef>
          </c:tx>
          <c:spPr>
            <a:solidFill>
              <a:srgbClr val="E85D04"/>
            </a:solidFill>
            <a:ln w="31750">
              <a:solidFill>
                <a:srgbClr val="E85D04"/>
              </a:solidFill>
            </a:ln>
          </c:spPr>
          <c:cat>
            <c:strRef>
              <c:f>Sheet1!$A$2:$A$6</c:f>
              <c:strCache>
                <c:ptCount val="5"/>
                <c:pt idx="0">
                  <c:v>2022</c:v>
                </c:pt>
                <c:pt idx="1">
                  <c:v>2023</c:v>
                </c:pt>
                <c:pt idx="2">
                  <c:v>2024</c:v>
                </c:pt>
                <c:pt idx="3">
                  <c:v>2025</c:v>
                </c:pt>
                <c:pt idx="4">
                  <c:v>2026</c:v>
                </c:pt>
              </c:strCache>
            </c:strRef>
          </c:cat>
          <c:val>
            <c:numRef>
              <c:f>Sheet1!$C$2:$C$6</c:f>
              <c:numCache>
                <c:formatCode>General</c:formatCode>
                <c:ptCount val="5"/>
                <c:pt idx="0">
                  <c:v>78</c:v>
                </c:pt>
                <c:pt idx="1">
                  <c:v>95</c:v>
                </c:pt>
                <c:pt idx="2">
                  <c:v>110</c:v>
                </c:pt>
                <c:pt idx="3">
                  <c:v>135</c:v>
                </c:pt>
                <c:pt idx="4">
                  <c:v>157</c:v>
                </c:pt>
              </c:numCache>
            </c:numRef>
          </c:val>
          <c:smooth val="0"/>
        </c:ser>
        <c:ser>
          <c:idx val="2"/>
          <c:order val="2"/>
          <c:tx>
            <c:strRef>
              <c:f>Sheet1!$D$1</c:f>
              <c:strCache>
                <c:ptCount val="1"/>
                <c:pt idx="0">
                  <c:v>Headcount</c:v>
                </c:pt>
              </c:strCache>
            </c:strRef>
          </c:tx>
          <c:spPr>
            <a:solidFill>
              <a:srgbClr val="2D6A4F"/>
            </a:solidFill>
            <a:ln w="31750">
              <a:solidFill>
                <a:srgbClr val="2D6A4F"/>
              </a:solidFill>
            </a:ln>
          </c:spPr>
          <c:cat>
            <c:strRef>
              <c:f>Sheet1!$A$2:$A$6</c:f>
              <c:strCache>
                <c:ptCount val="5"/>
                <c:pt idx="0">
                  <c:v>2022</c:v>
                </c:pt>
                <c:pt idx="1">
                  <c:v>2023</c:v>
                </c:pt>
                <c:pt idx="2">
                  <c:v>2024</c:v>
                </c:pt>
                <c:pt idx="3">
                  <c:v>2025</c:v>
                </c:pt>
                <c:pt idx="4">
                  <c:v>2026</c:v>
                </c:pt>
              </c:strCache>
            </c:strRef>
          </c:cat>
          <c:val>
            <c:numRef>
              <c:f>Sheet1!$D$2:$D$6</c:f>
              <c:numCache>
                <c:formatCode>General</c:formatCode>
                <c:ptCount val="5"/>
                <c:pt idx="0">
                  <c:v>1800</c:v>
                </c:pt>
                <c:pt idx="1">
                  <c:v>2000</c:v>
                </c:pt>
                <c:pt idx="2">
                  <c:v>2200</c:v>
                </c:pt>
                <c:pt idx="3">
                  <c:v>2350</c:v>
                </c:pt>
                <c:pt idx="4">
                  <c:v>2500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solidFill>
                  <a:srgbClr val="4A5568"/>
                </a:solidFill>
                <a:latin typeface="Georgia"/>
              </a:defRPr>
            </a:pPr>
          </a:p>
        </c:txPr>
        <c:crossAx val="2140495176"/>
        <c:crosses val="autoZero"/>
        <c:auto val="1"/>
        <c:lblAlgn val="ctr"/>
        <c:lblOffset val="100"/>
        <c:noMultiLvlLbl val="0"/>
      </c:catAx>
      <c:valAx>
        <c:axId val="2140495176"/>
        <c:scaling/>
        <c:delete val="0"/>
        <c:axPos val="l"/>
        <c:majorGridlines>
          <c:spPr>
            <a:ln>
              <a:noFill/>
            </a:ln>
          </c:spPr>
        </c:majorGridlines>
        <c:majorTickMark val="out"/>
        <c:minorTickMark val="none"/>
        <c:tickLblPos val="nextTo"/>
        <c:txPr>
          <a:bodyPr/>
          <a:lstStyle/>
          <a:p>
            <a:pPr>
              <a:defRPr sz="1000">
                <a:solidFill>
                  <a:srgbClr val="4A5568"/>
                </a:solidFill>
                <a:latin typeface="Georgia"/>
              </a:defRPr>
            </a:pPr>
          </a:p>
        </c:txPr>
        <c:crossAx val="2118791784"/>
        <c:crosses val="autoZero"/>
      </c:valAx>
    </c:plotArea>
    <c:legend>
      <c:legendPos val="b"/>
      <c:layout/>
      <c:overlay val="0"/>
      <c:txPr>
        <a:bodyPr/>
        <a:lstStyle/>
        <a:p>
          <a:pPr>
            <a:defRPr sz="1000">
              <a:latin typeface="Georgia"/>
            </a:defRPr>
          </a:pPr>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Share</c:v>
                </c:pt>
              </c:strCache>
            </c:strRef>
          </c:tx>
          <c:dPt>
            <c:idx val="0"/>
            <c:spPr>
              <a:solidFill>
                <a:srgbClr val="2563EB"/>
              </a:solidFill>
            </c:spPr>
          </c:dPt>
          <c:dPt>
            <c:idx val="1"/>
            <c:spPr>
              <a:solidFill>
                <a:srgbClr val="E85D04"/>
              </a:solidFill>
            </c:spPr>
          </c:dPt>
          <c:dPt>
            <c:idx val="2"/>
            <c:spPr>
              <a:solidFill>
                <a:srgbClr val="2D6A4F"/>
              </a:solidFill>
            </c:spPr>
          </c:dPt>
          <c:dPt>
            <c:idx val="3"/>
            <c:spPr>
              <a:solidFill>
                <a:srgbClr val="7C5CBF"/>
              </a:solidFill>
            </c:spPr>
          </c:dPt>
          <c:dPt>
            <c:idx val="4"/>
            <c:spPr>
              <a:solidFill>
                <a:srgbClr val="C27D38"/>
              </a:solidFill>
            </c:spPr>
          </c:dPt>
          <c:cat>
            <c:strRef>
              <c:f>Sheet1!$A$2:$A$6</c:f>
              <c:strCache>
                <c:ptCount val="5"/>
                <c:pt idx="0">
                  <c:v>Enterprise</c:v>
                </c:pt>
                <c:pt idx="1">
                  <c:v>Mid-Market</c:v>
                </c:pt>
                <c:pt idx="2">
                  <c:v>SMB</c:v>
                </c:pt>
                <c:pt idx="3">
                  <c:v>Government</c:v>
                </c:pt>
                <c:pt idx="4">
                  <c:v>Partners</c:v>
                </c:pt>
              </c:strCache>
            </c:strRef>
          </c:cat>
          <c:val>
            <c:numRef>
              <c:f>Sheet1!$B$2:$B$6</c:f>
              <c:numCache>
                <c:formatCode>General</c:formatCode>
                <c:ptCount val="5"/>
                <c:pt idx="0">
                  <c:v>42</c:v>
                </c:pt>
                <c:pt idx="1">
                  <c:v>28</c:v>
                </c:pt>
                <c:pt idx="2">
                  <c:v>15</c:v>
                </c:pt>
                <c:pt idx="3">
                  <c:v>10</c:v>
                </c:pt>
                <c:pt idx="4">
                  <c:v>5</c:v>
                </c:pt>
              </c:numCache>
            </c:numRef>
          </c:val>
        </c:ser>
        <c:dLbls>
          <c:txPr>
            <a:bodyPr/>
            <a:lstStyle/>
            <a:p>
              <a:pPr>
                <a:defRPr sz="1000">
                  <a:solidFill>
                    <a:srgbClr val="4A5568"/>
                  </a:solidFill>
                  <a:latin typeface="Georgia"/>
                </a:defRPr>
              </a:pPr>
            </a:p>
          </c:txPr>
          <c:showLegendKey val="0"/>
          <c:showVal val="0"/>
          <c:showCatName val="0"/>
          <c:showSerName val="0"/>
          <c:showPercent val="1"/>
          <c:showBubbleSize val="0"/>
          <c:showLeaderLines val="1"/>
        </c:dLbls>
        <c:firstSliceAng val="0"/>
        <c:holeSize val="50"/>
      </c:doughnutChart>
    </c:plotArea>
    <c:legend>
      <c:legendPos val="b"/>
      <c:layout/>
      <c:overlay val="0"/>
      <c:txPr>
        <a:bodyPr/>
        <a:lstStyle/>
        <a:p>
          <a:pPr>
            <a:defRPr sz="1000">
              <a:latin typeface="Georgia"/>
            </a:defRPr>
          </a:pPr>
        </a:p>
      </c:txPr>
    </c:legend>
    <c:plotVisOnly val="1"/>
    <c:dispBlanksAs val="gap"/>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00000"/>
            <a:ext cx="10820400" cy="350000"/>
          </a:xfrm>
          <a:prstGeom prst="rect">
            <a:avLst/>
          </a:prstGeom>
          <a:noFill/>
        </p:spPr>
        <p:txBody>
          <a:bodyPr wrap="square" anchor="t">
            <a:spAutoFit/>
          </a:bodyPr>
          <a:lstStyle/>
          <a:p>
            <a:pPr algn="ctr"/>
            <a:r>
              <a:rPr sz="1100" b="0" i="0">
                <a:solidFill>
                  <a:srgbClr val="4A5568"/>
                </a:solidFill>
                <a:latin typeface="Inter"/>
              </a:rPr>
              <a:t>University</a:t>
            </a:r>
          </a:p>
        </p:txBody>
      </p:sp>
      <p:cxnSp>
        <p:nvCxnSpPr>
          <p:cNvPr id="4" name="Connector 3"/>
          <p:cNvCxnSpPr/>
          <p:nvPr/>
        </p:nvCxnSpPr>
        <p:spPr>
          <a:xfrm>
            <a:off x="3048000" y="2329000"/>
            <a:ext cx="60960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35800" y="2529000"/>
            <a:ext cx="9320400" cy="1000000"/>
          </a:xfrm>
          <a:prstGeom prst="rect">
            <a:avLst/>
          </a:prstGeom>
          <a:noFill/>
        </p:spPr>
        <p:txBody>
          <a:bodyPr wrap="square" anchor="t">
            <a:spAutoFit/>
          </a:bodyPr>
          <a:lstStyle/>
          <a:p>
            <a:pPr algn="ctr"/>
            <a:r>
              <a:rPr sz="3600" b="1" i="0">
                <a:solidFill>
                  <a:srgbClr val="1E3A5F"/>
                </a:solidFill>
                <a:latin typeface="Inter"/>
              </a:rPr>
              <a:t>Research &amp; Academic Excellence</a:t>
            </a:r>
          </a:p>
        </p:txBody>
      </p:sp>
      <p:cxnSp>
        <p:nvCxnSpPr>
          <p:cNvPr id="6" name="Connector 5"/>
          <p:cNvCxnSpPr/>
          <p:nvPr/>
        </p:nvCxnSpPr>
        <p:spPr>
          <a:xfrm>
            <a:off x="3048000" y="3729000"/>
            <a:ext cx="60960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685800" y="3979000"/>
            <a:ext cx="8820400" cy="400000"/>
          </a:xfrm>
          <a:prstGeom prst="rect">
            <a:avLst/>
          </a:prstGeom>
          <a:noFill/>
        </p:spPr>
        <p:txBody>
          <a:bodyPr wrap="square" anchor="t">
            <a:spAutoFit/>
          </a:bodyPr>
          <a:lstStyle/>
          <a:p>
            <a:pPr algn="ctr"/>
            <a:r>
              <a:rPr sz="1400" b="0" i="0">
                <a:solidFill>
                  <a:srgbClr val="4A5568"/>
                </a:solidFill>
                <a:latin typeface="Inter"/>
              </a:rPr>
              <a:t>Advancing Knowledge Through Scholarship</a:t>
            </a:r>
          </a:p>
        </p:txBody>
      </p:sp>
      <p:sp>
        <p:nvSpPr>
          <p:cNvPr id="8" name="TextBox 7"/>
          <p:cNvSpPr txBox="1"/>
          <p:nvPr/>
        </p:nvSpPr>
        <p:spPr>
          <a:xfrm>
            <a:off x="685800" y="5758000"/>
            <a:ext cx="10820400" cy="300000"/>
          </a:xfrm>
          <a:prstGeom prst="rect">
            <a:avLst/>
          </a:prstGeom>
          <a:noFill/>
        </p:spPr>
        <p:txBody>
          <a:bodyPr wrap="square" anchor="t">
            <a:spAutoFit/>
          </a:bodyPr>
          <a:lstStyle/>
          <a:p>
            <a:pPr algn="ctr"/>
            <a:r>
              <a:rPr sz="1000" b="0" i="0">
                <a:solidFill>
                  <a:srgbClr val="A4AAB3"/>
                </a:solidFill>
                <a:latin typeface="Inter"/>
              </a:rPr>
              <a:t>February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00000"/>
            <a:ext cx="10820400" cy="600000"/>
          </a:xfrm>
          <a:prstGeom prst="rect">
            <a:avLst/>
          </a:prstGeom>
          <a:noFill/>
        </p:spPr>
        <p:txBody>
          <a:bodyPr wrap="square" anchor="t">
            <a:spAutoFit/>
          </a:bodyPr>
          <a:lstStyle/>
          <a:p>
            <a:pPr algn="ctr"/>
            <a:r>
              <a:rPr sz="2800" b="1" i="0">
                <a:solidFill>
                  <a:srgbClr val="1E3A5F"/>
                </a:solidFill>
                <a:latin typeface="Inter"/>
              </a:rPr>
              <a:t>Contents</a:t>
            </a:r>
          </a:p>
        </p:txBody>
      </p:sp>
      <p:cxnSp>
        <p:nvCxnSpPr>
          <p:cNvPr id="4" name="Connector 3"/>
          <p:cNvCxnSpPr/>
          <p:nvPr/>
        </p:nvCxnSpPr>
        <p:spPr>
          <a:xfrm>
            <a:off x="3048000" y="1250000"/>
            <a:ext cx="60960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438400" y="1500000"/>
            <a:ext cx="500000" cy="350000"/>
          </a:xfrm>
          <a:prstGeom prst="rect">
            <a:avLst/>
          </a:prstGeom>
          <a:noFill/>
        </p:spPr>
        <p:txBody>
          <a:bodyPr wrap="square" anchor="t">
            <a:spAutoFit/>
          </a:bodyPr>
          <a:lstStyle/>
          <a:p>
            <a:pPr algn="l"/>
            <a:r>
              <a:rPr sz="1600" b="1" i="0">
                <a:solidFill>
                  <a:srgbClr val="9B2335"/>
                </a:solidFill>
                <a:latin typeface="Inter"/>
              </a:rPr>
              <a:t>01</a:t>
            </a:r>
          </a:p>
        </p:txBody>
      </p:sp>
      <p:sp>
        <p:nvSpPr>
          <p:cNvPr id="6" name="TextBox 5"/>
          <p:cNvSpPr txBox="1"/>
          <p:nvPr/>
        </p:nvSpPr>
        <p:spPr>
          <a:xfrm>
            <a:off x="2988400" y="1500000"/>
            <a:ext cx="6765200" cy="350000"/>
          </a:xfrm>
          <a:prstGeom prst="rect">
            <a:avLst/>
          </a:prstGeom>
          <a:noFill/>
        </p:spPr>
        <p:txBody>
          <a:bodyPr wrap="square" anchor="t">
            <a:spAutoFit/>
          </a:bodyPr>
          <a:lstStyle/>
          <a:p>
            <a:pPr algn="l"/>
            <a:r>
              <a:rPr sz="1800" b="1" i="0">
                <a:solidFill>
                  <a:srgbClr val="1E3A5F"/>
                </a:solidFill>
                <a:latin typeface="Inter"/>
              </a:rPr>
              <a:t>About Us</a:t>
            </a:r>
          </a:p>
        </p:txBody>
      </p:sp>
      <p:sp>
        <p:nvSpPr>
          <p:cNvPr id="7" name="TextBox 6"/>
          <p:cNvSpPr txBox="1"/>
          <p:nvPr/>
        </p:nvSpPr>
        <p:spPr>
          <a:xfrm>
            <a:off x="2988400" y="1820000"/>
            <a:ext cx="6765200" cy="280000"/>
          </a:xfrm>
          <a:prstGeom prst="rect">
            <a:avLst/>
          </a:prstGeom>
          <a:noFill/>
        </p:spPr>
        <p:txBody>
          <a:bodyPr wrap="square" anchor="t">
            <a:spAutoFit/>
          </a:bodyPr>
          <a:lstStyle/>
          <a:p>
            <a:pPr algn="l"/>
            <a:r>
              <a:rPr sz="1200" b="0" i="0">
                <a:solidFill>
                  <a:srgbClr val="4A5568"/>
                </a:solidFill>
                <a:latin typeface="Inter"/>
              </a:rPr>
              <a:t>Company overview, values, and leadership</a:t>
            </a:r>
          </a:p>
        </p:txBody>
      </p:sp>
      <p:cxnSp>
        <p:nvCxnSpPr>
          <p:cNvPr id="8" name="Connector 7"/>
          <p:cNvCxnSpPr/>
          <p:nvPr/>
        </p:nvCxnSpPr>
        <p:spPr>
          <a:xfrm>
            <a:off x="2438400" y="2220000"/>
            <a:ext cx="731520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438400" y="2280000"/>
            <a:ext cx="500000" cy="350000"/>
          </a:xfrm>
          <a:prstGeom prst="rect">
            <a:avLst/>
          </a:prstGeom>
          <a:noFill/>
        </p:spPr>
        <p:txBody>
          <a:bodyPr wrap="square" anchor="t">
            <a:spAutoFit/>
          </a:bodyPr>
          <a:lstStyle/>
          <a:p>
            <a:pPr algn="l"/>
            <a:r>
              <a:rPr sz="1600" b="1" i="0">
                <a:solidFill>
                  <a:srgbClr val="9B2335"/>
                </a:solidFill>
                <a:latin typeface="Inter"/>
              </a:rPr>
              <a:t>02</a:t>
            </a:r>
          </a:p>
        </p:txBody>
      </p:sp>
      <p:sp>
        <p:nvSpPr>
          <p:cNvPr id="10" name="TextBox 9"/>
          <p:cNvSpPr txBox="1"/>
          <p:nvPr/>
        </p:nvSpPr>
        <p:spPr>
          <a:xfrm>
            <a:off x="2988400" y="2280000"/>
            <a:ext cx="6765200" cy="350000"/>
          </a:xfrm>
          <a:prstGeom prst="rect">
            <a:avLst/>
          </a:prstGeom>
          <a:noFill/>
        </p:spPr>
        <p:txBody>
          <a:bodyPr wrap="square" anchor="t">
            <a:spAutoFit/>
          </a:bodyPr>
          <a:lstStyle/>
          <a:p>
            <a:pPr algn="l"/>
            <a:r>
              <a:rPr sz="1800" b="1" i="0">
                <a:solidFill>
                  <a:srgbClr val="1E3A5F"/>
                </a:solidFill>
                <a:latin typeface="Inter"/>
              </a:rPr>
              <a:t>Strategy</a:t>
            </a:r>
          </a:p>
        </p:txBody>
      </p:sp>
      <p:sp>
        <p:nvSpPr>
          <p:cNvPr id="11" name="TextBox 10"/>
          <p:cNvSpPr txBox="1"/>
          <p:nvPr/>
        </p:nvSpPr>
        <p:spPr>
          <a:xfrm>
            <a:off x="2988400" y="2600000"/>
            <a:ext cx="6765200" cy="280000"/>
          </a:xfrm>
          <a:prstGeom prst="rect">
            <a:avLst/>
          </a:prstGeom>
          <a:noFill/>
        </p:spPr>
        <p:txBody>
          <a:bodyPr wrap="square" anchor="t">
            <a:spAutoFit/>
          </a:bodyPr>
          <a:lstStyle/>
          <a:p>
            <a:pPr algn="l"/>
            <a:r>
              <a:rPr sz="1200" b="0" i="0">
                <a:solidFill>
                  <a:srgbClr val="4A5568"/>
                </a:solidFill>
                <a:latin typeface="Inter"/>
              </a:rPr>
              <a:t>Executive summary, KPIs, and analysis</a:t>
            </a:r>
          </a:p>
        </p:txBody>
      </p:sp>
      <p:cxnSp>
        <p:nvCxnSpPr>
          <p:cNvPr id="12" name="Connector 11"/>
          <p:cNvCxnSpPr/>
          <p:nvPr/>
        </p:nvCxnSpPr>
        <p:spPr>
          <a:xfrm>
            <a:off x="2438400" y="3000000"/>
            <a:ext cx="731520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438400" y="3060000"/>
            <a:ext cx="500000" cy="350000"/>
          </a:xfrm>
          <a:prstGeom prst="rect">
            <a:avLst/>
          </a:prstGeom>
          <a:noFill/>
        </p:spPr>
        <p:txBody>
          <a:bodyPr wrap="square" anchor="t">
            <a:spAutoFit/>
          </a:bodyPr>
          <a:lstStyle/>
          <a:p>
            <a:pPr algn="l"/>
            <a:r>
              <a:rPr sz="1600" b="1" i="0">
                <a:solidFill>
                  <a:srgbClr val="9B2335"/>
                </a:solidFill>
                <a:latin typeface="Inter"/>
              </a:rPr>
              <a:t>03</a:t>
            </a:r>
          </a:p>
        </p:txBody>
      </p:sp>
      <p:sp>
        <p:nvSpPr>
          <p:cNvPr id="14" name="TextBox 13"/>
          <p:cNvSpPr txBox="1"/>
          <p:nvPr/>
        </p:nvSpPr>
        <p:spPr>
          <a:xfrm>
            <a:off x="2988400" y="3060000"/>
            <a:ext cx="6765200" cy="350000"/>
          </a:xfrm>
          <a:prstGeom prst="rect">
            <a:avLst/>
          </a:prstGeom>
          <a:noFill/>
        </p:spPr>
        <p:txBody>
          <a:bodyPr wrap="square" anchor="t">
            <a:spAutoFit/>
          </a:bodyPr>
          <a:lstStyle/>
          <a:p>
            <a:pPr algn="l"/>
            <a:r>
              <a:rPr sz="1800" b="1" i="0">
                <a:solidFill>
                  <a:srgbClr val="1E3A5F"/>
                </a:solidFill>
                <a:latin typeface="Inter"/>
              </a:rPr>
              <a:t>Process</a:t>
            </a:r>
          </a:p>
        </p:txBody>
      </p:sp>
      <p:sp>
        <p:nvSpPr>
          <p:cNvPr id="15" name="TextBox 14"/>
          <p:cNvSpPr txBox="1"/>
          <p:nvPr/>
        </p:nvSpPr>
        <p:spPr>
          <a:xfrm>
            <a:off x="2988400" y="3380000"/>
            <a:ext cx="6765200" cy="280000"/>
          </a:xfrm>
          <a:prstGeom prst="rect">
            <a:avLst/>
          </a:prstGeom>
          <a:noFill/>
        </p:spPr>
        <p:txBody>
          <a:bodyPr wrap="square" anchor="t">
            <a:spAutoFit/>
          </a:bodyPr>
          <a:lstStyle/>
          <a:p>
            <a:pPr algn="l"/>
            <a:r>
              <a:rPr sz="1200" b="0" i="0">
                <a:solidFill>
                  <a:srgbClr val="4A5568"/>
                </a:solidFill>
                <a:latin typeface="Inter"/>
              </a:rPr>
              <a:t>Workflows, diagrams, and planning</a:t>
            </a:r>
          </a:p>
        </p:txBody>
      </p:sp>
      <p:cxnSp>
        <p:nvCxnSpPr>
          <p:cNvPr id="16" name="Connector 15"/>
          <p:cNvCxnSpPr/>
          <p:nvPr/>
        </p:nvCxnSpPr>
        <p:spPr>
          <a:xfrm>
            <a:off x="2438400" y="3780000"/>
            <a:ext cx="731520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438400" y="3840000"/>
            <a:ext cx="500000" cy="350000"/>
          </a:xfrm>
          <a:prstGeom prst="rect">
            <a:avLst/>
          </a:prstGeom>
          <a:noFill/>
        </p:spPr>
        <p:txBody>
          <a:bodyPr wrap="square" anchor="t">
            <a:spAutoFit/>
          </a:bodyPr>
          <a:lstStyle/>
          <a:p>
            <a:pPr algn="l"/>
            <a:r>
              <a:rPr sz="1600" b="1" i="0">
                <a:solidFill>
                  <a:srgbClr val="9B2335"/>
                </a:solidFill>
                <a:latin typeface="Inter"/>
              </a:rPr>
              <a:t>04</a:t>
            </a:r>
          </a:p>
        </p:txBody>
      </p:sp>
      <p:sp>
        <p:nvSpPr>
          <p:cNvPr id="18" name="TextBox 17"/>
          <p:cNvSpPr txBox="1"/>
          <p:nvPr/>
        </p:nvSpPr>
        <p:spPr>
          <a:xfrm>
            <a:off x="2988400" y="3840000"/>
            <a:ext cx="6765200" cy="350000"/>
          </a:xfrm>
          <a:prstGeom prst="rect">
            <a:avLst/>
          </a:prstGeom>
          <a:noFill/>
        </p:spPr>
        <p:txBody>
          <a:bodyPr wrap="square" anchor="t">
            <a:spAutoFit/>
          </a:bodyPr>
          <a:lstStyle/>
          <a:p>
            <a:pPr algn="l"/>
            <a:r>
              <a:rPr sz="1800" b="1" i="0">
                <a:solidFill>
                  <a:srgbClr val="1E3A5F"/>
                </a:solidFill>
                <a:latin typeface="Inter"/>
              </a:rPr>
              <a:t>Data &amp; Insights</a:t>
            </a:r>
          </a:p>
        </p:txBody>
      </p:sp>
      <p:sp>
        <p:nvSpPr>
          <p:cNvPr id="19" name="TextBox 18"/>
          <p:cNvSpPr txBox="1"/>
          <p:nvPr/>
        </p:nvSpPr>
        <p:spPr>
          <a:xfrm>
            <a:off x="2988400" y="4160000"/>
            <a:ext cx="6765200" cy="280000"/>
          </a:xfrm>
          <a:prstGeom prst="rect">
            <a:avLst/>
          </a:prstGeom>
          <a:noFill/>
        </p:spPr>
        <p:txBody>
          <a:bodyPr wrap="square" anchor="t">
            <a:spAutoFit/>
          </a:bodyPr>
          <a:lstStyle/>
          <a:p>
            <a:pPr algn="l"/>
            <a:r>
              <a:rPr sz="1200" b="0" i="0">
                <a:solidFill>
                  <a:srgbClr val="4A5568"/>
                </a:solidFill>
                <a:latin typeface="Inter"/>
              </a:rPr>
              <a:t>Charts, comparisons, and detailed analysis</a:t>
            </a:r>
          </a:p>
        </p:txBody>
      </p:sp>
      <p:cxnSp>
        <p:nvCxnSpPr>
          <p:cNvPr id="20" name="Connector 19"/>
          <p:cNvCxnSpPr/>
          <p:nvPr/>
        </p:nvCxnSpPr>
        <p:spPr>
          <a:xfrm>
            <a:off x="2438400" y="4560000"/>
            <a:ext cx="731520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38400" y="4620000"/>
            <a:ext cx="500000" cy="350000"/>
          </a:xfrm>
          <a:prstGeom prst="rect">
            <a:avLst/>
          </a:prstGeom>
          <a:noFill/>
        </p:spPr>
        <p:txBody>
          <a:bodyPr wrap="square" anchor="t">
            <a:spAutoFit/>
          </a:bodyPr>
          <a:lstStyle/>
          <a:p>
            <a:pPr algn="l"/>
            <a:r>
              <a:rPr sz="1600" b="1" i="0">
                <a:solidFill>
                  <a:srgbClr val="9B2335"/>
                </a:solidFill>
                <a:latin typeface="Inter"/>
              </a:rPr>
              <a:t>05</a:t>
            </a:r>
          </a:p>
        </p:txBody>
      </p:sp>
      <p:sp>
        <p:nvSpPr>
          <p:cNvPr id="22" name="TextBox 21"/>
          <p:cNvSpPr txBox="1"/>
          <p:nvPr/>
        </p:nvSpPr>
        <p:spPr>
          <a:xfrm>
            <a:off x="2988400" y="4620000"/>
            <a:ext cx="6765200" cy="350000"/>
          </a:xfrm>
          <a:prstGeom prst="rect">
            <a:avLst/>
          </a:prstGeom>
          <a:noFill/>
        </p:spPr>
        <p:txBody>
          <a:bodyPr wrap="square" anchor="t">
            <a:spAutoFit/>
          </a:bodyPr>
          <a:lstStyle/>
          <a:p>
            <a:pPr algn="l"/>
            <a:r>
              <a:rPr sz="1800" b="1" i="0">
                <a:solidFill>
                  <a:srgbClr val="1E3A5F"/>
                </a:solidFill>
                <a:latin typeface="Inter"/>
              </a:rPr>
              <a:t>Planning</a:t>
            </a:r>
          </a:p>
        </p:txBody>
      </p:sp>
      <p:sp>
        <p:nvSpPr>
          <p:cNvPr id="23" name="TextBox 22"/>
          <p:cNvSpPr txBox="1"/>
          <p:nvPr/>
        </p:nvSpPr>
        <p:spPr>
          <a:xfrm>
            <a:off x="2988400" y="4940000"/>
            <a:ext cx="6765200" cy="280000"/>
          </a:xfrm>
          <a:prstGeom prst="rect">
            <a:avLst/>
          </a:prstGeom>
          <a:noFill/>
        </p:spPr>
        <p:txBody>
          <a:bodyPr wrap="square" anchor="t">
            <a:spAutoFit/>
          </a:bodyPr>
          <a:lstStyle/>
          <a:p>
            <a:pPr algn="l"/>
            <a:r>
              <a:rPr sz="1200" b="0" i="0">
                <a:solidFill>
                  <a:srgbClr val="4A5568"/>
                </a:solidFill>
                <a:latin typeface="Inter"/>
              </a:rPr>
              <a:t>Milestones, kanban, and risk management</a:t>
            </a:r>
          </a:p>
        </p:txBody>
      </p:sp>
      <p:cxnSp>
        <p:nvCxnSpPr>
          <p:cNvPr id="24" name="Connector 23"/>
          <p:cNvCxnSpPr/>
          <p:nvPr/>
        </p:nvCxnSpPr>
        <p:spPr>
          <a:xfrm>
            <a:off x="2438400" y="5340000"/>
            <a:ext cx="731520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438400" y="5400000"/>
            <a:ext cx="500000" cy="350000"/>
          </a:xfrm>
          <a:prstGeom prst="rect">
            <a:avLst/>
          </a:prstGeom>
          <a:noFill/>
        </p:spPr>
        <p:txBody>
          <a:bodyPr wrap="square" anchor="t">
            <a:spAutoFit/>
          </a:bodyPr>
          <a:lstStyle/>
          <a:p>
            <a:pPr algn="l"/>
            <a:r>
              <a:rPr sz="1600" b="1" i="0">
                <a:solidFill>
                  <a:srgbClr val="9B2335"/>
                </a:solidFill>
                <a:latin typeface="Inter"/>
              </a:rPr>
              <a:t>06</a:t>
            </a:r>
          </a:p>
        </p:txBody>
      </p:sp>
      <p:sp>
        <p:nvSpPr>
          <p:cNvPr id="26" name="TextBox 25"/>
          <p:cNvSpPr txBox="1"/>
          <p:nvPr/>
        </p:nvSpPr>
        <p:spPr>
          <a:xfrm>
            <a:off x="2988400" y="5400000"/>
            <a:ext cx="6765200" cy="350000"/>
          </a:xfrm>
          <a:prstGeom prst="rect">
            <a:avLst/>
          </a:prstGeom>
          <a:noFill/>
        </p:spPr>
        <p:txBody>
          <a:bodyPr wrap="square" anchor="t">
            <a:spAutoFit/>
          </a:bodyPr>
          <a:lstStyle/>
          <a:p>
            <a:pPr algn="l"/>
            <a:r>
              <a:rPr sz="1800" b="1" i="0">
                <a:solidFill>
                  <a:srgbClr val="1E3A5F"/>
                </a:solidFill>
                <a:latin typeface="Inter"/>
              </a:rPr>
              <a:t>Deliverables</a:t>
            </a:r>
          </a:p>
        </p:txBody>
      </p:sp>
      <p:sp>
        <p:nvSpPr>
          <p:cNvPr id="27" name="TextBox 26"/>
          <p:cNvSpPr txBox="1"/>
          <p:nvPr/>
        </p:nvSpPr>
        <p:spPr>
          <a:xfrm>
            <a:off x="2988400" y="5720000"/>
            <a:ext cx="6765200" cy="280000"/>
          </a:xfrm>
          <a:prstGeom prst="rect">
            <a:avLst/>
          </a:prstGeom>
          <a:noFill/>
        </p:spPr>
        <p:txBody>
          <a:bodyPr wrap="square" anchor="t">
            <a:spAutoFit/>
          </a:bodyPr>
          <a:lstStyle/>
          <a:p>
            <a:pPr algn="l"/>
            <a:r>
              <a:rPr sz="1200" b="0" i="0">
                <a:solidFill>
                  <a:srgbClr val="4A5568"/>
                </a:solidFill>
                <a:latin typeface="Inter"/>
              </a:rPr>
              <a:t>Content layouts, quotes, and dashboards</a:t>
            </a:r>
          </a:p>
        </p:txBody>
      </p:sp>
      <p:cxnSp>
        <p:nvCxnSpPr>
          <p:cNvPr id="28" name="Connector 27"/>
          <p:cNvCxnSpPr/>
          <p:nvPr/>
        </p:nvCxnSpPr>
        <p:spPr>
          <a:xfrm>
            <a:off x="2438400" y="6120000"/>
            <a:ext cx="731520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438400" y="6180000"/>
            <a:ext cx="500000" cy="350000"/>
          </a:xfrm>
          <a:prstGeom prst="rect">
            <a:avLst/>
          </a:prstGeom>
          <a:noFill/>
        </p:spPr>
        <p:txBody>
          <a:bodyPr wrap="square" anchor="t">
            <a:spAutoFit/>
          </a:bodyPr>
          <a:lstStyle/>
          <a:p>
            <a:pPr algn="l"/>
            <a:r>
              <a:rPr sz="1600" b="1" i="0">
                <a:solidFill>
                  <a:srgbClr val="9B2335"/>
                </a:solidFill>
                <a:latin typeface="Inter"/>
              </a:rPr>
              <a:t>07</a:t>
            </a:r>
          </a:p>
        </p:txBody>
      </p:sp>
      <p:sp>
        <p:nvSpPr>
          <p:cNvPr id="30" name="TextBox 29"/>
          <p:cNvSpPr txBox="1"/>
          <p:nvPr/>
        </p:nvSpPr>
        <p:spPr>
          <a:xfrm>
            <a:off x="2988400" y="6180000"/>
            <a:ext cx="6765200" cy="350000"/>
          </a:xfrm>
          <a:prstGeom prst="rect">
            <a:avLst/>
          </a:prstGeom>
          <a:noFill/>
        </p:spPr>
        <p:txBody>
          <a:bodyPr wrap="square" anchor="t">
            <a:spAutoFit/>
          </a:bodyPr>
          <a:lstStyle/>
          <a:p>
            <a:pPr algn="l"/>
            <a:r>
              <a:rPr sz="1800" b="1" i="0">
                <a:solidFill>
                  <a:srgbClr val="1E3A5F"/>
                </a:solidFill>
                <a:latin typeface="Inter"/>
              </a:rPr>
              <a:t>Next Steps</a:t>
            </a:r>
          </a:p>
        </p:txBody>
      </p:sp>
      <p:sp>
        <p:nvSpPr>
          <p:cNvPr id="31" name="TextBox 30"/>
          <p:cNvSpPr txBox="1"/>
          <p:nvPr/>
        </p:nvSpPr>
        <p:spPr>
          <a:xfrm>
            <a:off x="2988400" y="6500000"/>
            <a:ext cx="6765200" cy="280000"/>
          </a:xfrm>
          <a:prstGeom prst="rect">
            <a:avLst/>
          </a:prstGeom>
          <a:noFill/>
        </p:spPr>
        <p:txBody>
          <a:bodyPr wrap="square" anchor="t">
            <a:spAutoFit/>
          </a:bodyPr>
          <a:lstStyle/>
          <a:p>
            <a:pPr algn="l"/>
            <a:r>
              <a:rPr sz="1200" b="0" i="0">
                <a:solidFill>
                  <a:srgbClr val="4A5568"/>
                </a:solidFill>
                <a:latin typeface="Inter"/>
              </a:rPr>
              <a:t>Action items, timelines, and closing</a:t>
            </a:r>
          </a:p>
        </p:txBody>
      </p:sp>
      <p:sp>
        <p:nvSpPr>
          <p:cNvPr id="32" name="Rectangle 31"/>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34" name="TextBox 33"/>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3352800" y="2429000"/>
            <a:ext cx="54864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2629000"/>
            <a:ext cx="10820400" cy="400000"/>
          </a:xfrm>
          <a:prstGeom prst="rect">
            <a:avLst/>
          </a:prstGeom>
          <a:noFill/>
        </p:spPr>
        <p:txBody>
          <a:bodyPr wrap="square" anchor="t">
            <a:spAutoFit/>
          </a:bodyPr>
          <a:lstStyle/>
          <a:p>
            <a:pPr algn="ctr"/>
            <a:r>
              <a:rPr sz="1300" b="0" i="0">
                <a:solidFill>
                  <a:srgbClr val="9B2335"/>
                </a:solidFill>
                <a:latin typeface="Inter"/>
              </a:rPr>
              <a:t>Section 01</a:t>
            </a:r>
          </a:p>
        </p:txBody>
      </p:sp>
      <p:sp>
        <p:nvSpPr>
          <p:cNvPr id="5" name="TextBox 4"/>
          <p:cNvSpPr txBox="1"/>
          <p:nvPr/>
        </p:nvSpPr>
        <p:spPr>
          <a:xfrm>
            <a:off x="1185800" y="3129000"/>
            <a:ext cx="9820400" cy="700000"/>
          </a:xfrm>
          <a:prstGeom prst="rect">
            <a:avLst/>
          </a:prstGeom>
          <a:noFill/>
        </p:spPr>
        <p:txBody>
          <a:bodyPr wrap="square" anchor="t">
            <a:spAutoFit/>
          </a:bodyPr>
          <a:lstStyle/>
          <a:p>
            <a:pPr algn="ctr"/>
            <a:r>
              <a:rPr sz="3600" b="1" i="0">
                <a:solidFill>
                  <a:srgbClr val="1E3A5F"/>
                </a:solidFill>
                <a:latin typeface="Inter"/>
              </a:rPr>
              <a:t>About Us</a:t>
            </a:r>
          </a:p>
        </p:txBody>
      </p:sp>
      <p:cxnSp>
        <p:nvCxnSpPr>
          <p:cNvPr id="6" name="Connector 5"/>
          <p:cNvCxnSpPr/>
          <p:nvPr/>
        </p:nvCxnSpPr>
        <p:spPr>
          <a:xfrm>
            <a:off x="3352800" y="4029000"/>
            <a:ext cx="54864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685800" y="4279000"/>
            <a:ext cx="8820400" cy="350000"/>
          </a:xfrm>
          <a:prstGeom prst="rect">
            <a:avLst/>
          </a:prstGeom>
          <a:noFill/>
        </p:spPr>
        <p:txBody>
          <a:bodyPr wrap="square" anchor="t">
            <a:spAutoFit/>
          </a:bodyPr>
          <a:lstStyle/>
          <a:p>
            <a:pPr algn="ctr"/>
            <a:r>
              <a:rPr sz="1300" b="0" i="0">
                <a:solidFill>
                  <a:srgbClr val="4A5568"/>
                </a:solidFill>
                <a:latin typeface="Inter"/>
              </a:rPr>
              <a:t>Who we are and what we stand for</a:t>
            </a:r>
          </a:p>
        </p:txBody>
      </p:sp>
      <p:sp>
        <p:nvSpPr>
          <p:cNvPr id="8" name="Rectangle 7"/>
          <p:cNvSpPr/>
          <p:nvPr/>
        </p:nvSpPr>
        <p:spPr>
          <a:xfrm>
            <a:off x="0" y="6400800"/>
            <a:ext cx="12192000" cy="457200"/>
          </a:xfrm>
          <a:prstGeom prst="rect">
            <a:avLst/>
          </a:prstGeom>
          <a:solidFill>
            <a:srgbClr val="18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1540" y="6500800"/>
            <a:ext cx="3000000" cy="260000"/>
          </a:xfrm>
          <a:prstGeom prst="rect">
            <a:avLst/>
          </a:prstGeom>
          <a:noFill/>
        </p:spPr>
        <p:txBody>
          <a:bodyPr wrap="square" anchor="t">
            <a:spAutoFit/>
          </a:bodyPr>
          <a:lstStyle/>
          <a:p>
            <a:pPr algn="l"/>
            <a:r>
              <a:rPr sz="1200" b="0" i="0">
                <a:solidFill>
                  <a:srgbClr val="8E9CAF"/>
                </a:solidFill>
                <a:latin typeface="Inter"/>
              </a:rPr>
              <a:t>University</a:t>
            </a:r>
          </a:p>
        </p:txBody>
      </p:sp>
      <p:sp>
        <p:nvSpPr>
          <p:cNvPr id="10" name="TextBox 9"/>
          <p:cNvSpPr txBox="1"/>
          <p:nvPr/>
        </p:nvSpPr>
        <p:spPr>
          <a:xfrm>
            <a:off x="11106200" y="6500800"/>
            <a:ext cx="400000" cy="260000"/>
          </a:xfrm>
          <a:prstGeom prst="rect">
            <a:avLst/>
          </a:prstGeom>
          <a:noFill/>
        </p:spPr>
        <p:txBody>
          <a:bodyPr wrap="square" anchor="t">
            <a:spAutoFit/>
          </a:bodyPr>
          <a:lstStyle/>
          <a:p>
            <a:pPr algn="r"/>
            <a:r>
              <a:rPr sz="900" b="0" i="0">
                <a:solidFill>
                  <a:srgbClr val="8E9CAF"/>
                </a:solidFill>
                <a:latin typeface="Inter"/>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Institution Profile</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85800" y="1421600"/>
            <a:ext cx="108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1571600"/>
            <a:ext cx="10820400" cy="350000"/>
          </a:xfrm>
          <a:prstGeom prst="rect">
            <a:avLst/>
          </a:prstGeom>
          <a:noFill/>
        </p:spPr>
        <p:txBody>
          <a:bodyPr wrap="square" anchor="t">
            <a:spAutoFit/>
          </a:bodyPr>
          <a:lstStyle/>
          <a:p>
            <a:pPr algn="ctr"/>
            <a:r>
              <a:rPr sz="1800" b="1" i="0">
                <a:solidFill>
                  <a:srgbClr val="1E3A5F"/>
                </a:solidFill>
                <a:latin typeface="Inter"/>
              </a:rPr>
              <a:t>Mission</a:t>
            </a:r>
          </a:p>
        </p:txBody>
      </p:sp>
      <p:sp>
        <p:nvSpPr>
          <p:cNvPr id="7" name="TextBox 6"/>
          <p:cNvSpPr txBox="1"/>
          <p:nvPr/>
        </p:nvSpPr>
        <p:spPr>
          <a:xfrm>
            <a:off x="985800" y="1971600"/>
            <a:ext cx="10220400" cy="1200000"/>
          </a:xfrm>
          <a:prstGeom prst="rect">
            <a:avLst/>
          </a:prstGeom>
          <a:noFill/>
        </p:spPr>
        <p:txBody>
          <a:bodyPr wrap="square" anchor="t">
            <a:spAutoFit/>
          </a:bodyPr>
          <a:lstStyle/>
          <a:p>
            <a:pPr algn="ctr"/>
            <a:r>
              <a:rPr sz="1600" b="0" i="0">
                <a:solidFill>
                  <a:srgbClr val="4A5568"/>
                </a:solidFill>
                <a:latin typeface="Inter"/>
              </a:rPr>
              <a:t>Our institution is committed to the pursuit of knowledge, academic excellence, and the development of scholars who will shape the future.
Through rigorous research and innovative teaching, we prepare leaders for a complex world.</a:t>
            </a:r>
          </a:p>
        </p:txBody>
      </p:sp>
      <p:cxnSp>
        <p:nvCxnSpPr>
          <p:cNvPr id="8" name="Connector 7"/>
          <p:cNvCxnSpPr/>
          <p:nvPr/>
        </p:nvCxnSpPr>
        <p:spPr>
          <a:xfrm>
            <a:off x="985800" y="3271600"/>
            <a:ext cx="102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85800" y="3471600"/>
            <a:ext cx="10020400" cy="400000"/>
          </a:xfrm>
          <a:prstGeom prst="rect">
            <a:avLst/>
          </a:prstGeom>
          <a:noFill/>
        </p:spPr>
        <p:txBody>
          <a:bodyPr wrap="square" anchor="t">
            <a:spAutoFit/>
          </a:bodyPr>
          <a:lstStyle/>
          <a:p>
            <a:pPr algn="ctr"/>
            <a:r>
              <a:rPr sz="1600" b="0" i="0">
                <a:solidFill>
                  <a:srgbClr val="1E3A5F"/>
                </a:solidFill>
                <a:latin typeface="Inter"/>
              </a:rPr>
              <a:t>Founded:  1870</a:t>
            </a:r>
          </a:p>
        </p:txBody>
      </p:sp>
      <p:cxnSp>
        <p:nvCxnSpPr>
          <p:cNvPr id="10" name="Connector 9"/>
          <p:cNvCxnSpPr/>
          <p:nvPr/>
        </p:nvCxnSpPr>
        <p:spPr>
          <a:xfrm>
            <a:off x="1285800" y="3871600"/>
            <a:ext cx="96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85800" y="3921600"/>
            <a:ext cx="10020400" cy="400000"/>
          </a:xfrm>
          <a:prstGeom prst="rect">
            <a:avLst/>
          </a:prstGeom>
          <a:noFill/>
        </p:spPr>
        <p:txBody>
          <a:bodyPr wrap="square" anchor="t">
            <a:spAutoFit/>
          </a:bodyPr>
          <a:lstStyle/>
          <a:p>
            <a:pPr algn="ctr"/>
            <a:r>
              <a:rPr sz="1600" b="0" i="0">
                <a:solidFill>
                  <a:srgbClr val="1E3A5F"/>
                </a:solidFill>
                <a:latin typeface="Inter"/>
              </a:rPr>
              <a:t>Students:  45,000+</a:t>
            </a:r>
          </a:p>
        </p:txBody>
      </p:sp>
      <p:cxnSp>
        <p:nvCxnSpPr>
          <p:cNvPr id="12" name="Connector 11"/>
          <p:cNvCxnSpPr/>
          <p:nvPr/>
        </p:nvCxnSpPr>
        <p:spPr>
          <a:xfrm>
            <a:off x="1285800" y="4321600"/>
            <a:ext cx="96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85800" y="4371600"/>
            <a:ext cx="10020400" cy="400000"/>
          </a:xfrm>
          <a:prstGeom prst="rect">
            <a:avLst/>
          </a:prstGeom>
          <a:noFill/>
        </p:spPr>
        <p:txBody>
          <a:bodyPr wrap="square" anchor="t">
            <a:spAutoFit/>
          </a:bodyPr>
          <a:lstStyle/>
          <a:p>
            <a:pPr algn="ctr"/>
            <a:r>
              <a:rPr sz="1600" b="0" i="0">
                <a:solidFill>
                  <a:srgbClr val="1E3A5F"/>
                </a:solidFill>
                <a:latin typeface="Inter"/>
              </a:rPr>
              <a:t>Faculty:  3,200</a:t>
            </a:r>
          </a:p>
        </p:txBody>
      </p:sp>
      <p:cxnSp>
        <p:nvCxnSpPr>
          <p:cNvPr id="14" name="Connector 13"/>
          <p:cNvCxnSpPr/>
          <p:nvPr/>
        </p:nvCxnSpPr>
        <p:spPr>
          <a:xfrm>
            <a:off x="1285800" y="4771600"/>
            <a:ext cx="96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85800" y="4821600"/>
            <a:ext cx="10020400" cy="400000"/>
          </a:xfrm>
          <a:prstGeom prst="rect">
            <a:avLst/>
          </a:prstGeom>
          <a:noFill/>
        </p:spPr>
        <p:txBody>
          <a:bodyPr wrap="square" anchor="t">
            <a:spAutoFit/>
          </a:bodyPr>
          <a:lstStyle/>
          <a:p>
            <a:pPr algn="ctr"/>
            <a:r>
              <a:rPr sz="1600" b="0" i="0">
                <a:solidFill>
                  <a:srgbClr val="1E3A5F"/>
                </a:solidFill>
                <a:latin typeface="Inter"/>
              </a:rPr>
              <a:t>Endowment:  $8.5B</a:t>
            </a:r>
          </a:p>
        </p:txBody>
      </p:sp>
      <p:cxnSp>
        <p:nvCxnSpPr>
          <p:cNvPr id="16" name="Connector 15"/>
          <p:cNvCxnSpPr/>
          <p:nvPr/>
        </p:nvCxnSpPr>
        <p:spPr>
          <a:xfrm>
            <a:off x="1285800" y="5221600"/>
            <a:ext cx="96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19" name="TextBox 18"/>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Core Principles</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85800" y="1421600"/>
            <a:ext cx="108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1621600"/>
            <a:ext cx="200000" cy="400000"/>
          </a:xfrm>
          <a:prstGeom prst="rect">
            <a:avLst/>
          </a:prstGeom>
          <a:noFill/>
        </p:spPr>
        <p:txBody>
          <a:bodyPr wrap="square" anchor="t">
            <a:spAutoFit/>
          </a:bodyPr>
          <a:lstStyle/>
          <a:p>
            <a:pPr algn="l"/>
            <a:r>
              <a:rPr sz="1800" b="1" i="0">
                <a:solidFill>
                  <a:srgbClr val="9B2335"/>
                </a:solidFill>
                <a:latin typeface="Inter"/>
              </a:rPr>
              <a:t>1.</a:t>
            </a:r>
          </a:p>
        </p:txBody>
      </p:sp>
      <p:sp>
        <p:nvSpPr>
          <p:cNvPr id="7" name="TextBox 6"/>
          <p:cNvSpPr txBox="1"/>
          <p:nvPr/>
        </p:nvSpPr>
        <p:spPr>
          <a:xfrm>
            <a:off x="885800" y="1621600"/>
            <a:ext cx="10620400" cy="350000"/>
          </a:xfrm>
          <a:prstGeom prst="rect">
            <a:avLst/>
          </a:prstGeom>
          <a:noFill/>
        </p:spPr>
        <p:txBody>
          <a:bodyPr wrap="square" anchor="t">
            <a:spAutoFit/>
          </a:bodyPr>
          <a:lstStyle/>
          <a:p>
            <a:pPr algn="l"/>
            <a:r>
              <a:rPr sz="1800" b="1" i="0">
                <a:solidFill>
                  <a:srgbClr val="1E3A5F"/>
                </a:solidFill>
                <a:latin typeface="Inter"/>
              </a:rPr>
              <a:t>Academic Freedom</a:t>
            </a:r>
          </a:p>
        </p:txBody>
      </p:sp>
      <p:sp>
        <p:nvSpPr>
          <p:cNvPr id="8" name="TextBox 7"/>
          <p:cNvSpPr txBox="1"/>
          <p:nvPr/>
        </p:nvSpPr>
        <p:spPr>
          <a:xfrm>
            <a:off x="885800" y="1971600"/>
            <a:ext cx="10420400" cy="400000"/>
          </a:xfrm>
          <a:prstGeom prst="rect">
            <a:avLst/>
          </a:prstGeom>
          <a:noFill/>
        </p:spPr>
        <p:txBody>
          <a:bodyPr wrap="square" anchor="t">
            <a:spAutoFit/>
          </a:bodyPr>
          <a:lstStyle/>
          <a:p>
            <a:pPr algn="l"/>
            <a:r>
              <a:rPr sz="1600" b="0" i="0">
                <a:solidFill>
                  <a:srgbClr val="4A5568"/>
                </a:solidFill>
                <a:latin typeface="Inter"/>
              </a:rPr>
              <a:t>We protect the open exchange of ideas and intellectual inquiry.</a:t>
            </a:r>
          </a:p>
        </p:txBody>
      </p:sp>
      <p:cxnSp>
        <p:nvCxnSpPr>
          <p:cNvPr id="9" name="Connector 8"/>
          <p:cNvCxnSpPr/>
          <p:nvPr/>
        </p:nvCxnSpPr>
        <p:spPr>
          <a:xfrm>
            <a:off x="785800" y="2471600"/>
            <a:ext cx="106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2621600"/>
            <a:ext cx="200000" cy="400000"/>
          </a:xfrm>
          <a:prstGeom prst="rect">
            <a:avLst/>
          </a:prstGeom>
          <a:noFill/>
        </p:spPr>
        <p:txBody>
          <a:bodyPr wrap="square" anchor="t">
            <a:spAutoFit/>
          </a:bodyPr>
          <a:lstStyle/>
          <a:p>
            <a:pPr algn="l"/>
            <a:r>
              <a:rPr sz="1800" b="1" i="0">
                <a:solidFill>
                  <a:srgbClr val="9B2335"/>
                </a:solidFill>
                <a:latin typeface="Inter"/>
              </a:rPr>
              <a:t>2.</a:t>
            </a:r>
          </a:p>
        </p:txBody>
      </p:sp>
      <p:sp>
        <p:nvSpPr>
          <p:cNvPr id="11" name="TextBox 10"/>
          <p:cNvSpPr txBox="1"/>
          <p:nvPr/>
        </p:nvSpPr>
        <p:spPr>
          <a:xfrm>
            <a:off x="885800" y="2621600"/>
            <a:ext cx="10620400" cy="350000"/>
          </a:xfrm>
          <a:prstGeom prst="rect">
            <a:avLst/>
          </a:prstGeom>
          <a:noFill/>
        </p:spPr>
        <p:txBody>
          <a:bodyPr wrap="square" anchor="t">
            <a:spAutoFit/>
          </a:bodyPr>
          <a:lstStyle/>
          <a:p>
            <a:pPr algn="l"/>
            <a:r>
              <a:rPr sz="1800" b="1" i="0">
                <a:solidFill>
                  <a:srgbClr val="1E3A5F"/>
                </a:solidFill>
                <a:latin typeface="Inter"/>
              </a:rPr>
              <a:t>Research Excellence</a:t>
            </a:r>
          </a:p>
        </p:txBody>
      </p:sp>
      <p:sp>
        <p:nvSpPr>
          <p:cNvPr id="12" name="TextBox 11"/>
          <p:cNvSpPr txBox="1"/>
          <p:nvPr/>
        </p:nvSpPr>
        <p:spPr>
          <a:xfrm>
            <a:off x="885800" y="2971600"/>
            <a:ext cx="10420400" cy="400000"/>
          </a:xfrm>
          <a:prstGeom prst="rect">
            <a:avLst/>
          </a:prstGeom>
          <a:noFill/>
        </p:spPr>
        <p:txBody>
          <a:bodyPr wrap="square" anchor="t">
            <a:spAutoFit/>
          </a:bodyPr>
          <a:lstStyle/>
          <a:p>
            <a:pPr algn="l"/>
            <a:r>
              <a:rPr sz="1600" b="0" i="0">
                <a:solidFill>
                  <a:srgbClr val="4A5568"/>
                </a:solidFill>
                <a:latin typeface="Inter"/>
              </a:rPr>
              <a:t>We pursue discovery that transforms understanding and improves lives.</a:t>
            </a:r>
          </a:p>
        </p:txBody>
      </p:sp>
      <p:cxnSp>
        <p:nvCxnSpPr>
          <p:cNvPr id="13" name="Connector 12"/>
          <p:cNvCxnSpPr/>
          <p:nvPr/>
        </p:nvCxnSpPr>
        <p:spPr>
          <a:xfrm>
            <a:off x="785800" y="3471600"/>
            <a:ext cx="106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3621600"/>
            <a:ext cx="200000" cy="400000"/>
          </a:xfrm>
          <a:prstGeom prst="rect">
            <a:avLst/>
          </a:prstGeom>
          <a:noFill/>
        </p:spPr>
        <p:txBody>
          <a:bodyPr wrap="square" anchor="t">
            <a:spAutoFit/>
          </a:bodyPr>
          <a:lstStyle/>
          <a:p>
            <a:pPr algn="l"/>
            <a:r>
              <a:rPr sz="1800" b="1" i="0">
                <a:solidFill>
                  <a:srgbClr val="9B2335"/>
                </a:solidFill>
                <a:latin typeface="Inter"/>
              </a:rPr>
              <a:t>3.</a:t>
            </a:r>
          </a:p>
        </p:txBody>
      </p:sp>
      <p:sp>
        <p:nvSpPr>
          <p:cNvPr id="15" name="TextBox 14"/>
          <p:cNvSpPr txBox="1"/>
          <p:nvPr/>
        </p:nvSpPr>
        <p:spPr>
          <a:xfrm>
            <a:off x="885800" y="3621600"/>
            <a:ext cx="10620400" cy="350000"/>
          </a:xfrm>
          <a:prstGeom prst="rect">
            <a:avLst/>
          </a:prstGeom>
          <a:noFill/>
        </p:spPr>
        <p:txBody>
          <a:bodyPr wrap="square" anchor="t">
            <a:spAutoFit/>
          </a:bodyPr>
          <a:lstStyle/>
          <a:p>
            <a:pPr algn="l"/>
            <a:r>
              <a:rPr sz="1800" b="1" i="0">
                <a:solidFill>
                  <a:srgbClr val="1E3A5F"/>
                </a:solidFill>
                <a:latin typeface="Inter"/>
              </a:rPr>
              <a:t>Inclusivity</a:t>
            </a:r>
          </a:p>
        </p:txBody>
      </p:sp>
      <p:sp>
        <p:nvSpPr>
          <p:cNvPr id="16" name="TextBox 15"/>
          <p:cNvSpPr txBox="1"/>
          <p:nvPr/>
        </p:nvSpPr>
        <p:spPr>
          <a:xfrm>
            <a:off x="885800" y="3971600"/>
            <a:ext cx="10420400" cy="400000"/>
          </a:xfrm>
          <a:prstGeom prst="rect">
            <a:avLst/>
          </a:prstGeom>
          <a:noFill/>
        </p:spPr>
        <p:txBody>
          <a:bodyPr wrap="square" anchor="t">
            <a:spAutoFit/>
          </a:bodyPr>
          <a:lstStyle/>
          <a:p>
            <a:pPr algn="l"/>
            <a:r>
              <a:rPr sz="1600" b="0" i="0">
                <a:solidFill>
                  <a:srgbClr val="4A5568"/>
                </a:solidFill>
                <a:latin typeface="Inter"/>
              </a:rPr>
              <a:t>We foster a diverse community where every voice is valued.</a:t>
            </a:r>
          </a:p>
        </p:txBody>
      </p:sp>
      <p:cxnSp>
        <p:nvCxnSpPr>
          <p:cNvPr id="17" name="Connector 16"/>
          <p:cNvCxnSpPr/>
          <p:nvPr/>
        </p:nvCxnSpPr>
        <p:spPr>
          <a:xfrm>
            <a:off x="785800" y="4471600"/>
            <a:ext cx="106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4621600"/>
            <a:ext cx="200000" cy="400000"/>
          </a:xfrm>
          <a:prstGeom prst="rect">
            <a:avLst/>
          </a:prstGeom>
          <a:noFill/>
        </p:spPr>
        <p:txBody>
          <a:bodyPr wrap="square" anchor="t">
            <a:spAutoFit/>
          </a:bodyPr>
          <a:lstStyle/>
          <a:p>
            <a:pPr algn="l"/>
            <a:r>
              <a:rPr sz="1800" b="1" i="0">
                <a:solidFill>
                  <a:srgbClr val="9B2335"/>
                </a:solidFill>
                <a:latin typeface="Inter"/>
              </a:rPr>
              <a:t>4.</a:t>
            </a:r>
          </a:p>
        </p:txBody>
      </p:sp>
      <p:sp>
        <p:nvSpPr>
          <p:cNvPr id="19" name="TextBox 18"/>
          <p:cNvSpPr txBox="1"/>
          <p:nvPr/>
        </p:nvSpPr>
        <p:spPr>
          <a:xfrm>
            <a:off x="885800" y="4621600"/>
            <a:ext cx="10620400" cy="350000"/>
          </a:xfrm>
          <a:prstGeom prst="rect">
            <a:avLst/>
          </a:prstGeom>
          <a:noFill/>
        </p:spPr>
        <p:txBody>
          <a:bodyPr wrap="square" anchor="t">
            <a:spAutoFit/>
          </a:bodyPr>
          <a:lstStyle/>
          <a:p>
            <a:pPr algn="l"/>
            <a:r>
              <a:rPr sz="1800" b="1" i="0">
                <a:solidFill>
                  <a:srgbClr val="1E3A5F"/>
                </a:solidFill>
                <a:latin typeface="Inter"/>
              </a:rPr>
              <a:t>Integrity</a:t>
            </a:r>
          </a:p>
        </p:txBody>
      </p:sp>
      <p:sp>
        <p:nvSpPr>
          <p:cNvPr id="20" name="TextBox 19"/>
          <p:cNvSpPr txBox="1"/>
          <p:nvPr/>
        </p:nvSpPr>
        <p:spPr>
          <a:xfrm>
            <a:off x="885800" y="4971600"/>
            <a:ext cx="10420400" cy="400000"/>
          </a:xfrm>
          <a:prstGeom prst="rect">
            <a:avLst/>
          </a:prstGeom>
          <a:noFill/>
        </p:spPr>
        <p:txBody>
          <a:bodyPr wrap="square" anchor="t">
            <a:spAutoFit/>
          </a:bodyPr>
          <a:lstStyle/>
          <a:p>
            <a:pPr algn="l"/>
            <a:r>
              <a:rPr sz="1600" b="0" i="0">
                <a:solidFill>
                  <a:srgbClr val="4A5568"/>
                </a:solidFill>
                <a:latin typeface="Inter"/>
              </a:rPr>
              <a:t>We uphold the highest ethical standards in scholarship and governance.</a:t>
            </a:r>
          </a:p>
        </p:txBody>
      </p:sp>
      <p:sp>
        <p:nvSpPr>
          <p:cNvPr id="21" name="Rectangle 20"/>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23" name="TextBox 22"/>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Faculty &amp; Leadership</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85800" y="1421600"/>
            <a:ext cx="108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85800" y="1621600"/>
            <a:ext cx="10620400" cy="350000"/>
          </a:xfrm>
          <a:prstGeom prst="rect">
            <a:avLst/>
          </a:prstGeom>
          <a:noFill/>
        </p:spPr>
        <p:txBody>
          <a:bodyPr wrap="square" anchor="t">
            <a:spAutoFit/>
          </a:bodyPr>
          <a:lstStyle/>
          <a:p>
            <a:pPr algn="l"/>
            <a:r>
              <a:rPr sz="1800" b="1" i="0">
                <a:solidFill>
                  <a:srgbClr val="1E3A5F"/>
                </a:solidFill>
                <a:latin typeface="Inter"/>
              </a:rPr>
              <a:t>Jane Smith</a:t>
            </a:r>
          </a:p>
        </p:txBody>
      </p:sp>
      <p:sp>
        <p:nvSpPr>
          <p:cNvPr id="7" name="TextBox 6"/>
          <p:cNvSpPr txBox="1"/>
          <p:nvPr/>
        </p:nvSpPr>
        <p:spPr>
          <a:xfrm>
            <a:off x="785800" y="1971600"/>
            <a:ext cx="3606800" cy="300000"/>
          </a:xfrm>
          <a:prstGeom prst="rect">
            <a:avLst/>
          </a:prstGeom>
          <a:noFill/>
        </p:spPr>
        <p:txBody>
          <a:bodyPr wrap="square" anchor="t">
            <a:spAutoFit/>
          </a:bodyPr>
          <a:lstStyle/>
          <a:p>
            <a:pPr algn="l"/>
            <a:r>
              <a:rPr sz="1400" b="1" i="0">
                <a:solidFill>
                  <a:srgbClr val="9B2335"/>
                </a:solidFill>
                <a:latin typeface="Inter"/>
              </a:rPr>
              <a:t>Chief Executive Officer</a:t>
            </a:r>
          </a:p>
        </p:txBody>
      </p:sp>
      <p:sp>
        <p:nvSpPr>
          <p:cNvPr id="8" name="TextBox 7"/>
          <p:cNvSpPr txBox="1"/>
          <p:nvPr/>
        </p:nvSpPr>
        <p:spPr>
          <a:xfrm>
            <a:off x="4392600" y="1971600"/>
            <a:ext cx="7013600" cy="300000"/>
          </a:xfrm>
          <a:prstGeom prst="rect">
            <a:avLst/>
          </a:prstGeom>
          <a:noFill/>
        </p:spPr>
        <p:txBody>
          <a:bodyPr wrap="square" anchor="t">
            <a:spAutoFit/>
          </a:bodyPr>
          <a:lstStyle/>
          <a:p>
            <a:pPr algn="l"/>
            <a:r>
              <a:rPr sz="1400" b="0" i="0">
                <a:solidFill>
                  <a:srgbClr val="4A5568"/>
                </a:solidFill>
                <a:latin typeface="Inter"/>
              </a:rPr>
              <a:t>20+ years in executive leadership</a:t>
            </a:r>
          </a:p>
        </p:txBody>
      </p:sp>
      <p:cxnSp>
        <p:nvCxnSpPr>
          <p:cNvPr id="9" name="Connector 8"/>
          <p:cNvCxnSpPr/>
          <p:nvPr/>
        </p:nvCxnSpPr>
        <p:spPr>
          <a:xfrm>
            <a:off x="785800" y="2371600"/>
            <a:ext cx="106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85800" y="2571600"/>
            <a:ext cx="10620400" cy="350000"/>
          </a:xfrm>
          <a:prstGeom prst="rect">
            <a:avLst/>
          </a:prstGeom>
          <a:noFill/>
        </p:spPr>
        <p:txBody>
          <a:bodyPr wrap="square" anchor="t">
            <a:spAutoFit/>
          </a:bodyPr>
          <a:lstStyle/>
          <a:p>
            <a:pPr algn="l"/>
            <a:r>
              <a:rPr sz="1800" b="1" i="0">
                <a:solidFill>
                  <a:srgbClr val="1E3A5F"/>
                </a:solidFill>
                <a:latin typeface="Inter"/>
              </a:rPr>
              <a:t>John Davis</a:t>
            </a:r>
          </a:p>
        </p:txBody>
      </p:sp>
      <p:sp>
        <p:nvSpPr>
          <p:cNvPr id="11" name="TextBox 10"/>
          <p:cNvSpPr txBox="1"/>
          <p:nvPr/>
        </p:nvSpPr>
        <p:spPr>
          <a:xfrm>
            <a:off x="785800" y="2921600"/>
            <a:ext cx="3606800" cy="300000"/>
          </a:xfrm>
          <a:prstGeom prst="rect">
            <a:avLst/>
          </a:prstGeom>
          <a:noFill/>
        </p:spPr>
        <p:txBody>
          <a:bodyPr wrap="square" anchor="t">
            <a:spAutoFit/>
          </a:bodyPr>
          <a:lstStyle/>
          <a:p>
            <a:pPr algn="l"/>
            <a:r>
              <a:rPr sz="1400" b="1" i="0">
                <a:solidFill>
                  <a:srgbClr val="9B2335"/>
                </a:solidFill>
                <a:latin typeface="Inter"/>
              </a:rPr>
              <a:t>Chief Financial Officer</a:t>
            </a:r>
          </a:p>
        </p:txBody>
      </p:sp>
      <p:sp>
        <p:nvSpPr>
          <p:cNvPr id="12" name="TextBox 11"/>
          <p:cNvSpPr txBox="1"/>
          <p:nvPr/>
        </p:nvSpPr>
        <p:spPr>
          <a:xfrm>
            <a:off x="4392600" y="2921600"/>
            <a:ext cx="7013600" cy="300000"/>
          </a:xfrm>
          <a:prstGeom prst="rect">
            <a:avLst/>
          </a:prstGeom>
          <a:noFill/>
        </p:spPr>
        <p:txBody>
          <a:bodyPr wrap="square" anchor="t">
            <a:spAutoFit/>
          </a:bodyPr>
          <a:lstStyle/>
          <a:p>
            <a:pPr algn="l"/>
            <a:r>
              <a:rPr sz="1400" b="0" i="0">
                <a:solidFill>
                  <a:srgbClr val="4A5568"/>
                </a:solidFill>
                <a:latin typeface="Inter"/>
              </a:rPr>
              <a:t>Former VP at Fortune 100 firm</a:t>
            </a:r>
          </a:p>
        </p:txBody>
      </p:sp>
      <p:cxnSp>
        <p:nvCxnSpPr>
          <p:cNvPr id="13" name="Connector 12"/>
          <p:cNvCxnSpPr/>
          <p:nvPr/>
        </p:nvCxnSpPr>
        <p:spPr>
          <a:xfrm>
            <a:off x="785800" y="3321600"/>
            <a:ext cx="106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85800" y="3521600"/>
            <a:ext cx="10620400" cy="350000"/>
          </a:xfrm>
          <a:prstGeom prst="rect">
            <a:avLst/>
          </a:prstGeom>
          <a:noFill/>
        </p:spPr>
        <p:txBody>
          <a:bodyPr wrap="square" anchor="t">
            <a:spAutoFit/>
          </a:bodyPr>
          <a:lstStyle/>
          <a:p>
            <a:pPr algn="l"/>
            <a:r>
              <a:rPr sz="1800" b="1" i="0">
                <a:solidFill>
                  <a:srgbClr val="1E3A5F"/>
                </a:solidFill>
                <a:latin typeface="Inter"/>
              </a:rPr>
              <a:t>Sarah Chen</a:t>
            </a:r>
          </a:p>
        </p:txBody>
      </p:sp>
      <p:sp>
        <p:nvSpPr>
          <p:cNvPr id="15" name="TextBox 14"/>
          <p:cNvSpPr txBox="1"/>
          <p:nvPr/>
        </p:nvSpPr>
        <p:spPr>
          <a:xfrm>
            <a:off x="785800" y="3871600"/>
            <a:ext cx="3606800" cy="300000"/>
          </a:xfrm>
          <a:prstGeom prst="rect">
            <a:avLst/>
          </a:prstGeom>
          <a:noFill/>
        </p:spPr>
        <p:txBody>
          <a:bodyPr wrap="square" anchor="t">
            <a:spAutoFit/>
          </a:bodyPr>
          <a:lstStyle/>
          <a:p>
            <a:pPr algn="l"/>
            <a:r>
              <a:rPr sz="1400" b="1" i="0">
                <a:solidFill>
                  <a:srgbClr val="9B2335"/>
                </a:solidFill>
                <a:latin typeface="Inter"/>
              </a:rPr>
              <a:t>Chief Technology Officer</a:t>
            </a:r>
          </a:p>
        </p:txBody>
      </p:sp>
      <p:sp>
        <p:nvSpPr>
          <p:cNvPr id="16" name="TextBox 15"/>
          <p:cNvSpPr txBox="1"/>
          <p:nvPr/>
        </p:nvSpPr>
        <p:spPr>
          <a:xfrm>
            <a:off x="4392600" y="3871600"/>
            <a:ext cx="7013600" cy="300000"/>
          </a:xfrm>
          <a:prstGeom prst="rect">
            <a:avLst/>
          </a:prstGeom>
          <a:noFill/>
        </p:spPr>
        <p:txBody>
          <a:bodyPr wrap="square" anchor="t">
            <a:spAutoFit/>
          </a:bodyPr>
          <a:lstStyle/>
          <a:p>
            <a:pPr algn="l"/>
            <a:r>
              <a:rPr sz="1400" b="0" i="0">
                <a:solidFill>
                  <a:srgbClr val="4A5568"/>
                </a:solidFill>
                <a:latin typeface="Inter"/>
              </a:rPr>
              <a:t>Pioneer in AI/ML solutions</a:t>
            </a:r>
          </a:p>
        </p:txBody>
      </p:sp>
      <p:cxnSp>
        <p:nvCxnSpPr>
          <p:cNvPr id="17" name="Connector 16"/>
          <p:cNvCxnSpPr/>
          <p:nvPr/>
        </p:nvCxnSpPr>
        <p:spPr>
          <a:xfrm>
            <a:off x="785800" y="4271600"/>
            <a:ext cx="106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85800" y="4471600"/>
            <a:ext cx="10620400" cy="350000"/>
          </a:xfrm>
          <a:prstGeom prst="rect">
            <a:avLst/>
          </a:prstGeom>
          <a:noFill/>
        </p:spPr>
        <p:txBody>
          <a:bodyPr wrap="square" anchor="t">
            <a:spAutoFit/>
          </a:bodyPr>
          <a:lstStyle/>
          <a:p>
            <a:pPr algn="l"/>
            <a:r>
              <a:rPr sz="1800" b="1" i="0">
                <a:solidFill>
                  <a:srgbClr val="1E3A5F"/>
                </a:solidFill>
                <a:latin typeface="Inter"/>
              </a:rPr>
              <a:t>Michael Brown</a:t>
            </a:r>
          </a:p>
        </p:txBody>
      </p:sp>
      <p:sp>
        <p:nvSpPr>
          <p:cNvPr id="19" name="TextBox 18"/>
          <p:cNvSpPr txBox="1"/>
          <p:nvPr/>
        </p:nvSpPr>
        <p:spPr>
          <a:xfrm>
            <a:off x="785800" y="4821600"/>
            <a:ext cx="3606800" cy="300000"/>
          </a:xfrm>
          <a:prstGeom prst="rect">
            <a:avLst/>
          </a:prstGeom>
          <a:noFill/>
        </p:spPr>
        <p:txBody>
          <a:bodyPr wrap="square" anchor="t">
            <a:spAutoFit/>
          </a:bodyPr>
          <a:lstStyle/>
          <a:p>
            <a:pPr algn="l"/>
            <a:r>
              <a:rPr sz="1400" b="1" i="0">
                <a:solidFill>
                  <a:srgbClr val="9B2335"/>
                </a:solidFill>
                <a:latin typeface="Inter"/>
              </a:rPr>
              <a:t>Chief Operating Officer</a:t>
            </a:r>
          </a:p>
        </p:txBody>
      </p:sp>
      <p:sp>
        <p:nvSpPr>
          <p:cNvPr id="20" name="TextBox 19"/>
          <p:cNvSpPr txBox="1"/>
          <p:nvPr/>
        </p:nvSpPr>
        <p:spPr>
          <a:xfrm>
            <a:off x="4392600" y="4821600"/>
            <a:ext cx="7013600" cy="300000"/>
          </a:xfrm>
          <a:prstGeom prst="rect">
            <a:avLst/>
          </a:prstGeom>
          <a:noFill/>
        </p:spPr>
        <p:txBody>
          <a:bodyPr wrap="square" anchor="t">
            <a:spAutoFit/>
          </a:bodyPr>
          <a:lstStyle/>
          <a:p>
            <a:pPr algn="l"/>
            <a:r>
              <a:rPr sz="1400" b="0" i="0">
                <a:solidFill>
                  <a:srgbClr val="4A5568"/>
                </a:solidFill>
                <a:latin typeface="Inter"/>
              </a:rPr>
              <a:t>Operations excellence expert</a:t>
            </a:r>
          </a:p>
        </p:txBody>
      </p:sp>
      <p:sp>
        <p:nvSpPr>
          <p:cNvPr id="21" name="Rectangle 20"/>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23" name="TextBox 22"/>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Key Data</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85800" y="1421600"/>
            <a:ext cx="108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1501600"/>
            <a:ext cx="10820400" cy="350000"/>
          </a:xfrm>
          <a:prstGeom prst="rect">
            <a:avLst/>
          </a:prstGeom>
          <a:noFill/>
        </p:spPr>
        <p:txBody>
          <a:bodyPr wrap="square" anchor="t">
            <a:spAutoFit/>
          </a:bodyPr>
          <a:lstStyle/>
          <a:p>
            <a:pPr algn="l"/>
            <a:r>
              <a:rPr sz="1200" b="0" i="1">
                <a:solidFill>
                  <a:srgbClr val="4A5568"/>
                </a:solidFill>
                <a:latin typeface="Inter"/>
              </a:rPr>
              <a:t>Table 1: Key Facts &amp; Figures</a:t>
            </a:r>
          </a:p>
        </p:txBody>
      </p:sp>
      <p:cxnSp>
        <p:nvCxnSpPr>
          <p:cNvPr id="7" name="Connector 6"/>
          <p:cNvCxnSpPr/>
          <p:nvPr/>
        </p:nvCxnSpPr>
        <p:spPr>
          <a:xfrm>
            <a:off x="685800" y="1921600"/>
            <a:ext cx="10820400" cy="0"/>
          </a:xfrm>
          <a:prstGeom prst="line">
            <a:avLst/>
          </a:prstGeom>
          <a:ln w="12700">
            <a:solidFill>
              <a:srgbClr val="1E3A5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5800" y="1971600"/>
            <a:ext cx="3606800" cy="300000"/>
          </a:xfrm>
          <a:prstGeom prst="rect">
            <a:avLst/>
          </a:prstGeom>
          <a:noFill/>
        </p:spPr>
        <p:txBody>
          <a:bodyPr wrap="square" anchor="t">
            <a:spAutoFit/>
          </a:bodyPr>
          <a:lstStyle/>
          <a:p>
            <a:pPr algn="l"/>
            <a:r>
              <a:rPr sz="1200" b="1" i="0">
                <a:solidFill>
                  <a:srgbClr val="1E3A5F"/>
                </a:solidFill>
                <a:latin typeface="Inter"/>
              </a:rPr>
              <a:t>Metric</a:t>
            </a:r>
          </a:p>
        </p:txBody>
      </p:sp>
      <p:sp>
        <p:nvSpPr>
          <p:cNvPr id="9" name="TextBox 8"/>
          <p:cNvSpPr txBox="1"/>
          <p:nvPr/>
        </p:nvSpPr>
        <p:spPr>
          <a:xfrm>
            <a:off x="4292600" y="1971600"/>
            <a:ext cx="7213600" cy="300000"/>
          </a:xfrm>
          <a:prstGeom prst="rect">
            <a:avLst/>
          </a:prstGeom>
          <a:noFill/>
        </p:spPr>
        <p:txBody>
          <a:bodyPr wrap="square" anchor="t">
            <a:spAutoFit/>
          </a:bodyPr>
          <a:lstStyle/>
          <a:p>
            <a:pPr algn="l"/>
            <a:r>
              <a:rPr sz="1200" b="1" i="0">
                <a:solidFill>
                  <a:srgbClr val="1E3A5F"/>
                </a:solidFill>
                <a:latin typeface="Inter"/>
              </a:rPr>
              <a:t>Description</a:t>
            </a:r>
          </a:p>
        </p:txBody>
      </p:sp>
      <p:cxnSp>
        <p:nvCxnSpPr>
          <p:cNvPr id="10" name="Connector 9"/>
          <p:cNvCxnSpPr/>
          <p:nvPr/>
        </p:nvCxnSpPr>
        <p:spPr>
          <a:xfrm>
            <a:off x="685800" y="2271600"/>
            <a:ext cx="10820400" cy="0"/>
          </a:xfrm>
          <a:prstGeom prst="line">
            <a:avLst/>
          </a:prstGeom>
          <a:ln w="9525">
            <a:solidFill>
              <a:srgbClr val="1E3A5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5800" y="2321600"/>
            <a:ext cx="3506800" cy="370000"/>
          </a:xfrm>
          <a:prstGeom prst="rect">
            <a:avLst/>
          </a:prstGeom>
          <a:noFill/>
        </p:spPr>
        <p:txBody>
          <a:bodyPr wrap="square" anchor="t">
            <a:spAutoFit/>
          </a:bodyPr>
          <a:lstStyle/>
          <a:p>
            <a:pPr algn="l"/>
            <a:r>
              <a:rPr sz="1600" b="1" i="0">
                <a:solidFill>
                  <a:srgbClr val="1E3A5F"/>
                </a:solidFill>
                <a:latin typeface="Inter"/>
              </a:rPr>
              <a:t>$8.5B</a:t>
            </a:r>
          </a:p>
        </p:txBody>
      </p:sp>
      <p:sp>
        <p:nvSpPr>
          <p:cNvPr id="12" name="TextBox 11"/>
          <p:cNvSpPr txBox="1"/>
          <p:nvPr/>
        </p:nvSpPr>
        <p:spPr>
          <a:xfrm>
            <a:off x="4292600" y="2321600"/>
            <a:ext cx="7113600" cy="370000"/>
          </a:xfrm>
          <a:prstGeom prst="rect">
            <a:avLst/>
          </a:prstGeom>
          <a:noFill/>
        </p:spPr>
        <p:txBody>
          <a:bodyPr wrap="square" anchor="t">
            <a:spAutoFit/>
          </a:bodyPr>
          <a:lstStyle/>
          <a:p>
            <a:pPr algn="l"/>
            <a:r>
              <a:rPr sz="1600" b="0" i="0">
                <a:solidFill>
                  <a:srgbClr val="4A5568"/>
                </a:solidFill>
                <a:latin typeface="Inter"/>
              </a:rPr>
              <a:t>Endowment</a:t>
            </a:r>
          </a:p>
        </p:txBody>
      </p:sp>
      <p:cxnSp>
        <p:nvCxnSpPr>
          <p:cNvPr id="13" name="Connector 12"/>
          <p:cNvCxnSpPr/>
          <p:nvPr/>
        </p:nvCxnSpPr>
        <p:spPr>
          <a:xfrm>
            <a:off x="685800" y="2691600"/>
            <a:ext cx="108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5800" y="2741600"/>
            <a:ext cx="3506800" cy="370000"/>
          </a:xfrm>
          <a:prstGeom prst="rect">
            <a:avLst/>
          </a:prstGeom>
          <a:noFill/>
        </p:spPr>
        <p:txBody>
          <a:bodyPr wrap="square" anchor="t">
            <a:spAutoFit/>
          </a:bodyPr>
          <a:lstStyle/>
          <a:p>
            <a:pPr algn="l"/>
            <a:r>
              <a:rPr sz="1600" b="1" i="0">
                <a:solidFill>
                  <a:srgbClr val="1E3A5F"/>
                </a:solidFill>
                <a:latin typeface="Inter"/>
              </a:rPr>
              <a:t>45,000+</a:t>
            </a:r>
          </a:p>
        </p:txBody>
      </p:sp>
      <p:sp>
        <p:nvSpPr>
          <p:cNvPr id="15" name="TextBox 14"/>
          <p:cNvSpPr txBox="1"/>
          <p:nvPr/>
        </p:nvSpPr>
        <p:spPr>
          <a:xfrm>
            <a:off x="4292600" y="2741600"/>
            <a:ext cx="7113600" cy="370000"/>
          </a:xfrm>
          <a:prstGeom prst="rect">
            <a:avLst/>
          </a:prstGeom>
          <a:noFill/>
        </p:spPr>
        <p:txBody>
          <a:bodyPr wrap="square" anchor="t">
            <a:spAutoFit/>
          </a:bodyPr>
          <a:lstStyle/>
          <a:p>
            <a:pPr algn="l"/>
            <a:r>
              <a:rPr sz="1600" b="0" i="0">
                <a:solidFill>
                  <a:srgbClr val="4A5568"/>
                </a:solidFill>
                <a:latin typeface="Inter"/>
              </a:rPr>
              <a:t>Students</a:t>
            </a:r>
          </a:p>
        </p:txBody>
      </p:sp>
      <p:cxnSp>
        <p:nvCxnSpPr>
          <p:cNvPr id="16" name="Connector 15"/>
          <p:cNvCxnSpPr/>
          <p:nvPr/>
        </p:nvCxnSpPr>
        <p:spPr>
          <a:xfrm>
            <a:off x="685800" y="3111600"/>
            <a:ext cx="108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5800" y="3161600"/>
            <a:ext cx="3506800" cy="370000"/>
          </a:xfrm>
          <a:prstGeom prst="rect">
            <a:avLst/>
          </a:prstGeom>
          <a:noFill/>
        </p:spPr>
        <p:txBody>
          <a:bodyPr wrap="square" anchor="t">
            <a:spAutoFit/>
          </a:bodyPr>
          <a:lstStyle/>
          <a:p>
            <a:pPr algn="l"/>
            <a:r>
              <a:rPr sz="1600" b="1" i="0">
                <a:solidFill>
                  <a:srgbClr val="1E3A5F"/>
                </a:solidFill>
                <a:latin typeface="Inter"/>
              </a:rPr>
              <a:t>3,200</a:t>
            </a:r>
          </a:p>
        </p:txBody>
      </p:sp>
      <p:sp>
        <p:nvSpPr>
          <p:cNvPr id="18" name="TextBox 17"/>
          <p:cNvSpPr txBox="1"/>
          <p:nvPr/>
        </p:nvSpPr>
        <p:spPr>
          <a:xfrm>
            <a:off x="4292600" y="3161600"/>
            <a:ext cx="7113600" cy="370000"/>
          </a:xfrm>
          <a:prstGeom prst="rect">
            <a:avLst/>
          </a:prstGeom>
          <a:noFill/>
        </p:spPr>
        <p:txBody>
          <a:bodyPr wrap="square" anchor="t">
            <a:spAutoFit/>
          </a:bodyPr>
          <a:lstStyle/>
          <a:p>
            <a:pPr algn="l"/>
            <a:r>
              <a:rPr sz="1600" b="0" i="0">
                <a:solidFill>
                  <a:srgbClr val="4A5568"/>
                </a:solidFill>
                <a:latin typeface="Inter"/>
              </a:rPr>
              <a:t>Faculty</a:t>
            </a:r>
          </a:p>
        </p:txBody>
      </p:sp>
      <p:cxnSp>
        <p:nvCxnSpPr>
          <p:cNvPr id="19" name="Connector 18"/>
          <p:cNvCxnSpPr/>
          <p:nvPr/>
        </p:nvCxnSpPr>
        <p:spPr>
          <a:xfrm>
            <a:off x="685800" y="3531600"/>
            <a:ext cx="108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5800" y="3581600"/>
            <a:ext cx="3506800" cy="370000"/>
          </a:xfrm>
          <a:prstGeom prst="rect">
            <a:avLst/>
          </a:prstGeom>
          <a:noFill/>
        </p:spPr>
        <p:txBody>
          <a:bodyPr wrap="square" anchor="t">
            <a:spAutoFit/>
          </a:bodyPr>
          <a:lstStyle/>
          <a:p>
            <a:pPr algn="l"/>
            <a:r>
              <a:rPr sz="1600" b="1" i="0">
                <a:solidFill>
                  <a:srgbClr val="1E3A5F"/>
                </a:solidFill>
                <a:latin typeface="Inter"/>
              </a:rPr>
              <a:t>280+</a:t>
            </a:r>
          </a:p>
        </p:txBody>
      </p:sp>
      <p:sp>
        <p:nvSpPr>
          <p:cNvPr id="21" name="TextBox 20"/>
          <p:cNvSpPr txBox="1"/>
          <p:nvPr/>
        </p:nvSpPr>
        <p:spPr>
          <a:xfrm>
            <a:off x="4292600" y="3581600"/>
            <a:ext cx="7113600" cy="370000"/>
          </a:xfrm>
          <a:prstGeom prst="rect">
            <a:avLst/>
          </a:prstGeom>
          <a:noFill/>
        </p:spPr>
        <p:txBody>
          <a:bodyPr wrap="square" anchor="t">
            <a:spAutoFit/>
          </a:bodyPr>
          <a:lstStyle/>
          <a:p>
            <a:pPr algn="l"/>
            <a:r>
              <a:rPr sz="1600" b="0" i="0">
                <a:solidFill>
                  <a:srgbClr val="4A5568"/>
                </a:solidFill>
                <a:latin typeface="Inter"/>
              </a:rPr>
              <a:t>Degree Programs</a:t>
            </a:r>
          </a:p>
        </p:txBody>
      </p:sp>
      <p:cxnSp>
        <p:nvCxnSpPr>
          <p:cNvPr id="22" name="Connector 21"/>
          <p:cNvCxnSpPr/>
          <p:nvPr/>
        </p:nvCxnSpPr>
        <p:spPr>
          <a:xfrm>
            <a:off x="685800" y="3951600"/>
            <a:ext cx="108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35800" y="4001600"/>
            <a:ext cx="3506800" cy="370000"/>
          </a:xfrm>
          <a:prstGeom prst="rect">
            <a:avLst/>
          </a:prstGeom>
          <a:noFill/>
        </p:spPr>
        <p:txBody>
          <a:bodyPr wrap="square" anchor="t">
            <a:spAutoFit/>
          </a:bodyPr>
          <a:lstStyle/>
          <a:p>
            <a:pPr algn="l"/>
            <a:r>
              <a:rPr sz="1600" b="1" i="0">
                <a:solidFill>
                  <a:srgbClr val="1E3A5F"/>
                </a:solidFill>
                <a:latin typeface="Inter"/>
              </a:rPr>
              <a:t>$1.2B</a:t>
            </a:r>
          </a:p>
        </p:txBody>
      </p:sp>
      <p:sp>
        <p:nvSpPr>
          <p:cNvPr id="24" name="TextBox 23"/>
          <p:cNvSpPr txBox="1"/>
          <p:nvPr/>
        </p:nvSpPr>
        <p:spPr>
          <a:xfrm>
            <a:off x="4292600" y="4001600"/>
            <a:ext cx="7113600" cy="370000"/>
          </a:xfrm>
          <a:prstGeom prst="rect">
            <a:avLst/>
          </a:prstGeom>
          <a:noFill/>
        </p:spPr>
        <p:txBody>
          <a:bodyPr wrap="square" anchor="t">
            <a:spAutoFit/>
          </a:bodyPr>
          <a:lstStyle/>
          <a:p>
            <a:pPr algn="l"/>
            <a:r>
              <a:rPr sz="1600" b="0" i="0">
                <a:solidFill>
                  <a:srgbClr val="4A5568"/>
                </a:solidFill>
                <a:latin typeface="Inter"/>
              </a:rPr>
              <a:t>Research Funding</a:t>
            </a:r>
          </a:p>
        </p:txBody>
      </p:sp>
      <p:cxnSp>
        <p:nvCxnSpPr>
          <p:cNvPr id="25" name="Connector 24"/>
          <p:cNvCxnSpPr/>
          <p:nvPr/>
        </p:nvCxnSpPr>
        <p:spPr>
          <a:xfrm>
            <a:off x="685800" y="4371600"/>
            <a:ext cx="108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35800" y="4421600"/>
            <a:ext cx="3506800" cy="370000"/>
          </a:xfrm>
          <a:prstGeom prst="rect">
            <a:avLst/>
          </a:prstGeom>
          <a:noFill/>
        </p:spPr>
        <p:txBody>
          <a:bodyPr wrap="square" anchor="t">
            <a:spAutoFit/>
          </a:bodyPr>
          <a:lstStyle/>
          <a:p>
            <a:pPr algn="l"/>
            <a:r>
              <a:rPr sz="1600" b="1" i="0">
                <a:solidFill>
                  <a:srgbClr val="1E3A5F"/>
                </a:solidFill>
                <a:latin typeface="Inter"/>
              </a:rPr>
              <a:t>Top 20</a:t>
            </a:r>
          </a:p>
        </p:txBody>
      </p:sp>
      <p:sp>
        <p:nvSpPr>
          <p:cNvPr id="27" name="TextBox 26"/>
          <p:cNvSpPr txBox="1"/>
          <p:nvPr/>
        </p:nvSpPr>
        <p:spPr>
          <a:xfrm>
            <a:off x="4292600" y="4421600"/>
            <a:ext cx="7113600" cy="370000"/>
          </a:xfrm>
          <a:prstGeom prst="rect">
            <a:avLst/>
          </a:prstGeom>
          <a:noFill/>
        </p:spPr>
        <p:txBody>
          <a:bodyPr wrap="square" anchor="t">
            <a:spAutoFit/>
          </a:bodyPr>
          <a:lstStyle/>
          <a:p>
            <a:pPr algn="l"/>
            <a:r>
              <a:rPr sz="1600" b="0" i="0">
                <a:solidFill>
                  <a:srgbClr val="4A5568"/>
                </a:solidFill>
                <a:latin typeface="Inter"/>
              </a:rPr>
              <a:t>Global Ranking</a:t>
            </a:r>
          </a:p>
        </p:txBody>
      </p:sp>
      <p:cxnSp>
        <p:nvCxnSpPr>
          <p:cNvPr id="28" name="Connector 27"/>
          <p:cNvCxnSpPr/>
          <p:nvPr/>
        </p:nvCxnSpPr>
        <p:spPr>
          <a:xfrm>
            <a:off x="685800" y="4791600"/>
            <a:ext cx="10820400" cy="0"/>
          </a:xfrm>
          <a:prstGeom prst="line">
            <a:avLst/>
          </a:prstGeom>
          <a:ln w="6350">
            <a:solidFill>
              <a:srgbClr val="4A5568"/>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31" name="TextBox 30"/>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3352800" y="2429000"/>
            <a:ext cx="54864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2629000"/>
            <a:ext cx="10820400" cy="400000"/>
          </a:xfrm>
          <a:prstGeom prst="rect">
            <a:avLst/>
          </a:prstGeom>
          <a:noFill/>
        </p:spPr>
        <p:txBody>
          <a:bodyPr wrap="square" anchor="t">
            <a:spAutoFit/>
          </a:bodyPr>
          <a:lstStyle/>
          <a:p>
            <a:pPr algn="ctr"/>
            <a:r>
              <a:rPr sz="1300" b="0" i="0">
                <a:solidFill>
                  <a:srgbClr val="9B2335"/>
                </a:solidFill>
                <a:latin typeface="Inter"/>
              </a:rPr>
              <a:t>Section 02</a:t>
            </a:r>
          </a:p>
        </p:txBody>
      </p:sp>
      <p:sp>
        <p:nvSpPr>
          <p:cNvPr id="5" name="TextBox 4"/>
          <p:cNvSpPr txBox="1"/>
          <p:nvPr/>
        </p:nvSpPr>
        <p:spPr>
          <a:xfrm>
            <a:off x="1185800" y="3129000"/>
            <a:ext cx="9820400" cy="700000"/>
          </a:xfrm>
          <a:prstGeom prst="rect">
            <a:avLst/>
          </a:prstGeom>
          <a:noFill/>
        </p:spPr>
        <p:txBody>
          <a:bodyPr wrap="square" anchor="t">
            <a:spAutoFit/>
          </a:bodyPr>
          <a:lstStyle/>
          <a:p>
            <a:pPr algn="ctr"/>
            <a:r>
              <a:rPr sz="3600" b="1" i="0">
                <a:solidFill>
                  <a:srgbClr val="1E3A5F"/>
                </a:solidFill>
                <a:latin typeface="Inter"/>
              </a:rPr>
              <a:t>Strategy</a:t>
            </a:r>
          </a:p>
        </p:txBody>
      </p:sp>
      <p:cxnSp>
        <p:nvCxnSpPr>
          <p:cNvPr id="6" name="Connector 5"/>
          <p:cNvCxnSpPr/>
          <p:nvPr/>
        </p:nvCxnSpPr>
        <p:spPr>
          <a:xfrm>
            <a:off x="3352800" y="4029000"/>
            <a:ext cx="54864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685800" y="4279000"/>
            <a:ext cx="8820400" cy="350000"/>
          </a:xfrm>
          <a:prstGeom prst="rect">
            <a:avLst/>
          </a:prstGeom>
          <a:noFill/>
        </p:spPr>
        <p:txBody>
          <a:bodyPr wrap="square" anchor="t">
            <a:spAutoFit/>
          </a:bodyPr>
          <a:lstStyle/>
          <a:p>
            <a:pPr algn="ctr"/>
            <a:r>
              <a:rPr sz="1300" b="0" i="0">
                <a:solidFill>
                  <a:srgbClr val="4A5568"/>
                </a:solidFill>
                <a:latin typeface="Inter"/>
              </a:rPr>
              <a:t>Our path to sustainable growth</a:t>
            </a:r>
          </a:p>
        </p:txBody>
      </p:sp>
      <p:sp>
        <p:nvSpPr>
          <p:cNvPr id="8" name="Rectangle 7"/>
          <p:cNvSpPr/>
          <p:nvPr/>
        </p:nvSpPr>
        <p:spPr>
          <a:xfrm>
            <a:off x="0" y="6400800"/>
            <a:ext cx="12192000" cy="457200"/>
          </a:xfrm>
          <a:prstGeom prst="rect">
            <a:avLst/>
          </a:prstGeom>
          <a:solidFill>
            <a:srgbClr val="18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1540" y="6500800"/>
            <a:ext cx="3000000" cy="260000"/>
          </a:xfrm>
          <a:prstGeom prst="rect">
            <a:avLst/>
          </a:prstGeom>
          <a:noFill/>
        </p:spPr>
        <p:txBody>
          <a:bodyPr wrap="square" anchor="t">
            <a:spAutoFit/>
          </a:bodyPr>
          <a:lstStyle/>
          <a:p>
            <a:pPr algn="l"/>
            <a:r>
              <a:rPr sz="1200" b="0" i="0">
                <a:solidFill>
                  <a:srgbClr val="8E9CAF"/>
                </a:solidFill>
                <a:latin typeface="Inter"/>
              </a:rPr>
              <a:t>University</a:t>
            </a:r>
          </a:p>
        </p:txBody>
      </p:sp>
      <p:sp>
        <p:nvSpPr>
          <p:cNvPr id="10" name="TextBox 9"/>
          <p:cNvSpPr txBox="1"/>
          <p:nvPr/>
        </p:nvSpPr>
        <p:spPr>
          <a:xfrm>
            <a:off x="11106200" y="6500800"/>
            <a:ext cx="400000" cy="260000"/>
          </a:xfrm>
          <a:prstGeom prst="rect">
            <a:avLst/>
          </a:prstGeom>
          <a:noFill/>
        </p:spPr>
        <p:txBody>
          <a:bodyPr wrap="square" anchor="t">
            <a:spAutoFit/>
          </a:bodyPr>
          <a:lstStyle/>
          <a:p>
            <a:pPr algn="r"/>
            <a:r>
              <a:rPr sz="900" b="0" i="0">
                <a:solidFill>
                  <a:srgbClr val="8E9CAF"/>
                </a:solidFill>
                <a:latin typeface="Inter"/>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Abstract</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85800" y="1421600"/>
            <a:ext cx="108204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85800" y="1571600"/>
            <a:ext cx="5951220" cy="500000"/>
          </a:xfrm>
          <a:prstGeom prst="rect">
            <a:avLst/>
          </a:prstGeom>
          <a:noFill/>
        </p:spPr>
        <p:txBody>
          <a:bodyPr wrap="square" anchor="t">
            <a:spAutoFit/>
          </a:bodyPr>
          <a:lstStyle/>
          <a:p>
            <a:pPr algn="l"/>
            <a:r>
              <a:rPr sz="1200" b="0" i="0">
                <a:solidFill>
                  <a:srgbClr val="1E3A5F"/>
                </a:solidFill>
                <a:latin typeface="Inter"/>
              </a:rPr>
              <a:t>Revenue grew 23% year-over-year, driven by new enterprise accounts and expanded service offerings across all major markets</a:t>
            </a:r>
          </a:p>
        </p:txBody>
      </p:sp>
      <p:sp>
        <p:nvSpPr>
          <p:cNvPr id="7" name="TextBox 6"/>
          <p:cNvSpPr txBox="1"/>
          <p:nvPr/>
        </p:nvSpPr>
        <p:spPr>
          <a:xfrm>
            <a:off x="885800" y="2121600"/>
            <a:ext cx="5951220" cy="500000"/>
          </a:xfrm>
          <a:prstGeom prst="rect">
            <a:avLst/>
          </a:prstGeom>
          <a:noFill/>
        </p:spPr>
        <p:txBody>
          <a:bodyPr wrap="square" anchor="t">
            <a:spAutoFit/>
          </a:bodyPr>
          <a:lstStyle/>
          <a:p>
            <a:pPr algn="l"/>
            <a:r>
              <a:rPr sz="1200" b="0" i="0">
                <a:solidFill>
                  <a:srgbClr val="1E3A5F"/>
                </a:solidFill>
                <a:latin typeface="Inter"/>
              </a:rPr>
              <a:t>Successfully launched three new product lines, contributing $120M in incremental revenue during the first two quarters</a:t>
            </a:r>
          </a:p>
        </p:txBody>
      </p:sp>
      <p:sp>
        <p:nvSpPr>
          <p:cNvPr id="8" name="TextBox 7"/>
          <p:cNvSpPr txBox="1"/>
          <p:nvPr/>
        </p:nvSpPr>
        <p:spPr>
          <a:xfrm>
            <a:off x="885800" y="2671600"/>
            <a:ext cx="5951220" cy="500000"/>
          </a:xfrm>
          <a:prstGeom prst="rect">
            <a:avLst/>
          </a:prstGeom>
          <a:noFill/>
        </p:spPr>
        <p:txBody>
          <a:bodyPr wrap="square" anchor="t">
            <a:spAutoFit/>
          </a:bodyPr>
          <a:lstStyle/>
          <a:p>
            <a:pPr algn="l"/>
            <a:r>
              <a:rPr sz="1200" b="0" i="0">
                <a:solidFill>
                  <a:srgbClr val="1E3A5F"/>
                </a:solidFill>
                <a:latin typeface="Inter"/>
              </a:rPr>
              <a:t>Customer retention rate improved to 98%, reflecting our commitment to excellence and client-centric approach</a:t>
            </a:r>
          </a:p>
        </p:txBody>
      </p:sp>
      <p:sp>
        <p:nvSpPr>
          <p:cNvPr id="9" name="TextBox 8"/>
          <p:cNvSpPr txBox="1"/>
          <p:nvPr/>
        </p:nvSpPr>
        <p:spPr>
          <a:xfrm>
            <a:off x="885800" y="3221600"/>
            <a:ext cx="5951220" cy="500000"/>
          </a:xfrm>
          <a:prstGeom prst="rect">
            <a:avLst/>
          </a:prstGeom>
          <a:noFill/>
        </p:spPr>
        <p:txBody>
          <a:bodyPr wrap="square" anchor="t">
            <a:spAutoFit/>
          </a:bodyPr>
          <a:lstStyle/>
          <a:p>
            <a:pPr algn="l"/>
            <a:r>
              <a:rPr sz="1200" b="0" i="0">
                <a:solidFill>
                  <a:srgbClr val="1E3A5F"/>
                </a:solidFill>
                <a:latin typeface="Inter"/>
              </a:rPr>
              <a:t>Operational efficiency gains reduced costs by 15%, enabling reinvestment in R&amp;D and talent acquisition</a:t>
            </a:r>
          </a:p>
        </p:txBody>
      </p:sp>
      <p:sp>
        <p:nvSpPr>
          <p:cNvPr id="10" name="TextBox 9"/>
          <p:cNvSpPr txBox="1"/>
          <p:nvPr/>
        </p:nvSpPr>
        <p:spPr>
          <a:xfrm>
            <a:off x="885800" y="3771600"/>
            <a:ext cx="5951220" cy="500000"/>
          </a:xfrm>
          <a:prstGeom prst="rect">
            <a:avLst/>
          </a:prstGeom>
          <a:noFill/>
        </p:spPr>
        <p:txBody>
          <a:bodyPr wrap="square" anchor="t">
            <a:spAutoFit/>
          </a:bodyPr>
          <a:lstStyle/>
          <a:p>
            <a:pPr algn="l"/>
            <a:r>
              <a:rPr sz="1200" b="0" i="0">
                <a:solidFill>
                  <a:srgbClr val="1E3A5F"/>
                </a:solidFill>
                <a:latin typeface="Inter"/>
              </a:rPr>
              <a:t>Strategic partnerships with two Fortune 100 companies opened new distribution channels globally</a:t>
            </a:r>
          </a:p>
        </p:txBody>
      </p:sp>
      <p:sp>
        <p:nvSpPr>
          <p:cNvPr id="11" name="TextBox 10"/>
          <p:cNvSpPr txBox="1"/>
          <p:nvPr/>
        </p:nvSpPr>
        <p:spPr>
          <a:xfrm>
            <a:off x="7137020" y="1571600"/>
            <a:ext cx="4369180" cy="300000"/>
          </a:xfrm>
          <a:prstGeom prst="rect">
            <a:avLst/>
          </a:prstGeom>
          <a:noFill/>
        </p:spPr>
        <p:txBody>
          <a:bodyPr wrap="square" anchor="t">
            <a:spAutoFit/>
          </a:bodyPr>
          <a:lstStyle/>
          <a:p>
            <a:pPr algn="l"/>
            <a:r>
              <a:rPr sz="1100" b="1" i="0">
                <a:solidFill>
                  <a:srgbClr val="1E3A5F"/>
                </a:solidFill>
                <a:latin typeface="Inter"/>
              </a:rPr>
              <a:t>Key Figures</a:t>
            </a:r>
          </a:p>
        </p:txBody>
      </p:sp>
      <p:cxnSp>
        <p:nvCxnSpPr>
          <p:cNvPr id="12" name="Connector 11"/>
          <p:cNvCxnSpPr/>
          <p:nvPr/>
        </p:nvCxnSpPr>
        <p:spPr>
          <a:xfrm>
            <a:off x="7137020" y="1871600"/>
            <a:ext cx="4369180" cy="0"/>
          </a:xfrm>
          <a:prstGeom prst="line">
            <a:avLst/>
          </a:prstGeom>
          <a:ln w="9525">
            <a:solidFill>
              <a:srgbClr val="1E3A5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137020" y="1971600"/>
            <a:ext cx="1529213" cy="250000"/>
          </a:xfrm>
          <a:prstGeom prst="rect">
            <a:avLst/>
          </a:prstGeom>
          <a:noFill/>
        </p:spPr>
        <p:txBody>
          <a:bodyPr wrap="square" anchor="t">
            <a:spAutoFit/>
          </a:bodyPr>
          <a:lstStyle/>
          <a:p>
            <a:pPr algn="l"/>
            <a:r>
              <a:rPr sz="900" b="1" i="0">
                <a:solidFill>
                  <a:srgbClr val="4A5568"/>
                </a:solidFill>
                <a:latin typeface="Inter"/>
              </a:rPr>
              <a:t>Table 1:</a:t>
            </a:r>
          </a:p>
        </p:txBody>
      </p:sp>
      <p:sp>
        <p:nvSpPr>
          <p:cNvPr id="14" name="TextBox 13"/>
          <p:cNvSpPr txBox="1"/>
          <p:nvPr/>
        </p:nvSpPr>
        <p:spPr>
          <a:xfrm>
            <a:off x="8666233" y="1971600"/>
            <a:ext cx="1529213" cy="250000"/>
          </a:xfrm>
          <a:prstGeom prst="rect">
            <a:avLst/>
          </a:prstGeom>
          <a:noFill/>
        </p:spPr>
        <p:txBody>
          <a:bodyPr wrap="square" anchor="t">
            <a:spAutoFit/>
          </a:bodyPr>
          <a:lstStyle/>
          <a:p>
            <a:pPr algn="l"/>
            <a:r>
              <a:rPr sz="1000" b="0" i="0">
                <a:solidFill>
                  <a:srgbClr val="1E3A5F"/>
                </a:solidFill>
                <a:latin typeface="Inter"/>
              </a:rPr>
              <a:t>Research Funding</a:t>
            </a:r>
          </a:p>
        </p:txBody>
      </p:sp>
      <p:sp>
        <p:nvSpPr>
          <p:cNvPr id="15" name="TextBox 14"/>
          <p:cNvSpPr txBox="1"/>
          <p:nvPr/>
        </p:nvSpPr>
        <p:spPr>
          <a:xfrm>
            <a:off x="10195446" y="1971600"/>
            <a:ext cx="1310754" cy="250000"/>
          </a:xfrm>
          <a:prstGeom prst="rect">
            <a:avLst/>
          </a:prstGeom>
          <a:noFill/>
        </p:spPr>
        <p:txBody>
          <a:bodyPr wrap="square" anchor="t">
            <a:spAutoFit/>
          </a:bodyPr>
          <a:lstStyle/>
          <a:p>
            <a:pPr algn="r"/>
            <a:r>
              <a:rPr sz="1200" b="1" i="0">
                <a:solidFill>
                  <a:srgbClr val="1E3A5F"/>
                </a:solidFill>
                <a:latin typeface="Inter"/>
              </a:rPr>
              <a:t>$1.2B</a:t>
            </a:r>
          </a:p>
        </p:txBody>
      </p:sp>
      <p:cxnSp>
        <p:nvCxnSpPr>
          <p:cNvPr id="16" name="Connector 15"/>
          <p:cNvCxnSpPr/>
          <p:nvPr/>
        </p:nvCxnSpPr>
        <p:spPr>
          <a:xfrm>
            <a:off x="7137020" y="2321600"/>
            <a:ext cx="436918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37020" y="2571600"/>
            <a:ext cx="1529213" cy="250000"/>
          </a:xfrm>
          <a:prstGeom prst="rect">
            <a:avLst/>
          </a:prstGeom>
          <a:noFill/>
        </p:spPr>
        <p:txBody>
          <a:bodyPr wrap="square" anchor="t">
            <a:spAutoFit/>
          </a:bodyPr>
          <a:lstStyle/>
          <a:p>
            <a:pPr algn="l"/>
            <a:r>
              <a:rPr sz="900" b="1" i="0">
                <a:solidFill>
                  <a:srgbClr val="4A5568"/>
                </a:solidFill>
                <a:latin typeface="Inter"/>
              </a:rPr>
              <a:t>Table 2:</a:t>
            </a:r>
          </a:p>
        </p:txBody>
      </p:sp>
      <p:sp>
        <p:nvSpPr>
          <p:cNvPr id="18" name="TextBox 17"/>
          <p:cNvSpPr txBox="1"/>
          <p:nvPr/>
        </p:nvSpPr>
        <p:spPr>
          <a:xfrm>
            <a:off x="8666233" y="2571600"/>
            <a:ext cx="1529213" cy="250000"/>
          </a:xfrm>
          <a:prstGeom prst="rect">
            <a:avLst/>
          </a:prstGeom>
          <a:noFill/>
        </p:spPr>
        <p:txBody>
          <a:bodyPr wrap="square" anchor="t">
            <a:spAutoFit/>
          </a:bodyPr>
          <a:lstStyle/>
          <a:p>
            <a:pPr algn="l"/>
            <a:r>
              <a:rPr sz="1000" b="0" i="0">
                <a:solidFill>
                  <a:srgbClr val="1E3A5F"/>
                </a:solidFill>
                <a:latin typeface="Inter"/>
              </a:rPr>
              <a:t>World Ranking</a:t>
            </a:r>
          </a:p>
        </p:txBody>
      </p:sp>
      <p:sp>
        <p:nvSpPr>
          <p:cNvPr id="19" name="TextBox 18"/>
          <p:cNvSpPr txBox="1"/>
          <p:nvPr/>
        </p:nvSpPr>
        <p:spPr>
          <a:xfrm>
            <a:off x="10195446" y="2571600"/>
            <a:ext cx="1310754" cy="250000"/>
          </a:xfrm>
          <a:prstGeom prst="rect">
            <a:avLst/>
          </a:prstGeom>
          <a:noFill/>
        </p:spPr>
        <p:txBody>
          <a:bodyPr wrap="square" anchor="t">
            <a:spAutoFit/>
          </a:bodyPr>
          <a:lstStyle/>
          <a:p>
            <a:pPr algn="r"/>
            <a:r>
              <a:rPr sz="1200" b="1" i="0">
                <a:solidFill>
                  <a:srgbClr val="1E3A5F"/>
                </a:solidFill>
                <a:latin typeface="Inter"/>
              </a:rPr>
              <a:t>Top 20</a:t>
            </a:r>
          </a:p>
        </p:txBody>
      </p:sp>
      <p:cxnSp>
        <p:nvCxnSpPr>
          <p:cNvPr id="20" name="Connector 19"/>
          <p:cNvCxnSpPr/>
          <p:nvPr/>
        </p:nvCxnSpPr>
        <p:spPr>
          <a:xfrm>
            <a:off x="7137020" y="2921600"/>
            <a:ext cx="436918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137020" y="3171600"/>
            <a:ext cx="1529213" cy="250000"/>
          </a:xfrm>
          <a:prstGeom prst="rect">
            <a:avLst/>
          </a:prstGeom>
          <a:noFill/>
        </p:spPr>
        <p:txBody>
          <a:bodyPr wrap="square" anchor="t">
            <a:spAutoFit/>
          </a:bodyPr>
          <a:lstStyle/>
          <a:p>
            <a:pPr algn="l"/>
            <a:r>
              <a:rPr sz="900" b="1" i="0">
                <a:solidFill>
                  <a:srgbClr val="4A5568"/>
                </a:solidFill>
                <a:latin typeface="Inter"/>
              </a:rPr>
              <a:t>Table 3:</a:t>
            </a:r>
          </a:p>
        </p:txBody>
      </p:sp>
      <p:sp>
        <p:nvSpPr>
          <p:cNvPr id="22" name="TextBox 21"/>
          <p:cNvSpPr txBox="1"/>
          <p:nvPr/>
        </p:nvSpPr>
        <p:spPr>
          <a:xfrm>
            <a:off x="8666233" y="3171600"/>
            <a:ext cx="1529213" cy="250000"/>
          </a:xfrm>
          <a:prstGeom prst="rect">
            <a:avLst/>
          </a:prstGeom>
          <a:noFill/>
        </p:spPr>
        <p:txBody>
          <a:bodyPr wrap="square" anchor="t">
            <a:spAutoFit/>
          </a:bodyPr>
          <a:lstStyle/>
          <a:p>
            <a:pPr algn="l"/>
            <a:r>
              <a:rPr sz="1000" b="0" i="0">
                <a:solidFill>
                  <a:srgbClr val="1E3A5F"/>
                </a:solidFill>
                <a:latin typeface="Inter"/>
              </a:rPr>
              <a:t>Graduation Rate</a:t>
            </a:r>
          </a:p>
        </p:txBody>
      </p:sp>
      <p:sp>
        <p:nvSpPr>
          <p:cNvPr id="23" name="TextBox 22"/>
          <p:cNvSpPr txBox="1"/>
          <p:nvPr/>
        </p:nvSpPr>
        <p:spPr>
          <a:xfrm>
            <a:off x="10195446" y="3171600"/>
            <a:ext cx="1310754" cy="250000"/>
          </a:xfrm>
          <a:prstGeom prst="rect">
            <a:avLst/>
          </a:prstGeom>
          <a:noFill/>
        </p:spPr>
        <p:txBody>
          <a:bodyPr wrap="square" anchor="t">
            <a:spAutoFit/>
          </a:bodyPr>
          <a:lstStyle/>
          <a:p>
            <a:pPr algn="r"/>
            <a:r>
              <a:rPr sz="1200" b="1" i="0">
                <a:solidFill>
                  <a:srgbClr val="1E3A5F"/>
                </a:solidFill>
                <a:latin typeface="Inter"/>
              </a:rPr>
              <a:t>98%</a:t>
            </a:r>
          </a:p>
        </p:txBody>
      </p:sp>
      <p:cxnSp>
        <p:nvCxnSpPr>
          <p:cNvPr id="24" name="Connector 23"/>
          <p:cNvCxnSpPr/>
          <p:nvPr/>
        </p:nvCxnSpPr>
        <p:spPr>
          <a:xfrm>
            <a:off x="7137020" y="3521600"/>
            <a:ext cx="436918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27" name="TextBox 26"/>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Key Metrics</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45800" y="1771600"/>
            <a:ext cx="2585100" cy="250000"/>
          </a:xfrm>
          <a:prstGeom prst="rect">
            <a:avLst/>
          </a:prstGeom>
          <a:noFill/>
        </p:spPr>
        <p:txBody>
          <a:bodyPr wrap="square" anchor="t">
            <a:spAutoFit/>
          </a:bodyPr>
          <a:lstStyle/>
          <a:p>
            <a:pPr algn="ctr"/>
            <a:r>
              <a:rPr sz="900" b="1" i="0">
                <a:solidFill>
                  <a:srgbClr val="4A5568"/>
                </a:solidFill>
                <a:latin typeface="Inter"/>
              </a:rPr>
              <a:t>Figure 1:</a:t>
            </a:r>
          </a:p>
        </p:txBody>
      </p:sp>
      <p:cxnSp>
        <p:nvCxnSpPr>
          <p:cNvPr id="6" name="Connector 5"/>
          <p:cNvCxnSpPr/>
          <p:nvPr/>
        </p:nvCxnSpPr>
        <p:spPr>
          <a:xfrm>
            <a:off x="1362075" y="2051600"/>
            <a:ext cx="135255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25800" y="2171600"/>
            <a:ext cx="2625100" cy="300000"/>
          </a:xfrm>
          <a:prstGeom prst="rect">
            <a:avLst/>
          </a:prstGeom>
          <a:noFill/>
        </p:spPr>
        <p:txBody>
          <a:bodyPr wrap="square" anchor="t">
            <a:spAutoFit/>
          </a:bodyPr>
          <a:lstStyle/>
          <a:p>
            <a:pPr algn="ctr"/>
            <a:r>
              <a:rPr sz="1100" b="0" i="0">
                <a:solidFill>
                  <a:srgbClr val="4A5568"/>
                </a:solidFill>
                <a:latin typeface="Inter"/>
              </a:rPr>
              <a:t>Research Output</a:t>
            </a:r>
          </a:p>
        </p:txBody>
      </p:sp>
      <p:sp>
        <p:nvSpPr>
          <p:cNvPr id="8" name="TextBox 7"/>
          <p:cNvSpPr txBox="1"/>
          <p:nvPr/>
        </p:nvSpPr>
        <p:spPr>
          <a:xfrm>
            <a:off x="705800" y="2571600"/>
            <a:ext cx="2665100" cy="700000"/>
          </a:xfrm>
          <a:prstGeom prst="rect">
            <a:avLst/>
          </a:prstGeom>
          <a:noFill/>
        </p:spPr>
        <p:txBody>
          <a:bodyPr wrap="square" anchor="t">
            <a:spAutoFit/>
          </a:bodyPr>
          <a:lstStyle/>
          <a:p>
            <a:pPr algn="ctr"/>
            <a:r>
              <a:rPr sz="3800" b="1" i="0">
                <a:solidFill>
                  <a:srgbClr val="1E3A5F"/>
                </a:solidFill>
                <a:latin typeface="Inter"/>
              </a:rPr>
              <a:t>4,200</a:t>
            </a:r>
          </a:p>
        </p:txBody>
      </p:sp>
      <p:cxnSp>
        <p:nvCxnSpPr>
          <p:cNvPr id="9" name="Connector 8"/>
          <p:cNvCxnSpPr/>
          <p:nvPr/>
        </p:nvCxnSpPr>
        <p:spPr>
          <a:xfrm>
            <a:off x="1362075" y="3371600"/>
            <a:ext cx="135255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45800" y="3471600"/>
            <a:ext cx="2585100" cy="300000"/>
          </a:xfrm>
          <a:prstGeom prst="rect">
            <a:avLst/>
          </a:prstGeom>
          <a:noFill/>
        </p:spPr>
        <p:txBody>
          <a:bodyPr wrap="square" anchor="t">
            <a:spAutoFit/>
          </a:bodyPr>
          <a:lstStyle/>
          <a:p>
            <a:pPr algn="ctr"/>
            <a:r>
              <a:rPr sz="1200" b="0" i="0">
                <a:solidFill>
                  <a:srgbClr val="E85D04"/>
                </a:solidFill>
                <a:latin typeface="Inter"/>
              </a:rPr>
              <a:t>↑ +12%</a:t>
            </a:r>
          </a:p>
        </p:txBody>
      </p:sp>
      <p:sp>
        <p:nvSpPr>
          <p:cNvPr id="11" name="TextBox 10"/>
          <p:cNvSpPr txBox="1"/>
          <p:nvPr/>
        </p:nvSpPr>
        <p:spPr>
          <a:xfrm>
            <a:off x="745800" y="3821600"/>
            <a:ext cx="2585100" cy="250000"/>
          </a:xfrm>
          <a:prstGeom prst="rect">
            <a:avLst/>
          </a:prstGeom>
          <a:noFill/>
        </p:spPr>
        <p:txBody>
          <a:bodyPr wrap="square" anchor="t">
            <a:spAutoFit/>
          </a:bodyPr>
          <a:lstStyle/>
          <a:p>
            <a:pPr algn="ctr"/>
            <a:r>
              <a:rPr sz="900" b="0" i="0">
                <a:solidFill>
                  <a:srgbClr val="4A5568"/>
                </a:solidFill>
                <a:latin typeface="Inter"/>
              </a:rPr>
              <a:t>(85% of target)</a:t>
            </a:r>
          </a:p>
        </p:txBody>
      </p:sp>
      <p:cxnSp>
        <p:nvCxnSpPr>
          <p:cNvPr id="12" name="Connector 11"/>
          <p:cNvCxnSpPr/>
          <p:nvPr/>
        </p:nvCxnSpPr>
        <p:spPr>
          <a:xfrm>
            <a:off x="3390900" y="1771600"/>
            <a:ext cx="0" cy="3000000"/>
          </a:xfrm>
          <a:prstGeom prst="line">
            <a:avLst/>
          </a:prstGeom>
          <a:ln w="6350">
            <a:solidFill>
              <a:srgbClr val="DADDE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450900" y="1771600"/>
            <a:ext cx="2585100" cy="250000"/>
          </a:xfrm>
          <a:prstGeom prst="rect">
            <a:avLst/>
          </a:prstGeom>
          <a:noFill/>
        </p:spPr>
        <p:txBody>
          <a:bodyPr wrap="square" anchor="t">
            <a:spAutoFit/>
          </a:bodyPr>
          <a:lstStyle/>
          <a:p>
            <a:pPr algn="ctr"/>
            <a:r>
              <a:rPr sz="900" b="1" i="0">
                <a:solidFill>
                  <a:srgbClr val="4A5568"/>
                </a:solidFill>
                <a:latin typeface="Inter"/>
              </a:rPr>
              <a:t>Figure 2:</a:t>
            </a:r>
          </a:p>
        </p:txBody>
      </p:sp>
      <p:cxnSp>
        <p:nvCxnSpPr>
          <p:cNvPr id="14" name="Connector 13"/>
          <p:cNvCxnSpPr/>
          <p:nvPr/>
        </p:nvCxnSpPr>
        <p:spPr>
          <a:xfrm>
            <a:off x="4067175" y="2051600"/>
            <a:ext cx="135255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430900" y="2171600"/>
            <a:ext cx="2625100" cy="300000"/>
          </a:xfrm>
          <a:prstGeom prst="rect">
            <a:avLst/>
          </a:prstGeom>
          <a:noFill/>
        </p:spPr>
        <p:txBody>
          <a:bodyPr wrap="square" anchor="t">
            <a:spAutoFit/>
          </a:bodyPr>
          <a:lstStyle/>
          <a:p>
            <a:pPr algn="ctr"/>
            <a:r>
              <a:rPr sz="1100" b="0" i="0">
                <a:solidFill>
                  <a:srgbClr val="4A5568"/>
                </a:solidFill>
                <a:latin typeface="Inter"/>
              </a:rPr>
              <a:t>Student Satisfaction</a:t>
            </a:r>
          </a:p>
        </p:txBody>
      </p:sp>
      <p:sp>
        <p:nvSpPr>
          <p:cNvPr id="16" name="TextBox 15"/>
          <p:cNvSpPr txBox="1"/>
          <p:nvPr/>
        </p:nvSpPr>
        <p:spPr>
          <a:xfrm>
            <a:off x="3410900" y="2571600"/>
            <a:ext cx="2665100" cy="700000"/>
          </a:xfrm>
          <a:prstGeom prst="rect">
            <a:avLst/>
          </a:prstGeom>
          <a:noFill/>
        </p:spPr>
        <p:txBody>
          <a:bodyPr wrap="square" anchor="t">
            <a:spAutoFit/>
          </a:bodyPr>
          <a:lstStyle/>
          <a:p>
            <a:pPr algn="ctr"/>
            <a:r>
              <a:rPr sz="3800" b="1" i="0">
                <a:solidFill>
                  <a:srgbClr val="1E3A5F"/>
                </a:solidFill>
                <a:latin typeface="Inter"/>
              </a:rPr>
              <a:t>4.6/5</a:t>
            </a:r>
          </a:p>
        </p:txBody>
      </p:sp>
      <p:cxnSp>
        <p:nvCxnSpPr>
          <p:cNvPr id="17" name="Connector 16"/>
          <p:cNvCxnSpPr/>
          <p:nvPr/>
        </p:nvCxnSpPr>
        <p:spPr>
          <a:xfrm>
            <a:off x="4067175" y="3371600"/>
            <a:ext cx="135255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450900" y="3471600"/>
            <a:ext cx="2585100" cy="300000"/>
          </a:xfrm>
          <a:prstGeom prst="rect">
            <a:avLst/>
          </a:prstGeom>
          <a:noFill/>
        </p:spPr>
        <p:txBody>
          <a:bodyPr wrap="square" anchor="t">
            <a:spAutoFit/>
          </a:bodyPr>
          <a:lstStyle/>
          <a:p>
            <a:pPr algn="ctr"/>
            <a:r>
              <a:rPr sz="1200" b="0" i="0">
                <a:solidFill>
                  <a:srgbClr val="E85D04"/>
                </a:solidFill>
                <a:latin typeface="Inter"/>
              </a:rPr>
              <a:t>↑ +0.3</a:t>
            </a:r>
          </a:p>
        </p:txBody>
      </p:sp>
      <p:sp>
        <p:nvSpPr>
          <p:cNvPr id="19" name="TextBox 18"/>
          <p:cNvSpPr txBox="1"/>
          <p:nvPr/>
        </p:nvSpPr>
        <p:spPr>
          <a:xfrm>
            <a:off x="3450900" y="3821600"/>
            <a:ext cx="2585100" cy="250000"/>
          </a:xfrm>
          <a:prstGeom prst="rect">
            <a:avLst/>
          </a:prstGeom>
          <a:noFill/>
        </p:spPr>
        <p:txBody>
          <a:bodyPr wrap="square" anchor="t">
            <a:spAutoFit/>
          </a:bodyPr>
          <a:lstStyle/>
          <a:p>
            <a:pPr algn="ctr"/>
            <a:r>
              <a:rPr sz="900" b="0" i="0">
                <a:solidFill>
                  <a:srgbClr val="4A5568"/>
                </a:solidFill>
                <a:latin typeface="Inter"/>
              </a:rPr>
              <a:t>(92% of target)</a:t>
            </a:r>
          </a:p>
        </p:txBody>
      </p:sp>
      <p:cxnSp>
        <p:nvCxnSpPr>
          <p:cNvPr id="20" name="Connector 19"/>
          <p:cNvCxnSpPr/>
          <p:nvPr/>
        </p:nvCxnSpPr>
        <p:spPr>
          <a:xfrm>
            <a:off x="6096000" y="1771600"/>
            <a:ext cx="0" cy="3000000"/>
          </a:xfrm>
          <a:prstGeom prst="line">
            <a:avLst/>
          </a:prstGeom>
          <a:ln w="6350">
            <a:solidFill>
              <a:srgbClr val="DADDE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156000" y="1771600"/>
            <a:ext cx="2585100" cy="250000"/>
          </a:xfrm>
          <a:prstGeom prst="rect">
            <a:avLst/>
          </a:prstGeom>
          <a:noFill/>
        </p:spPr>
        <p:txBody>
          <a:bodyPr wrap="square" anchor="t">
            <a:spAutoFit/>
          </a:bodyPr>
          <a:lstStyle/>
          <a:p>
            <a:pPr algn="ctr"/>
            <a:r>
              <a:rPr sz="900" b="1" i="0">
                <a:solidFill>
                  <a:srgbClr val="4A5568"/>
                </a:solidFill>
                <a:latin typeface="Inter"/>
              </a:rPr>
              <a:t>Figure 3:</a:t>
            </a:r>
          </a:p>
        </p:txBody>
      </p:sp>
      <p:cxnSp>
        <p:nvCxnSpPr>
          <p:cNvPr id="22" name="Connector 21"/>
          <p:cNvCxnSpPr/>
          <p:nvPr/>
        </p:nvCxnSpPr>
        <p:spPr>
          <a:xfrm>
            <a:off x="6772275" y="2051600"/>
            <a:ext cx="135255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36000" y="2171600"/>
            <a:ext cx="2625100" cy="300000"/>
          </a:xfrm>
          <a:prstGeom prst="rect">
            <a:avLst/>
          </a:prstGeom>
          <a:noFill/>
        </p:spPr>
        <p:txBody>
          <a:bodyPr wrap="square" anchor="t">
            <a:spAutoFit/>
          </a:bodyPr>
          <a:lstStyle/>
          <a:p>
            <a:pPr algn="ctr"/>
            <a:r>
              <a:rPr sz="1100" b="0" i="0">
                <a:solidFill>
                  <a:srgbClr val="4A5568"/>
                </a:solidFill>
                <a:latin typeface="Inter"/>
              </a:rPr>
              <a:t>Grant Success Rate</a:t>
            </a:r>
          </a:p>
        </p:txBody>
      </p:sp>
      <p:sp>
        <p:nvSpPr>
          <p:cNvPr id="24" name="TextBox 23"/>
          <p:cNvSpPr txBox="1"/>
          <p:nvPr/>
        </p:nvSpPr>
        <p:spPr>
          <a:xfrm>
            <a:off x="6116000" y="2571600"/>
            <a:ext cx="2665100" cy="700000"/>
          </a:xfrm>
          <a:prstGeom prst="rect">
            <a:avLst/>
          </a:prstGeom>
          <a:noFill/>
        </p:spPr>
        <p:txBody>
          <a:bodyPr wrap="square" anchor="t">
            <a:spAutoFit/>
          </a:bodyPr>
          <a:lstStyle/>
          <a:p>
            <a:pPr algn="ctr"/>
            <a:r>
              <a:rPr sz="3800" b="1" i="0">
                <a:solidFill>
                  <a:srgbClr val="1E3A5F"/>
                </a:solidFill>
                <a:latin typeface="Inter"/>
              </a:rPr>
              <a:t>38%</a:t>
            </a:r>
          </a:p>
        </p:txBody>
      </p:sp>
      <p:cxnSp>
        <p:nvCxnSpPr>
          <p:cNvPr id="25" name="Connector 24"/>
          <p:cNvCxnSpPr/>
          <p:nvPr/>
        </p:nvCxnSpPr>
        <p:spPr>
          <a:xfrm>
            <a:off x="6772275" y="3371600"/>
            <a:ext cx="135255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156000" y="3471600"/>
            <a:ext cx="2585100" cy="300000"/>
          </a:xfrm>
          <a:prstGeom prst="rect">
            <a:avLst/>
          </a:prstGeom>
          <a:noFill/>
        </p:spPr>
        <p:txBody>
          <a:bodyPr wrap="square" anchor="t">
            <a:spAutoFit/>
          </a:bodyPr>
          <a:lstStyle/>
          <a:p>
            <a:pPr algn="ctr"/>
            <a:r>
              <a:rPr sz="1200" b="0" i="0">
                <a:solidFill>
                  <a:srgbClr val="E85D04"/>
                </a:solidFill>
                <a:latin typeface="Inter"/>
              </a:rPr>
              <a:t>↑ +5%</a:t>
            </a:r>
          </a:p>
        </p:txBody>
      </p:sp>
      <p:sp>
        <p:nvSpPr>
          <p:cNvPr id="27" name="TextBox 26"/>
          <p:cNvSpPr txBox="1"/>
          <p:nvPr/>
        </p:nvSpPr>
        <p:spPr>
          <a:xfrm>
            <a:off x="6156000" y="3821600"/>
            <a:ext cx="2585100" cy="250000"/>
          </a:xfrm>
          <a:prstGeom prst="rect">
            <a:avLst/>
          </a:prstGeom>
          <a:noFill/>
        </p:spPr>
        <p:txBody>
          <a:bodyPr wrap="square" anchor="t">
            <a:spAutoFit/>
          </a:bodyPr>
          <a:lstStyle/>
          <a:p>
            <a:pPr algn="ctr"/>
            <a:r>
              <a:rPr sz="900" b="0" i="0">
                <a:solidFill>
                  <a:srgbClr val="4A5568"/>
                </a:solidFill>
                <a:latin typeface="Inter"/>
              </a:rPr>
              <a:t>(76% of target)</a:t>
            </a:r>
          </a:p>
        </p:txBody>
      </p:sp>
      <p:cxnSp>
        <p:nvCxnSpPr>
          <p:cNvPr id="28" name="Connector 27"/>
          <p:cNvCxnSpPr/>
          <p:nvPr/>
        </p:nvCxnSpPr>
        <p:spPr>
          <a:xfrm>
            <a:off x="8801100" y="1771600"/>
            <a:ext cx="0" cy="3000000"/>
          </a:xfrm>
          <a:prstGeom prst="line">
            <a:avLst/>
          </a:prstGeom>
          <a:ln w="6350">
            <a:solidFill>
              <a:srgbClr val="DADDE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861100" y="1771600"/>
            <a:ext cx="2585100" cy="250000"/>
          </a:xfrm>
          <a:prstGeom prst="rect">
            <a:avLst/>
          </a:prstGeom>
          <a:noFill/>
        </p:spPr>
        <p:txBody>
          <a:bodyPr wrap="square" anchor="t">
            <a:spAutoFit/>
          </a:bodyPr>
          <a:lstStyle/>
          <a:p>
            <a:pPr algn="ctr"/>
            <a:r>
              <a:rPr sz="900" b="1" i="0">
                <a:solidFill>
                  <a:srgbClr val="4A5568"/>
                </a:solidFill>
                <a:latin typeface="Inter"/>
              </a:rPr>
              <a:t>Figure 4:</a:t>
            </a:r>
          </a:p>
        </p:txBody>
      </p:sp>
      <p:cxnSp>
        <p:nvCxnSpPr>
          <p:cNvPr id="30" name="Connector 29"/>
          <p:cNvCxnSpPr/>
          <p:nvPr/>
        </p:nvCxnSpPr>
        <p:spPr>
          <a:xfrm>
            <a:off x="9477375" y="2051600"/>
            <a:ext cx="135255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841100" y="2171600"/>
            <a:ext cx="2625100" cy="300000"/>
          </a:xfrm>
          <a:prstGeom prst="rect">
            <a:avLst/>
          </a:prstGeom>
          <a:noFill/>
        </p:spPr>
        <p:txBody>
          <a:bodyPr wrap="square" anchor="t">
            <a:spAutoFit/>
          </a:bodyPr>
          <a:lstStyle/>
          <a:p>
            <a:pPr algn="ctr"/>
            <a:r>
              <a:rPr sz="1100" b="0" i="0">
                <a:solidFill>
                  <a:srgbClr val="4A5568"/>
                </a:solidFill>
                <a:latin typeface="Inter"/>
              </a:rPr>
              <a:t>Alumni Employment</a:t>
            </a:r>
          </a:p>
        </p:txBody>
      </p:sp>
      <p:sp>
        <p:nvSpPr>
          <p:cNvPr id="32" name="TextBox 31"/>
          <p:cNvSpPr txBox="1"/>
          <p:nvPr/>
        </p:nvSpPr>
        <p:spPr>
          <a:xfrm>
            <a:off x="8821100" y="2571600"/>
            <a:ext cx="2665100" cy="700000"/>
          </a:xfrm>
          <a:prstGeom prst="rect">
            <a:avLst/>
          </a:prstGeom>
          <a:noFill/>
        </p:spPr>
        <p:txBody>
          <a:bodyPr wrap="square" anchor="t">
            <a:spAutoFit/>
          </a:bodyPr>
          <a:lstStyle/>
          <a:p>
            <a:pPr algn="ctr"/>
            <a:r>
              <a:rPr sz="3800" b="1" i="0">
                <a:solidFill>
                  <a:srgbClr val="1E3A5F"/>
                </a:solidFill>
                <a:latin typeface="Inter"/>
              </a:rPr>
              <a:t>96%</a:t>
            </a:r>
          </a:p>
        </p:txBody>
      </p:sp>
      <p:cxnSp>
        <p:nvCxnSpPr>
          <p:cNvPr id="33" name="Connector 32"/>
          <p:cNvCxnSpPr/>
          <p:nvPr/>
        </p:nvCxnSpPr>
        <p:spPr>
          <a:xfrm>
            <a:off x="9477375" y="3371600"/>
            <a:ext cx="135255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861100" y="3471600"/>
            <a:ext cx="2585100" cy="300000"/>
          </a:xfrm>
          <a:prstGeom prst="rect">
            <a:avLst/>
          </a:prstGeom>
          <a:noFill/>
        </p:spPr>
        <p:txBody>
          <a:bodyPr wrap="square" anchor="t">
            <a:spAutoFit/>
          </a:bodyPr>
          <a:lstStyle/>
          <a:p>
            <a:pPr algn="ctr"/>
            <a:r>
              <a:rPr sz="1200" b="0" i="0">
                <a:solidFill>
                  <a:srgbClr val="E85D04"/>
                </a:solidFill>
                <a:latin typeface="Inter"/>
              </a:rPr>
              <a:t>↑ +2%</a:t>
            </a:r>
          </a:p>
        </p:txBody>
      </p:sp>
      <p:sp>
        <p:nvSpPr>
          <p:cNvPr id="35" name="TextBox 34"/>
          <p:cNvSpPr txBox="1"/>
          <p:nvPr/>
        </p:nvSpPr>
        <p:spPr>
          <a:xfrm>
            <a:off x="8861100" y="3821600"/>
            <a:ext cx="2585100" cy="250000"/>
          </a:xfrm>
          <a:prstGeom prst="rect">
            <a:avLst/>
          </a:prstGeom>
          <a:noFill/>
        </p:spPr>
        <p:txBody>
          <a:bodyPr wrap="square" anchor="t">
            <a:spAutoFit/>
          </a:bodyPr>
          <a:lstStyle/>
          <a:p>
            <a:pPr algn="ctr"/>
            <a:r>
              <a:rPr sz="900" b="0" i="0">
                <a:solidFill>
                  <a:srgbClr val="4A5568"/>
                </a:solidFill>
                <a:latin typeface="Inter"/>
              </a:rPr>
              <a:t>(96% of target)</a:t>
            </a:r>
          </a:p>
        </p:txBody>
      </p:sp>
      <p:cxnSp>
        <p:nvCxnSpPr>
          <p:cNvPr id="36" name="Connector 35"/>
          <p:cNvCxnSpPr/>
          <p:nvPr/>
        </p:nvCxnSpPr>
        <p:spPr>
          <a:xfrm>
            <a:off x="685800" y="6000800"/>
            <a:ext cx="1082040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39" name="TextBox 38"/>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SWOT Analysis</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1391600"/>
            <a:ext cx="10820400" cy="300000"/>
          </a:xfrm>
          <a:prstGeom prst="rect">
            <a:avLst/>
          </a:prstGeom>
          <a:noFill/>
        </p:spPr>
        <p:txBody>
          <a:bodyPr wrap="square" anchor="t">
            <a:spAutoFit/>
          </a:bodyPr>
          <a:lstStyle/>
          <a:p>
            <a:pPr algn="l"/>
            <a:r>
              <a:rPr sz="1200" b="0" i="1">
                <a:solidFill>
                  <a:srgbClr val="4A5568"/>
                </a:solidFill>
                <a:latin typeface="Inter"/>
              </a:rPr>
              <a:t>Figure 1: SWOT Analysis</a:t>
            </a:r>
          </a:p>
        </p:txBody>
      </p:sp>
      <p:sp>
        <p:nvSpPr>
          <p:cNvPr id="6" name="Rectangle 5"/>
          <p:cNvSpPr/>
          <p:nvPr/>
        </p:nvSpPr>
        <p:spPr>
          <a:xfrm>
            <a:off x="685800" y="1751600"/>
            <a:ext cx="5335200" cy="1900000"/>
          </a:xfrm>
          <a:prstGeom prst="rect">
            <a:avLst/>
          </a:prstGeom>
          <a:noFill/>
          <a:ln w="9525">
            <a:solidFill>
              <a:srgbClr val="A4AA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5800" y="1831600"/>
            <a:ext cx="5035200" cy="300000"/>
          </a:xfrm>
          <a:prstGeom prst="rect">
            <a:avLst/>
          </a:prstGeom>
          <a:noFill/>
        </p:spPr>
        <p:txBody>
          <a:bodyPr wrap="square" anchor="t">
            <a:spAutoFit/>
          </a:bodyPr>
          <a:lstStyle/>
          <a:p>
            <a:pPr algn="l"/>
            <a:r>
              <a:rPr sz="1800" b="1" i="0">
                <a:solidFill>
                  <a:srgbClr val="1E3A5F"/>
                </a:solidFill>
                <a:latin typeface="Inter"/>
              </a:rPr>
              <a:t>Strengths</a:t>
            </a:r>
          </a:p>
        </p:txBody>
      </p:sp>
      <p:cxnSp>
        <p:nvCxnSpPr>
          <p:cNvPr id="8" name="Connector 7"/>
          <p:cNvCxnSpPr/>
          <p:nvPr/>
        </p:nvCxnSpPr>
        <p:spPr>
          <a:xfrm>
            <a:off x="835800" y="2131600"/>
            <a:ext cx="5035200" cy="0"/>
          </a:xfrm>
          <a:prstGeom prst="line">
            <a:avLst/>
          </a:prstGeom>
          <a:ln w="6350">
            <a:solidFill>
              <a:srgbClr val="A4AAB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35800" y="2191600"/>
            <a:ext cx="5035200" cy="250000"/>
          </a:xfrm>
          <a:prstGeom prst="rect">
            <a:avLst/>
          </a:prstGeom>
          <a:noFill/>
        </p:spPr>
        <p:txBody>
          <a:bodyPr wrap="square" anchor="t">
            <a:spAutoFit/>
          </a:bodyPr>
          <a:lstStyle/>
          <a:p>
            <a:pPr algn="l"/>
            <a:r>
              <a:rPr sz="1100" b="0" i="0">
                <a:solidFill>
                  <a:srgbClr val="1E3A5F"/>
                </a:solidFill>
                <a:latin typeface="Inter"/>
              </a:rPr>
              <a:t>World-class faculty</a:t>
            </a:r>
          </a:p>
        </p:txBody>
      </p:sp>
      <p:cxnSp>
        <p:nvCxnSpPr>
          <p:cNvPr id="10" name="Connector 9"/>
          <p:cNvCxnSpPr/>
          <p:nvPr/>
        </p:nvCxnSpPr>
        <p:spPr>
          <a:xfrm>
            <a:off x="835800" y="2441600"/>
            <a:ext cx="5035200" cy="0"/>
          </a:xfrm>
          <a:prstGeom prst="line">
            <a:avLst/>
          </a:prstGeom>
          <a:ln w="3175">
            <a:solidFill>
              <a:srgbClr val="D1D4D9"/>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35800" y="2491600"/>
            <a:ext cx="5035200" cy="250000"/>
          </a:xfrm>
          <a:prstGeom prst="rect">
            <a:avLst/>
          </a:prstGeom>
          <a:noFill/>
        </p:spPr>
        <p:txBody>
          <a:bodyPr wrap="square" anchor="t">
            <a:spAutoFit/>
          </a:bodyPr>
          <a:lstStyle/>
          <a:p>
            <a:pPr algn="l"/>
            <a:r>
              <a:rPr sz="1100" b="0" i="0">
                <a:solidFill>
                  <a:srgbClr val="1E3A5F"/>
                </a:solidFill>
                <a:latin typeface="Inter"/>
              </a:rPr>
              <a:t>Strong research output</a:t>
            </a:r>
          </a:p>
        </p:txBody>
      </p:sp>
      <p:cxnSp>
        <p:nvCxnSpPr>
          <p:cNvPr id="12" name="Connector 11"/>
          <p:cNvCxnSpPr/>
          <p:nvPr/>
        </p:nvCxnSpPr>
        <p:spPr>
          <a:xfrm>
            <a:off x="835800" y="2741600"/>
            <a:ext cx="5035200" cy="0"/>
          </a:xfrm>
          <a:prstGeom prst="line">
            <a:avLst/>
          </a:prstGeom>
          <a:ln w="3175">
            <a:solidFill>
              <a:srgbClr val="D1D4D9"/>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35800" y="2791600"/>
            <a:ext cx="5035200" cy="250000"/>
          </a:xfrm>
          <a:prstGeom prst="rect">
            <a:avLst/>
          </a:prstGeom>
          <a:noFill/>
        </p:spPr>
        <p:txBody>
          <a:bodyPr wrap="square" anchor="t">
            <a:spAutoFit/>
          </a:bodyPr>
          <a:lstStyle/>
          <a:p>
            <a:pPr algn="l"/>
            <a:r>
              <a:rPr sz="1100" b="0" i="0">
                <a:solidFill>
                  <a:srgbClr val="1E3A5F"/>
                </a:solidFill>
                <a:latin typeface="Inter"/>
              </a:rPr>
              <a:t>Diverse student body</a:t>
            </a:r>
          </a:p>
        </p:txBody>
      </p:sp>
      <p:sp>
        <p:nvSpPr>
          <p:cNvPr id="14" name="Rectangle 13"/>
          <p:cNvSpPr/>
          <p:nvPr/>
        </p:nvSpPr>
        <p:spPr>
          <a:xfrm>
            <a:off x="6171000" y="1751600"/>
            <a:ext cx="5335200" cy="1900000"/>
          </a:xfrm>
          <a:prstGeom prst="rect">
            <a:avLst/>
          </a:prstGeom>
          <a:noFill/>
          <a:ln w="9525">
            <a:solidFill>
              <a:srgbClr val="A4AA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1000" y="1831600"/>
            <a:ext cx="5035200" cy="300000"/>
          </a:xfrm>
          <a:prstGeom prst="rect">
            <a:avLst/>
          </a:prstGeom>
          <a:noFill/>
        </p:spPr>
        <p:txBody>
          <a:bodyPr wrap="square" anchor="t">
            <a:spAutoFit/>
          </a:bodyPr>
          <a:lstStyle/>
          <a:p>
            <a:pPr algn="l"/>
            <a:r>
              <a:rPr sz="1800" b="1" i="0">
                <a:solidFill>
                  <a:srgbClr val="1E3A5F"/>
                </a:solidFill>
                <a:latin typeface="Inter"/>
              </a:rPr>
              <a:t>Weaknesses</a:t>
            </a:r>
          </a:p>
        </p:txBody>
      </p:sp>
      <p:cxnSp>
        <p:nvCxnSpPr>
          <p:cNvPr id="16" name="Connector 15"/>
          <p:cNvCxnSpPr/>
          <p:nvPr/>
        </p:nvCxnSpPr>
        <p:spPr>
          <a:xfrm>
            <a:off x="6321000" y="2131600"/>
            <a:ext cx="5035200" cy="0"/>
          </a:xfrm>
          <a:prstGeom prst="line">
            <a:avLst/>
          </a:prstGeom>
          <a:ln w="6350">
            <a:solidFill>
              <a:srgbClr val="A4AAB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21000" y="2191600"/>
            <a:ext cx="5035200" cy="250000"/>
          </a:xfrm>
          <a:prstGeom prst="rect">
            <a:avLst/>
          </a:prstGeom>
          <a:noFill/>
        </p:spPr>
        <p:txBody>
          <a:bodyPr wrap="square" anchor="t">
            <a:spAutoFit/>
          </a:bodyPr>
          <a:lstStyle/>
          <a:p>
            <a:pPr algn="l"/>
            <a:r>
              <a:rPr sz="1100" b="0" i="0">
                <a:solidFill>
                  <a:srgbClr val="1E3A5F"/>
                </a:solidFill>
                <a:latin typeface="Inter"/>
              </a:rPr>
              <a:t>Aging infrastructure</a:t>
            </a:r>
          </a:p>
        </p:txBody>
      </p:sp>
      <p:cxnSp>
        <p:nvCxnSpPr>
          <p:cNvPr id="18" name="Connector 17"/>
          <p:cNvCxnSpPr/>
          <p:nvPr/>
        </p:nvCxnSpPr>
        <p:spPr>
          <a:xfrm>
            <a:off x="6321000" y="2441600"/>
            <a:ext cx="5035200" cy="0"/>
          </a:xfrm>
          <a:prstGeom prst="line">
            <a:avLst/>
          </a:prstGeom>
          <a:ln w="3175">
            <a:solidFill>
              <a:srgbClr val="D1D4D9"/>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21000" y="2491600"/>
            <a:ext cx="5035200" cy="250000"/>
          </a:xfrm>
          <a:prstGeom prst="rect">
            <a:avLst/>
          </a:prstGeom>
          <a:noFill/>
        </p:spPr>
        <p:txBody>
          <a:bodyPr wrap="square" anchor="t">
            <a:spAutoFit/>
          </a:bodyPr>
          <a:lstStyle/>
          <a:p>
            <a:pPr algn="l"/>
            <a:r>
              <a:rPr sz="1100" b="0" i="0">
                <a:solidFill>
                  <a:srgbClr val="1E3A5F"/>
                </a:solidFill>
                <a:latin typeface="Inter"/>
              </a:rPr>
              <a:t>Administrative complexity</a:t>
            </a:r>
          </a:p>
        </p:txBody>
      </p:sp>
      <p:cxnSp>
        <p:nvCxnSpPr>
          <p:cNvPr id="20" name="Connector 19"/>
          <p:cNvCxnSpPr/>
          <p:nvPr/>
        </p:nvCxnSpPr>
        <p:spPr>
          <a:xfrm>
            <a:off x="6321000" y="2741600"/>
            <a:ext cx="5035200" cy="0"/>
          </a:xfrm>
          <a:prstGeom prst="line">
            <a:avLst/>
          </a:prstGeom>
          <a:ln w="3175">
            <a:solidFill>
              <a:srgbClr val="D1D4D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321000" y="2791600"/>
            <a:ext cx="5035200" cy="250000"/>
          </a:xfrm>
          <a:prstGeom prst="rect">
            <a:avLst/>
          </a:prstGeom>
          <a:noFill/>
        </p:spPr>
        <p:txBody>
          <a:bodyPr wrap="square" anchor="t">
            <a:spAutoFit/>
          </a:bodyPr>
          <a:lstStyle/>
          <a:p>
            <a:pPr algn="l"/>
            <a:r>
              <a:rPr sz="1100" b="0" i="0">
                <a:solidFill>
                  <a:srgbClr val="1E3A5F"/>
                </a:solidFill>
                <a:latin typeface="Inter"/>
              </a:rPr>
              <a:t>Tuition dependence</a:t>
            </a:r>
          </a:p>
        </p:txBody>
      </p:sp>
      <p:sp>
        <p:nvSpPr>
          <p:cNvPr id="22" name="Rectangle 21"/>
          <p:cNvSpPr/>
          <p:nvPr/>
        </p:nvSpPr>
        <p:spPr>
          <a:xfrm>
            <a:off x="685800" y="3801600"/>
            <a:ext cx="5335200" cy="1900000"/>
          </a:xfrm>
          <a:prstGeom prst="rect">
            <a:avLst/>
          </a:prstGeom>
          <a:noFill/>
          <a:ln w="9525">
            <a:solidFill>
              <a:srgbClr val="A4AA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5800" y="3881600"/>
            <a:ext cx="5035200" cy="300000"/>
          </a:xfrm>
          <a:prstGeom prst="rect">
            <a:avLst/>
          </a:prstGeom>
          <a:noFill/>
        </p:spPr>
        <p:txBody>
          <a:bodyPr wrap="square" anchor="t">
            <a:spAutoFit/>
          </a:bodyPr>
          <a:lstStyle/>
          <a:p>
            <a:pPr algn="l"/>
            <a:r>
              <a:rPr sz="1800" b="1" i="0">
                <a:solidFill>
                  <a:srgbClr val="1E3A5F"/>
                </a:solidFill>
                <a:latin typeface="Inter"/>
              </a:rPr>
              <a:t>Opportunities</a:t>
            </a:r>
          </a:p>
        </p:txBody>
      </p:sp>
      <p:cxnSp>
        <p:nvCxnSpPr>
          <p:cNvPr id="24" name="Connector 23"/>
          <p:cNvCxnSpPr/>
          <p:nvPr/>
        </p:nvCxnSpPr>
        <p:spPr>
          <a:xfrm>
            <a:off x="835800" y="4181600"/>
            <a:ext cx="5035200" cy="0"/>
          </a:xfrm>
          <a:prstGeom prst="line">
            <a:avLst/>
          </a:prstGeom>
          <a:ln w="6350">
            <a:solidFill>
              <a:srgbClr val="A4AAB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35800" y="4241600"/>
            <a:ext cx="5035200" cy="250000"/>
          </a:xfrm>
          <a:prstGeom prst="rect">
            <a:avLst/>
          </a:prstGeom>
          <a:noFill/>
        </p:spPr>
        <p:txBody>
          <a:bodyPr wrap="square" anchor="t">
            <a:spAutoFit/>
          </a:bodyPr>
          <a:lstStyle/>
          <a:p>
            <a:pPr algn="l"/>
            <a:r>
              <a:rPr sz="1100" b="0" i="0">
                <a:solidFill>
                  <a:srgbClr val="1E3A5F"/>
                </a:solidFill>
                <a:latin typeface="Inter"/>
              </a:rPr>
              <a:t>Online learning expansion</a:t>
            </a:r>
          </a:p>
        </p:txBody>
      </p:sp>
      <p:cxnSp>
        <p:nvCxnSpPr>
          <p:cNvPr id="26" name="Connector 25"/>
          <p:cNvCxnSpPr/>
          <p:nvPr/>
        </p:nvCxnSpPr>
        <p:spPr>
          <a:xfrm>
            <a:off x="835800" y="4491600"/>
            <a:ext cx="5035200" cy="0"/>
          </a:xfrm>
          <a:prstGeom prst="line">
            <a:avLst/>
          </a:prstGeom>
          <a:ln w="3175">
            <a:solidFill>
              <a:srgbClr val="D1D4D9"/>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35800" y="4541600"/>
            <a:ext cx="5035200" cy="250000"/>
          </a:xfrm>
          <a:prstGeom prst="rect">
            <a:avLst/>
          </a:prstGeom>
          <a:noFill/>
        </p:spPr>
        <p:txBody>
          <a:bodyPr wrap="square" anchor="t">
            <a:spAutoFit/>
          </a:bodyPr>
          <a:lstStyle/>
          <a:p>
            <a:pPr algn="l"/>
            <a:r>
              <a:rPr sz="1100" b="0" i="0">
                <a:solidFill>
                  <a:srgbClr val="1E3A5F"/>
                </a:solidFill>
                <a:latin typeface="Inter"/>
              </a:rPr>
              <a:t>Industry partnerships</a:t>
            </a:r>
          </a:p>
        </p:txBody>
      </p:sp>
      <p:cxnSp>
        <p:nvCxnSpPr>
          <p:cNvPr id="28" name="Connector 27"/>
          <p:cNvCxnSpPr/>
          <p:nvPr/>
        </p:nvCxnSpPr>
        <p:spPr>
          <a:xfrm>
            <a:off x="835800" y="4791600"/>
            <a:ext cx="5035200" cy="0"/>
          </a:xfrm>
          <a:prstGeom prst="line">
            <a:avLst/>
          </a:prstGeom>
          <a:ln w="3175">
            <a:solidFill>
              <a:srgbClr val="D1D4D9"/>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35800" y="4841600"/>
            <a:ext cx="5035200" cy="250000"/>
          </a:xfrm>
          <a:prstGeom prst="rect">
            <a:avLst/>
          </a:prstGeom>
          <a:noFill/>
        </p:spPr>
        <p:txBody>
          <a:bodyPr wrap="square" anchor="t">
            <a:spAutoFit/>
          </a:bodyPr>
          <a:lstStyle/>
          <a:p>
            <a:pPr algn="l"/>
            <a:r>
              <a:rPr sz="1100" b="0" i="0">
                <a:solidFill>
                  <a:srgbClr val="1E3A5F"/>
                </a:solidFill>
                <a:latin typeface="Inter"/>
              </a:rPr>
              <a:t>Interdisciplinary programs</a:t>
            </a:r>
          </a:p>
        </p:txBody>
      </p:sp>
      <p:sp>
        <p:nvSpPr>
          <p:cNvPr id="30" name="Rectangle 29"/>
          <p:cNvSpPr/>
          <p:nvPr/>
        </p:nvSpPr>
        <p:spPr>
          <a:xfrm>
            <a:off x="6171000" y="3801600"/>
            <a:ext cx="5335200" cy="1900000"/>
          </a:xfrm>
          <a:prstGeom prst="rect">
            <a:avLst/>
          </a:prstGeom>
          <a:noFill/>
          <a:ln w="9525">
            <a:solidFill>
              <a:srgbClr val="A4AA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1000" y="3881600"/>
            <a:ext cx="5035200" cy="300000"/>
          </a:xfrm>
          <a:prstGeom prst="rect">
            <a:avLst/>
          </a:prstGeom>
          <a:noFill/>
        </p:spPr>
        <p:txBody>
          <a:bodyPr wrap="square" anchor="t">
            <a:spAutoFit/>
          </a:bodyPr>
          <a:lstStyle/>
          <a:p>
            <a:pPr algn="l"/>
            <a:r>
              <a:rPr sz="1800" b="1" i="0">
                <a:solidFill>
                  <a:srgbClr val="1E3A5F"/>
                </a:solidFill>
                <a:latin typeface="Inter"/>
              </a:rPr>
              <a:t>Threats</a:t>
            </a:r>
          </a:p>
        </p:txBody>
      </p:sp>
      <p:cxnSp>
        <p:nvCxnSpPr>
          <p:cNvPr id="32" name="Connector 31"/>
          <p:cNvCxnSpPr/>
          <p:nvPr/>
        </p:nvCxnSpPr>
        <p:spPr>
          <a:xfrm>
            <a:off x="6321000" y="4181600"/>
            <a:ext cx="5035200" cy="0"/>
          </a:xfrm>
          <a:prstGeom prst="line">
            <a:avLst/>
          </a:prstGeom>
          <a:ln w="6350">
            <a:solidFill>
              <a:srgbClr val="A4AAB3"/>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321000" y="4241600"/>
            <a:ext cx="5035200" cy="250000"/>
          </a:xfrm>
          <a:prstGeom prst="rect">
            <a:avLst/>
          </a:prstGeom>
          <a:noFill/>
        </p:spPr>
        <p:txBody>
          <a:bodyPr wrap="square" anchor="t">
            <a:spAutoFit/>
          </a:bodyPr>
          <a:lstStyle/>
          <a:p>
            <a:pPr algn="l"/>
            <a:r>
              <a:rPr sz="1100" b="0" i="0">
                <a:solidFill>
                  <a:srgbClr val="1E3A5F"/>
                </a:solidFill>
                <a:latin typeface="Inter"/>
              </a:rPr>
              <a:t>Declining enrollment trends</a:t>
            </a:r>
          </a:p>
        </p:txBody>
      </p:sp>
      <p:cxnSp>
        <p:nvCxnSpPr>
          <p:cNvPr id="34" name="Connector 33"/>
          <p:cNvCxnSpPr/>
          <p:nvPr/>
        </p:nvCxnSpPr>
        <p:spPr>
          <a:xfrm>
            <a:off x="6321000" y="4491600"/>
            <a:ext cx="5035200" cy="0"/>
          </a:xfrm>
          <a:prstGeom prst="line">
            <a:avLst/>
          </a:prstGeom>
          <a:ln w="3175">
            <a:solidFill>
              <a:srgbClr val="D1D4D9"/>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321000" y="4541600"/>
            <a:ext cx="5035200" cy="250000"/>
          </a:xfrm>
          <a:prstGeom prst="rect">
            <a:avLst/>
          </a:prstGeom>
          <a:noFill/>
        </p:spPr>
        <p:txBody>
          <a:bodyPr wrap="square" anchor="t">
            <a:spAutoFit/>
          </a:bodyPr>
          <a:lstStyle/>
          <a:p>
            <a:pPr algn="l"/>
            <a:r>
              <a:rPr sz="1100" b="0" i="0">
                <a:solidFill>
                  <a:srgbClr val="1E3A5F"/>
                </a:solidFill>
                <a:latin typeface="Inter"/>
              </a:rPr>
              <a:t>Government funding cuts</a:t>
            </a:r>
          </a:p>
        </p:txBody>
      </p:sp>
      <p:cxnSp>
        <p:nvCxnSpPr>
          <p:cNvPr id="36" name="Connector 35"/>
          <p:cNvCxnSpPr/>
          <p:nvPr/>
        </p:nvCxnSpPr>
        <p:spPr>
          <a:xfrm>
            <a:off x="6321000" y="4791600"/>
            <a:ext cx="5035200" cy="0"/>
          </a:xfrm>
          <a:prstGeom prst="line">
            <a:avLst/>
          </a:prstGeom>
          <a:ln w="3175">
            <a:solidFill>
              <a:srgbClr val="D1D4D9"/>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321000" y="4841600"/>
            <a:ext cx="5035200" cy="250000"/>
          </a:xfrm>
          <a:prstGeom prst="rect">
            <a:avLst/>
          </a:prstGeom>
          <a:noFill/>
        </p:spPr>
        <p:txBody>
          <a:bodyPr wrap="square" anchor="t">
            <a:spAutoFit/>
          </a:bodyPr>
          <a:lstStyle/>
          <a:p>
            <a:pPr algn="l"/>
            <a:r>
              <a:rPr sz="1100" b="0" i="0">
                <a:solidFill>
                  <a:srgbClr val="1E3A5F"/>
                </a:solidFill>
                <a:latin typeface="Inter"/>
              </a:rPr>
              <a:t>Global competition</a:t>
            </a:r>
          </a:p>
        </p:txBody>
      </p:sp>
      <p:sp>
        <p:nvSpPr>
          <p:cNvPr id="38" name="Rectangle 37"/>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40" name="TextBox 39"/>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Strategic Matrix</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441540" y="1621600"/>
            <a:ext cx="9658920" cy="4129200"/>
          </a:xfrm>
          <a:prstGeom prst="rect">
            <a:avLst/>
          </a:prstGeom>
          <a:noFill/>
          <a:ln w="6350">
            <a:solidFill>
              <a:srgbClr val="C8CC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6271000" y="1621600"/>
            <a:ext cx="0" cy="412920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41540" y="3686200"/>
            <a:ext cx="965892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521540" y="1681600"/>
            <a:ext cx="200000" cy="200000"/>
          </a:xfrm>
          <a:prstGeom prst="rect">
            <a:avLst/>
          </a:prstGeom>
          <a:noFill/>
        </p:spPr>
        <p:txBody>
          <a:bodyPr wrap="square" anchor="t">
            <a:spAutoFit/>
          </a:bodyPr>
          <a:lstStyle/>
          <a:p>
            <a:pPr algn="l"/>
            <a:r>
              <a:rPr sz="900" b="0" i="1">
                <a:solidFill>
                  <a:srgbClr val="4A5568"/>
                </a:solidFill>
                <a:latin typeface="Inter"/>
              </a:rPr>
              <a:t>(a)</a:t>
            </a:r>
          </a:p>
        </p:txBody>
      </p:sp>
      <p:cxnSp>
        <p:nvCxnSpPr>
          <p:cNvPr id="9" name="Connector 8"/>
          <p:cNvCxnSpPr/>
          <p:nvPr/>
        </p:nvCxnSpPr>
        <p:spPr>
          <a:xfrm>
            <a:off x="1521540" y="1901600"/>
            <a:ext cx="200000" cy="0"/>
          </a:xfrm>
          <a:prstGeom prst="line">
            <a:avLst/>
          </a:prstGeom>
          <a:ln w="12700">
            <a:solidFill>
              <a:srgbClr val="2563E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521540" y="1931600"/>
            <a:ext cx="4669460" cy="280000"/>
          </a:xfrm>
          <a:prstGeom prst="rect">
            <a:avLst/>
          </a:prstGeom>
          <a:noFill/>
        </p:spPr>
        <p:txBody>
          <a:bodyPr wrap="square" anchor="t">
            <a:spAutoFit/>
          </a:bodyPr>
          <a:lstStyle/>
          <a:p>
            <a:pPr algn="l"/>
            <a:r>
              <a:rPr sz="1300" b="1" i="0">
                <a:solidFill>
                  <a:srgbClr val="1E3A5F"/>
                </a:solidFill>
                <a:latin typeface="Inter"/>
              </a:rPr>
              <a:t>Quick Wins</a:t>
            </a:r>
          </a:p>
        </p:txBody>
      </p:sp>
      <p:sp>
        <p:nvSpPr>
          <p:cNvPr id="11" name="TextBox 10"/>
          <p:cNvSpPr txBox="1"/>
          <p:nvPr/>
        </p:nvSpPr>
        <p:spPr>
          <a:xfrm>
            <a:off x="1521540" y="2221600"/>
            <a:ext cx="4669460" cy="1364600"/>
          </a:xfrm>
          <a:prstGeom prst="rect">
            <a:avLst/>
          </a:prstGeom>
          <a:noFill/>
        </p:spPr>
        <p:txBody>
          <a:bodyPr wrap="square" anchor="t">
            <a:spAutoFit/>
          </a:bodyPr>
          <a:lstStyle/>
          <a:p>
            <a:pPr algn="l"/>
            <a:r>
              <a:rPr sz="900" b="0" i="0">
                <a:solidFill>
                  <a:srgbClr val="4A5568"/>
                </a:solidFill>
                <a:latin typeface="Inter"/>
              </a:rPr>
              <a:t>High impact, low effort — prioritize these</a:t>
            </a:r>
          </a:p>
        </p:txBody>
      </p:sp>
      <p:sp>
        <p:nvSpPr>
          <p:cNvPr id="12" name="TextBox 11"/>
          <p:cNvSpPr txBox="1"/>
          <p:nvPr/>
        </p:nvSpPr>
        <p:spPr>
          <a:xfrm>
            <a:off x="6351000" y="1681600"/>
            <a:ext cx="200000" cy="200000"/>
          </a:xfrm>
          <a:prstGeom prst="rect">
            <a:avLst/>
          </a:prstGeom>
          <a:noFill/>
        </p:spPr>
        <p:txBody>
          <a:bodyPr wrap="square" anchor="t">
            <a:spAutoFit/>
          </a:bodyPr>
          <a:lstStyle/>
          <a:p>
            <a:pPr algn="l"/>
            <a:r>
              <a:rPr sz="900" b="0" i="1">
                <a:solidFill>
                  <a:srgbClr val="4A5568"/>
                </a:solidFill>
                <a:latin typeface="Inter"/>
              </a:rPr>
              <a:t>(b)</a:t>
            </a:r>
          </a:p>
        </p:txBody>
      </p:sp>
      <p:cxnSp>
        <p:nvCxnSpPr>
          <p:cNvPr id="13" name="Connector 12"/>
          <p:cNvCxnSpPr/>
          <p:nvPr/>
        </p:nvCxnSpPr>
        <p:spPr>
          <a:xfrm>
            <a:off x="6351000" y="1901600"/>
            <a:ext cx="200000" cy="0"/>
          </a:xfrm>
          <a:prstGeom prst="line">
            <a:avLst/>
          </a:prstGeom>
          <a:ln w="12700">
            <a:solidFill>
              <a:srgbClr val="E85D0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351000" y="1931600"/>
            <a:ext cx="4669460" cy="280000"/>
          </a:xfrm>
          <a:prstGeom prst="rect">
            <a:avLst/>
          </a:prstGeom>
          <a:noFill/>
        </p:spPr>
        <p:txBody>
          <a:bodyPr wrap="square" anchor="t">
            <a:spAutoFit/>
          </a:bodyPr>
          <a:lstStyle/>
          <a:p>
            <a:pPr algn="l"/>
            <a:r>
              <a:rPr sz="1300" b="1" i="0">
                <a:solidFill>
                  <a:srgbClr val="1E3A5F"/>
                </a:solidFill>
                <a:latin typeface="Inter"/>
              </a:rPr>
              <a:t>Major Projects</a:t>
            </a:r>
          </a:p>
        </p:txBody>
      </p:sp>
      <p:sp>
        <p:nvSpPr>
          <p:cNvPr id="15" name="TextBox 14"/>
          <p:cNvSpPr txBox="1"/>
          <p:nvPr/>
        </p:nvSpPr>
        <p:spPr>
          <a:xfrm>
            <a:off x="6351000" y="2221600"/>
            <a:ext cx="4669460" cy="1364600"/>
          </a:xfrm>
          <a:prstGeom prst="rect">
            <a:avLst/>
          </a:prstGeom>
          <a:noFill/>
        </p:spPr>
        <p:txBody>
          <a:bodyPr wrap="square" anchor="t">
            <a:spAutoFit/>
          </a:bodyPr>
          <a:lstStyle/>
          <a:p>
            <a:pPr algn="l"/>
            <a:r>
              <a:rPr sz="900" b="0" i="0">
                <a:solidFill>
                  <a:srgbClr val="4A5568"/>
                </a:solidFill>
                <a:latin typeface="Inter"/>
              </a:rPr>
              <a:t>High impact, high effort — plan carefully</a:t>
            </a:r>
          </a:p>
        </p:txBody>
      </p:sp>
      <p:sp>
        <p:nvSpPr>
          <p:cNvPr id="16" name="TextBox 15"/>
          <p:cNvSpPr txBox="1"/>
          <p:nvPr/>
        </p:nvSpPr>
        <p:spPr>
          <a:xfrm>
            <a:off x="1521540" y="3746200"/>
            <a:ext cx="200000" cy="200000"/>
          </a:xfrm>
          <a:prstGeom prst="rect">
            <a:avLst/>
          </a:prstGeom>
          <a:noFill/>
        </p:spPr>
        <p:txBody>
          <a:bodyPr wrap="square" anchor="t">
            <a:spAutoFit/>
          </a:bodyPr>
          <a:lstStyle/>
          <a:p>
            <a:pPr algn="l"/>
            <a:r>
              <a:rPr sz="900" b="0" i="1">
                <a:solidFill>
                  <a:srgbClr val="4A5568"/>
                </a:solidFill>
                <a:latin typeface="Inter"/>
              </a:rPr>
              <a:t>(c)</a:t>
            </a:r>
          </a:p>
        </p:txBody>
      </p:sp>
      <p:cxnSp>
        <p:nvCxnSpPr>
          <p:cNvPr id="17" name="Connector 16"/>
          <p:cNvCxnSpPr/>
          <p:nvPr/>
        </p:nvCxnSpPr>
        <p:spPr>
          <a:xfrm>
            <a:off x="1521540" y="3966200"/>
            <a:ext cx="200000" cy="0"/>
          </a:xfrm>
          <a:prstGeom prst="line">
            <a:avLst/>
          </a:prstGeom>
          <a:ln w="12700">
            <a:solidFill>
              <a:srgbClr val="2D6A4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521540" y="3996200"/>
            <a:ext cx="4669460" cy="280000"/>
          </a:xfrm>
          <a:prstGeom prst="rect">
            <a:avLst/>
          </a:prstGeom>
          <a:noFill/>
        </p:spPr>
        <p:txBody>
          <a:bodyPr wrap="square" anchor="t">
            <a:spAutoFit/>
          </a:bodyPr>
          <a:lstStyle/>
          <a:p>
            <a:pPr algn="l"/>
            <a:r>
              <a:rPr sz="1300" b="1" i="0">
                <a:solidFill>
                  <a:srgbClr val="1E3A5F"/>
                </a:solidFill>
                <a:latin typeface="Inter"/>
              </a:rPr>
              <a:t>Fill-Ins</a:t>
            </a:r>
          </a:p>
        </p:txBody>
      </p:sp>
      <p:sp>
        <p:nvSpPr>
          <p:cNvPr id="19" name="TextBox 18"/>
          <p:cNvSpPr txBox="1"/>
          <p:nvPr/>
        </p:nvSpPr>
        <p:spPr>
          <a:xfrm>
            <a:off x="1521540" y="4286200"/>
            <a:ext cx="4669460" cy="1364600"/>
          </a:xfrm>
          <a:prstGeom prst="rect">
            <a:avLst/>
          </a:prstGeom>
          <a:noFill/>
        </p:spPr>
        <p:txBody>
          <a:bodyPr wrap="square" anchor="t">
            <a:spAutoFit/>
          </a:bodyPr>
          <a:lstStyle/>
          <a:p>
            <a:pPr algn="l"/>
            <a:r>
              <a:rPr sz="900" b="0" i="0">
                <a:solidFill>
                  <a:srgbClr val="4A5568"/>
                </a:solidFill>
                <a:latin typeface="Inter"/>
              </a:rPr>
              <a:t>Low impact, low effort — delegate or automate</a:t>
            </a:r>
          </a:p>
        </p:txBody>
      </p:sp>
      <p:sp>
        <p:nvSpPr>
          <p:cNvPr id="20" name="TextBox 19"/>
          <p:cNvSpPr txBox="1"/>
          <p:nvPr/>
        </p:nvSpPr>
        <p:spPr>
          <a:xfrm>
            <a:off x="6351000" y="3746200"/>
            <a:ext cx="200000" cy="200000"/>
          </a:xfrm>
          <a:prstGeom prst="rect">
            <a:avLst/>
          </a:prstGeom>
          <a:noFill/>
        </p:spPr>
        <p:txBody>
          <a:bodyPr wrap="square" anchor="t">
            <a:spAutoFit/>
          </a:bodyPr>
          <a:lstStyle/>
          <a:p>
            <a:pPr algn="l"/>
            <a:r>
              <a:rPr sz="900" b="0" i="1">
                <a:solidFill>
                  <a:srgbClr val="4A5568"/>
                </a:solidFill>
                <a:latin typeface="Inter"/>
              </a:rPr>
              <a:t>(d)</a:t>
            </a:r>
          </a:p>
        </p:txBody>
      </p:sp>
      <p:cxnSp>
        <p:nvCxnSpPr>
          <p:cNvPr id="21" name="Connector 20"/>
          <p:cNvCxnSpPr/>
          <p:nvPr/>
        </p:nvCxnSpPr>
        <p:spPr>
          <a:xfrm>
            <a:off x="6351000" y="3966200"/>
            <a:ext cx="200000" cy="0"/>
          </a:xfrm>
          <a:prstGeom prst="line">
            <a:avLst/>
          </a:prstGeom>
          <a:ln w="12700">
            <a:solidFill>
              <a:srgbClr val="7C5CBF"/>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51000" y="3996200"/>
            <a:ext cx="4669460" cy="280000"/>
          </a:xfrm>
          <a:prstGeom prst="rect">
            <a:avLst/>
          </a:prstGeom>
          <a:noFill/>
        </p:spPr>
        <p:txBody>
          <a:bodyPr wrap="square" anchor="t">
            <a:spAutoFit/>
          </a:bodyPr>
          <a:lstStyle/>
          <a:p>
            <a:pPr algn="l"/>
            <a:r>
              <a:rPr sz="1300" b="1" i="0">
                <a:solidFill>
                  <a:srgbClr val="1E3A5F"/>
                </a:solidFill>
                <a:latin typeface="Inter"/>
              </a:rPr>
              <a:t>Thankless Tasks</a:t>
            </a:r>
          </a:p>
        </p:txBody>
      </p:sp>
      <p:sp>
        <p:nvSpPr>
          <p:cNvPr id="23" name="TextBox 22"/>
          <p:cNvSpPr txBox="1"/>
          <p:nvPr/>
        </p:nvSpPr>
        <p:spPr>
          <a:xfrm>
            <a:off x="6351000" y="4286200"/>
            <a:ext cx="4669460" cy="1364600"/>
          </a:xfrm>
          <a:prstGeom prst="rect">
            <a:avLst/>
          </a:prstGeom>
          <a:noFill/>
        </p:spPr>
        <p:txBody>
          <a:bodyPr wrap="square" anchor="t">
            <a:spAutoFit/>
          </a:bodyPr>
          <a:lstStyle/>
          <a:p>
            <a:pPr algn="l"/>
            <a:r>
              <a:rPr sz="900" b="0" i="0">
                <a:solidFill>
                  <a:srgbClr val="4A5568"/>
                </a:solidFill>
                <a:latin typeface="Inter"/>
              </a:rPr>
              <a:t>Low impact, high effort — reconsider</a:t>
            </a:r>
          </a:p>
        </p:txBody>
      </p:sp>
      <p:sp>
        <p:nvSpPr>
          <p:cNvPr id="24" name="TextBox 23"/>
          <p:cNvSpPr txBox="1"/>
          <p:nvPr/>
        </p:nvSpPr>
        <p:spPr>
          <a:xfrm>
            <a:off x="891540" y="3536200"/>
            <a:ext cx="400000" cy="300000"/>
          </a:xfrm>
          <a:prstGeom prst="rect">
            <a:avLst/>
          </a:prstGeom>
          <a:noFill/>
        </p:spPr>
        <p:txBody>
          <a:bodyPr wrap="square" anchor="ctr">
            <a:spAutoFit/>
          </a:bodyPr>
          <a:lstStyle/>
          <a:p>
            <a:pPr algn="ctr"/>
            <a:r>
              <a:rPr sz="1000" b="0" i="1">
                <a:solidFill>
                  <a:srgbClr val="4A5568"/>
                </a:solidFill>
                <a:latin typeface="Inter"/>
              </a:rPr>
              <a:t>Effort</a:t>
            </a:r>
          </a:p>
        </p:txBody>
      </p:sp>
      <p:cxnSp>
        <p:nvCxnSpPr>
          <p:cNvPr id="25" name="Connector 24"/>
          <p:cNvCxnSpPr/>
          <p:nvPr/>
        </p:nvCxnSpPr>
        <p:spPr>
          <a:xfrm flipV="1">
            <a:off x="1381540" y="1621600"/>
            <a:ext cx="0" cy="412920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331540" y="1521600"/>
            <a:ext cx="100000" cy="100000"/>
          </a:xfrm>
          <a:prstGeom prst="rect">
            <a:avLst/>
          </a:prstGeom>
          <a:noFill/>
        </p:spPr>
        <p:txBody>
          <a:bodyPr wrap="square" anchor="t">
            <a:spAutoFit/>
          </a:bodyPr>
          <a:lstStyle/>
          <a:p>
            <a:pPr algn="ctr"/>
            <a:r>
              <a:rPr sz="700" b="0" i="0">
                <a:solidFill>
                  <a:srgbClr val="C8CCD1"/>
                </a:solidFill>
                <a:latin typeface="Inter"/>
              </a:rPr>
              <a:t>▲</a:t>
            </a:r>
          </a:p>
        </p:txBody>
      </p:sp>
      <p:sp>
        <p:nvSpPr>
          <p:cNvPr id="27" name="TextBox 26"/>
          <p:cNvSpPr txBox="1"/>
          <p:nvPr/>
        </p:nvSpPr>
        <p:spPr>
          <a:xfrm>
            <a:off x="1441540" y="5810800"/>
            <a:ext cx="9658920" cy="220000"/>
          </a:xfrm>
          <a:prstGeom prst="rect">
            <a:avLst/>
          </a:prstGeom>
          <a:noFill/>
        </p:spPr>
        <p:txBody>
          <a:bodyPr wrap="square" anchor="t">
            <a:spAutoFit/>
          </a:bodyPr>
          <a:lstStyle/>
          <a:p>
            <a:pPr algn="ctr"/>
            <a:r>
              <a:rPr sz="1000" b="0" i="1">
                <a:solidFill>
                  <a:srgbClr val="4A5568"/>
                </a:solidFill>
                <a:latin typeface="Inter"/>
              </a:rPr>
              <a:t>Impact</a:t>
            </a:r>
          </a:p>
        </p:txBody>
      </p:sp>
      <p:cxnSp>
        <p:nvCxnSpPr>
          <p:cNvPr id="28" name="Connector 27"/>
          <p:cNvCxnSpPr/>
          <p:nvPr/>
        </p:nvCxnSpPr>
        <p:spPr>
          <a:xfrm>
            <a:off x="1441540" y="5790800"/>
            <a:ext cx="965892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1120460" y="5760800"/>
            <a:ext cx="100000" cy="100000"/>
          </a:xfrm>
          <a:prstGeom prst="rect">
            <a:avLst/>
          </a:prstGeom>
          <a:noFill/>
        </p:spPr>
        <p:txBody>
          <a:bodyPr wrap="square" anchor="t">
            <a:spAutoFit/>
          </a:bodyPr>
          <a:lstStyle/>
          <a:p>
            <a:pPr algn="ctr"/>
            <a:r>
              <a:rPr sz="700" b="0" i="0">
                <a:solidFill>
                  <a:srgbClr val="C8CCD1"/>
                </a:solidFill>
                <a:latin typeface="Inter"/>
              </a:rPr>
              <a:t>▶</a:t>
            </a:r>
          </a:p>
        </p:txBody>
      </p:sp>
      <p:sp>
        <p:nvSpPr>
          <p:cNvPr id="30" name="TextBox 29"/>
          <p:cNvSpPr txBox="1"/>
          <p:nvPr/>
        </p:nvSpPr>
        <p:spPr>
          <a:xfrm>
            <a:off x="1441540" y="6050800"/>
            <a:ext cx="9658920" cy="220000"/>
          </a:xfrm>
          <a:prstGeom prst="rect">
            <a:avLst/>
          </a:prstGeom>
          <a:noFill/>
        </p:spPr>
        <p:txBody>
          <a:bodyPr wrap="square" anchor="t">
            <a:spAutoFit/>
          </a:bodyPr>
          <a:lstStyle/>
          <a:p>
            <a:pPr algn="ctr"/>
            <a:r>
              <a:rPr sz="900" b="0" i="1">
                <a:solidFill>
                  <a:srgbClr val="4A5568"/>
                </a:solidFill>
                <a:latin typeface="Inter"/>
              </a:rPr>
              <a:t>Figure 1. Strategic Matrix — Effort vs. Impact</a:t>
            </a:r>
          </a:p>
        </p:txBody>
      </p:sp>
      <p:sp>
        <p:nvSpPr>
          <p:cNvPr id="31" name="Rectangle 30"/>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33" name="TextBox 32"/>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Synergy Analysis</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91540" y="1371600"/>
            <a:ext cx="10408920" cy="280000"/>
          </a:xfrm>
          <a:prstGeom prst="rect">
            <a:avLst/>
          </a:prstGeom>
          <a:noFill/>
        </p:spPr>
        <p:txBody>
          <a:bodyPr wrap="square" anchor="t">
            <a:spAutoFit/>
          </a:bodyPr>
          <a:lstStyle/>
          <a:p>
            <a:pPr algn="l"/>
            <a:r>
              <a:rPr sz="1000" b="0" i="1">
                <a:solidFill>
                  <a:srgbClr val="4A5568"/>
                </a:solidFill>
                <a:latin typeface="Inter"/>
              </a:rPr>
              <a:t>Figure 1: Conceptual Overlap Model</a:t>
            </a:r>
          </a:p>
        </p:txBody>
      </p:sp>
      <p:sp>
        <p:nvSpPr>
          <p:cNvPr id="6" name="Oval 5"/>
          <p:cNvSpPr/>
          <p:nvPr/>
        </p:nvSpPr>
        <p:spPr>
          <a:xfrm>
            <a:off x="4846000" y="2148700"/>
            <a:ext cx="2500000" cy="2500000"/>
          </a:xfrm>
          <a:prstGeom prst="ellipse">
            <a:avLst/>
          </a:prstGeom>
          <a:solidFill>
            <a:srgbClr val="FFFFFF"/>
          </a:solidFill>
          <a:ln w="9525">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46000" y="2991825"/>
            <a:ext cx="1400000" cy="280000"/>
          </a:xfrm>
          <a:prstGeom prst="rect">
            <a:avLst/>
          </a:prstGeom>
          <a:noFill/>
        </p:spPr>
        <p:txBody>
          <a:bodyPr wrap="square" anchor="t">
            <a:spAutoFit/>
          </a:bodyPr>
          <a:lstStyle/>
          <a:p>
            <a:pPr algn="ctr"/>
            <a:r>
              <a:rPr sz="1100" b="0" i="0">
                <a:solidFill>
                  <a:srgbClr val="1E3A5F"/>
                </a:solidFill>
                <a:latin typeface="Inter"/>
              </a:rPr>
              <a:t>(a) Innovation</a:t>
            </a:r>
          </a:p>
        </p:txBody>
      </p:sp>
      <p:sp>
        <p:nvSpPr>
          <p:cNvPr id="8" name="TextBox 7"/>
          <p:cNvSpPr txBox="1"/>
          <p:nvPr/>
        </p:nvSpPr>
        <p:spPr>
          <a:xfrm>
            <a:off x="5346000" y="3281825"/>
            <a:ext cx="1800000" cy="300000"/>
          </a:xfrm>
          <a:prstGeom prst="rect">
            <a:avLst/>
          </a:prstGeom>
          <a:noFill/>
        </p:spPr>
        <p:txBody>
          <a:bodyPr wrap="square" anchor="t">
            <a:spAutoFit/>
          </a:bodyPr>
          <a:lstStyle/>
          <a:p>
            <a:pPr algn="ctr"/>
            <a:r>
              <a:rPr sz="900" b="0" i="1">
                <a:solidFill>
                  <a:srgbClr val="4A5568"/>
                </a:solidFill>
                <a:latin typeface="Inter"/>
              </a:rPr>
              <a:t>Cutting-edge technology and R&amp;D</a:t>
            </a:r>
          </a:p>
        </p:txBody>
      </p:sp>
      <p:sp>
        <p:nvSpPr>
          <p:cNvPr id="9" name="Oval 8"/>
          <p:cNvSpPr/>
          <p:nvPr/>
        </p:nvSpPr>
        <p:spPr>
          <a:xfrm>
            <a:off x="4208500" y="2973700"/>
            <a:ext cx="2500000" cy="2500000"/>
          </a:xfrm>
          <a:prstGeom prst="ellipse">
            <a:avLst/>
          </a:prstGeom>
          <a:solidFill>
            <a:srgbClr val="FFFFFF"/>
          </a:solidFill>
          <a:ln w="9525">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7875" y="4270575"/>
            <a:ext cx="1400000" cy="280000"/>
          </a:xfrm>
          <a:prstGeom prst="rect">
            <a:avLst/>
          </a:prstGeom>
          <a:noFill/>
        </p:spPr>
        <p:txBody>
          <a:bodyPr wrap="square" anchor="t">
            <a:spAutoFit/>
          </a:bodyPr>
          <a:lstStyle/>
          <a:p>
            <a:pPr algn="ctr"/>
            <a:r>
              <a:rPr sz="1100" b="0" i="0">
                <a:solidFill>
                  <a:srgbClr val="1E3A5F"/>
                </a:solidFill>
                <a:latin typeface="Inter"/>
              </a:rPr>
              <a:t>(b) Experience</a:t>
            </a:r>
          </a:p>
        </p:txBody>
      </p:sp>
      <p:sp>
        <p:nvSpPr>
          <p:cNvPr id="11" name="TextBox 10"/>
          <p:cNvSpPr txBox="1"/>
          <p:nvPr/>
        </p:nvSpPr>
        <p:spPr>
          <a:xfrm>
            <a:off x="4357875" y="4560575"/>
            <a:ext cx="1800000" cy="300000"/>
          </a:xfrm>
          <a:prstGeom prst="rect">
            <a:avLst/>
          </a:prstGeom>
          <a:noFill/>
        </p:spPr>
        <p:txBody>
          <a:bodyPr wrap="square" anchor="t">
            <a:spAutoFit/>
          </a:bodyPr>
          <a:lstStyle/>
          <a:p>
            <a:pPr algn="ctr"/>
            <a:r>
              <a:rPr sz="900" b="0" i="1">
                <a:solidFill>
                  <a:srgbClr val="4A5568"/>
                </a:solidFill>
                <a:latin typeface="Inter"/>
              </a:rPr>
              <a:t>Deep industry expertise and talent</a:t>
            </a:r>
          </a:p>
        </p:txBody>
      </p:sp>
      <p:sp>
        <p:nvSpPr>
          <p:cNvPr id="12" name="Oval 11"/>
          <p:cNvSpPr/>
          <p:nvPr/>
        </p:nvSpPr>
        <p:spPr>
          <a:xfrm>
            <a:off x="5483500" y="2973700"/>
            <a:ext cx="2500000" cy="2500000"/>
          </a:xfrm>
          <a:prstGeom prst="ellipse">
            <a:avLst/>
          </a:prstGeom>
          <a:solidFill>
            <a:srgbClr val="FFFFFF"/>
          </a:solidFill>
          <a:ln w="9525">
            <a:solidFill>
              <a:srgbClr val="4A5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4125" y="4270575"/>
            <a:ext cx="1400000" cy="280000"/>
          </a:xfrm>
          <a:prstGeom prst="rect">
            <a:avLst/>
          </a:prstGeom>
          <a:noFill/>
        </p:spPr>
        <p:txBody>
          <a:bodyPr wrap="square" anchor="t">
            <a:spAutoFit/>
          </a:bodyPr>
          <a:lstStyle/>
          <a:p>
            <a:pPr algn="ctr"/>
            <a:r>
              <a:rPr sz="1100" b="0" i="0">
                <a:solidFill>
                  <a:srgbClr val="1E3A5F"/>
                </a:solidFill>
                <a:latin typeface="Inter"/>
              </a:rPr>
              <a:t>(c) Trust</a:t>
            </a:r>
          </a:p>
        </p:txBody>
      </p:sp>
      <p:sp>
        <p:nvSpPr>
          <p:cNvPr id="14" name="TextBox 13"/>
          <p:cNvSpPr txBox="1"/>
          <p:nvPr/>
        </p:nvSpPr>
        <p:spPr>
          <a:xfrm>
            <a:off x="6334125" y="4560575"/>
            <a:ext cx="1800000" cy="300000"/>
          </a:xfrm>
          <a:prstGeom prst="rect">
            <a:avLst/>
          </a:prstGeom>
          <a:noFill/>
        </p:spPr>
        <p:txBody>
          <a:bodyPr wrap="square" anchor="t">
            <a:spAutoFit/>
          </a:bodyPr>
          <a:lstStyle/>
          <a:p>
            <a:pPr algn="ctr"/>
            <a:r>
              <a:rPr sz="900" b="0" i="1">
                <a:solidFill>
                  <a:srgbClr val="4A5568"/>
                </a:solidFill>
                <a:latin typeface="Inter"/>
              </a:rPr>
              <a:t>Proven track record with clients</a:t>
            </a:r>
          </a:p>
        </p:txBody>
      </p:sp>
      <p:cxnSp>
        <p:nvCxnSpPr>
          <p:cNvPr id="15" name="Connector 14"/>
          <p:cNvCxnSpPr/>
          <p:nvPr/>
        </p:nvCxnSpPr>
        <p:spPr>
          <a:xfrm>
            <a:off x="5196000" y="3671200"/>
            <a:ext cx="1800000" cy="0"/>
          </a:xfrm>
          <a:prstGeom prst="line">
            <a:avLst/>
          </a:prstGeom>
          <a:ln w="6350">
            <a:solidFill>
              <a:srgbClr val="4A5568"/>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196000" y="3691200"/>
            <a:ext cx="1800000" cy="280000"/>
          </a:xfrm>
          <a:prstGeom prst="rect">
            <a:avLst/>
          </a:prstGeom>
          <a:noFill/>
        </p:spPr>
        <p:txBody>
          <a:bodyPr wrap="square" anchor="t">
            <a:spAutoFit/>
          </a:bodyPr>
          <a:lstStyle/>
          <a:p>
            <a:pPr algn="ctr"/>
            <a:r>
              <a:rPr sz="1000" b="0" i="0">
                <a:solidFill>
                  <a:srgbClr val="1E3A5F"/>
                </a:solidFill>
                <a:latin typeface="Inter"/>
              </a:rPr>
              <a:t>Our Competitive Advantage</a:t>
            </a:r>
          </a:p>
        </p:txBody>
      </p:sp>
      <p:cxnSp>
        <p:nvCxnSpPr>
          <p:cNvPr id="17" name="Connector 16"/>
          <p:cNvCxnSpPr/>
          <p:nvPr/>
        </p:nvCxnSpPr>
        <p:spPr>
          <a:xfrm>
            <a:off x="5196000" y="3971200"/>
            <a:ext cx="1800000" cy="0"/>
          </a:xfrm>
          <a:prstGeom prst="line">
            <a:avLst/>
          </a:prstGeom>
          <a:ln w="6350">
            <a:solidFill>
              <a:srgbClr val="4A5568"/>
            </a:solidFill>
            <a:prstDash val="dash"/>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91540" y="6050800"/>
            <a:ext cx="10408920" cy="200000"/>
          </a:xfrm>
          <a:prstGeom prst="rect">
            <a:avLst/>
          </a:prstGeom>
          <a:noFill/>
        </p:spPr>
        <p:txBody>
          <a:bodyPr wrap="square" anchor="t">
            <a:spAutoFit/>
          </a:bodyPr>
          <a:lstStyle/>
          <a:p>
            <a:pPr algn="l"/>
            <a:r>
              <a:rPr sz="800" b="0" i="1">
                <a:solidFill>
                  <a:srgbClr val="4A5568"/>
                </a:solidFill>
                <a:latin typeface="Inter"/>
              </a:rPr>
              <a:t>Note: Overlap region represents combined strategic value.</a:t>
            </a:r>
          </a:p>
        </p:txBody>
      </p:sp>
      <p:sp>
        <p:nvSpPr>
          <p:cNvPr id="19" name="Rectangle 18"/>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21" name="TextBox 20"/>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3352800" y="2429000"/>
            <a:ext cx="54864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2629000"/>
            <a:ext cx="10820400" cy="400000"/>
          </a:xfrm>
          <a:prstGeom prst="rect">
            <a:avLst/>
          </a:prstGeom>
          <a:noFill/>
        </p:spPr>
        <p:txBody>
          <a:bodyPr wrap="square" anchor="t">
            <a:spAutoFit/>
          </a:bodyPr>
          <a:lstStyle/>
          <a:p>
            <a:pPr algn="ctr"/>
            <a:r>
              <a:rPr sz="1300" b="0" i="0">
                <a:solidFill>
                  <a:srgbClr val="9B2335"/>
                </a:solidFill>
                <a:latin typeface="Inter"/>
              </a:rPr>
              <a:t>Section 03</a:t>
            </a:r>
          </a:p>
        </p:txBody>
      </p:sp>
      <p:sp>
        <p:nvSpPr>
          <p:cNvPr id="5" name="TextBox 4"/>
          <p:cNvSpPr txBox="1"/>
          <p:nvPr/>
        </p:nvSpPr>
        <p:spPr>
          <a:xfrm>
            <a:off x="1185800" y="3129000"/>
            <a:ext cx="9820400" cy="700000"/>
          </a:xfrm>
          <a:prstGeom prst="rect">
            <a:avLst/>
          </a:prstGeom>
          <a:noFill/>
        </p:spPr>
        <p:txBody>
          <a:bodyPr wrap="square" anchor="t">
            <a:spAutoFit/>
          </a:bodyPr>
          <a:lstStyle/>
          <a:p>
            <a:pPr algn="ctr"/>
            <a:r>
              <a:rPr sz="3600" b="1" i="0">
                <a:solidFill>
                  <a:srgbClr val="1E3A5F"/>
                </a:solidFill>
                <a:latin typeface="Inter"/>
              </a:rPr>
              <a:t>Process</a:t>
            </a:r>
          </a:p>
        </p:txBody>
      </p:sp>
      <p:cxnSp>
        <p:nvCxnSpPr>
          <p:cNvPr id="6" name="Connector 5"/>
          <p:cNvCxnSpPr/>
          <p:nvPr/>
        </p:nvCxnSpPr>
        <p:spPr>
          <a:xfrm>
            <a:off x="3352800" y="4029000"/>
            <a:ext cx="54864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685800" y="4279000"/>
            <a:ext cx="8820400" cy="350000"/>
          </a:xfrm>
          <a:prstGeom prst="rect">
            <a:avLst/>
          </a:prstGeom>
          <a:noFill/>
        </p:spPr>
        <p:txBody>
          <a:bodyPr wrap="square" anchor="t">
            <a:spAutoFit/>
          </a:bodyPr>
          <a:lstStyle/>
          <a:p>
            <a:pPr algn="ctr"/>
            <a:r>
              <a:rPr sz="1300" b="0" i="0">
                <a:solidFill>
                  <a:srgbClr val="4A5568"/>
                </a:solidFill>
                <a:latin typeface="Inter"/>
              </a:rPr>
              <a:t>How we plan and execute</a:t>
            </a:r>
          </a:p>
        </p:txBody>
      </p:sp>
      <p:sp>
        <p:nvSpPr>
          <p:cNvPr id="8" name="Rectangle 7"/>
          <p:cNvSpPr/>
          <p:nvPr/>
        </p:nvSpPr>
        <p:spPr>
          <a:xfrm>
            <a:off x="0" y="6400800"/>
            <a:ext cx="12192000" cy="457200"/>
          </a:xfrm>
          <a:prstGeom prst="rect">
            <a:avLst/>
          </a:prstGeom>
          <a:solidFill>
            <a:srgbClr val="18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1540" y="6500800"/>
            <a:ext cx="3000000" cy="260000"/>
          </a:xfrm>
          <a:prstGeom prst="rect">
            <a:avLst/>
          </a:prstGeom>
          <a:noFill/>
        </p:spPr>
        <p:txBody>
          <a:bodyPr wrap="square" anchor="t">
            <a:spAutoFit/>
          </a:bodyPr>
          <a:lstStyle/>
          <a:p>
            <a:pPr algn="l"/>
            <a:r>
              <a:rPr sz="1200" b="0" i="0">
                <a:solidFill>
                  <a:srgbClr val="8E9CAF"/>
                </a:solidFill>
                <a:latin typeface="Inter"/>
              </a:rPr>
              <a:t>University</a:t>
            </a:r>
          </a:p>
        </p:txBody>
      </p:sp>
      <p:sp>
        <p:nvSpPr>
          <p:cNvPr id="10" name="TextBox 9"/>
          <p:cNvSpPr txBox="1"/>
          <p:nvPr/>
        </p:nvSpPr>
        <p:spPr>
          <a:xfrm>
            <a:off x="11106200" y="6500800"/>
            <a:ext cx="400000" cy="260000"/>
          </a:xfrm>
          <a:prstGeom prst="rect">
            <a:avLst/>
          </a:prstGeom>
          <a:noFill/>
        </p:spPr>
        <p:txBody>
          <a:bodyPr wrap="square" anchor="t">
            <a:spAutoFit/>
          </a:bodyPr>
          <a:lstStyle/>
          <a:p>
            <a:pPr algn="r"/>
            <a:r>
              <a:rPr sz="900" b="0" i="0">
                <a:solidFill>
                  <a:srgbClr val="8E9CAF"/>
                </a:solidFill>
                <a:latin typeface="Inter"/>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Methodology</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85800" y="1571600"/>
            <a:ext cx="10820400" cy="0"/>
          </a:xfrm>
          <a:prstGeom prst="line">
            <a:avLst/>
          </a:prstGeom>
          <a:ln w="6350">
            <a:solidFill>
              <a:srgbClr val="D1D4D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85800" y="1651600"/>
            <a:ext cx="1200000" cy="350000"/>
          </a:xfrm>
          <a:prstGeom prst="rect">
            <a:avLst/>
          </a:prstGeom>
          <a:noFill/>
        </p:spPr>
        <p:txBody>
          <a:bodyPr wrap="square" anchor="t">
            <a:spAutoFit/>
          </a:bodyPr>
          <a:lstStyle/>
          <a:p>
            <a:pPr algn="l"/>
            <a:r>
              <a:rPr sz="1300" b="1" i="0">
                <a:solidFill>
                  <a:srgbClr val="1E3A5F"/>
                </a:solidFill>
                <a:latin typeface="Inter"/>
              </a:rPr>
              <a:t>Step 1.</a:t>
            </a:r>
          </a:p>
        </p:txBody>
      </p:sp>
      <p:sp>
        <p:nvSpPr>
          <p:cNvPr id="7" name="TextBox 6"/>
          <p:cNvSpPr txBox="1"/>
          <p:nvPr/>
        </p:nvSpPr>
        <p:spPr>
          <a:xfrm>
            <a:off x="1985800" y="1651600"/>
            <a:ext cx="3500000" cy="350000"/>
          </a:xfrm>
          <a:prstGeom prst="rect">
            <a:avLst/>
          </a:prstGeom>
          <a:noFill/>
        </p:spPr>
        <p:txBody>
          <a:bodyPr wrap="square" anchor="t">
            <a:spAutoFit/>
          </a:bodyPr>
          <a:lstStyle/>
          <a:p>
            <a:pPr algn="l"/>
            <a:r>
              <a:rPr sz="1300" b="1" i="0">
                <a:solidFill>
                  <a:srgbClr val="1E3A5F"/>
                </a:solidFill>
                <a:latin typeface="Inter"/>
              </a:rPr>
              <a:t>Discovery</a:t>
            </a:r>
          </a:p>
        </p:txBody>
      </p:sp>
      <p:sp>
        <p:nvSpPr>
          <p:cNvPr id="8" name="TextBox 7"/>
          <p:cNvSpPr txBox="1"/>
          <p:nvPr/>
        </p:nvSpPr>
        <p:spPr>
          <a:xfrm>
            <a:off x="1985800" y="1991600"/>
            <a:ext cx="9520400" cy="350000"/>
          </a:xfrm>
          <a:prstGeom prst="rect">
            <a:avLst/>
          </a:prstGeom>
          <a:noFill/>
        </p:spPr>
        <p:txBody>
          <a:bodyPr wrap="square" anchor="t">
            <a:spAutoFit/>
          </a:bodyPr>
          <a:lstStyle/>
          <a:p>
            <a:pPr algn="l"/>
            <a:r>
              <a:rPr sz="1100" b="0" i="0">
                <a:solidFill>
                  <a:srgbClr val="4A5568"/>
                </a:solidFill>
                <a:latin typeface="Inter"/>
              </a:rPr>
              <a:t>Research &amp; analysis</a:t>
            </a:r>
          </a:p>
        </p:txBody>
      </p:sp>
      <p:cxnSp>
        <p:nvCxnSpPr>
          <p:cNvPr id="9" name="Connector 8"/>
          <p:cNvCxnSpPr/>
          <p:nvPr/>
        </p:nvCxnSpPr>
        <p:spPr>
          <a:xfrm>
            <a:off x="685800" y="2497440"/>
            <a:ext cx="10820400" cy="0"/>
          </a:xfrm>
          <a:prstGeom prst="line">
            <a:avLst/>
          </a:prstGeom>
          <a:ln w="6350">
            <a:solidFill>
              <a:srgbClr val="D1D4D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85800" y="2577440"/>
            <a:ext cx="1200000" cy="350000"/>
          </a:xfrm>
          <a:prstGeom prst="rect">
            <a:avLst/>
          </a:prstGeom>
          <a:noFill/>
        </p:spPr>
        <p:txBody>
          <a:bodyPr wrap="square" anchor="t">
            <a:spAutoFit/>
          </a:bodyPr>
          <a:lstStyle/>
          <a:p>
            <a:pPr algn="l"/>
            <a:r>
              <a:rPr sz="1300" b="1" i="0">
                <a:solidFill>
                  <a:srgbClr val="1E3A5F"/>
                </a:solidFill>
                <a:latin typeface="Inter"/>
              </a:rPr>
              <a:t>Step 2.</a:t>
            </a:r>
          </a:p>
        </p:txBody>
      </p:sp>
      <p:sp>
        <p:nvSpPr>
          <p:cNvPr id="11" name="TextBox 10"/>
          <p:cNvSpPr txBox="1"/>
          <p:nvPr/>
        </p:nvSpPr>
        <p:spPr>
          <a:xfrm>
            <a:off x="1985800" y="2577440"/>
            <a:ext cx="3500000" cy="350000"/>
          </a:xfrm>
          <a:prstGeom prst="rect">
            <a:avLst/>
          </a:prstGeom>
          <a:noFill/>
        </p:spPr>
        <p:txBody>
          <a:bodyPr wrap="square" anchor="t">
            <a:spAutoFit/>
          </a:bodyPr>
          <a:lstStyle/>
          <a:p>
            <a:pPr algn="l"/>
            <a:r>
              <a:rPr sz="1300" b="1" i="0">
                <a:solidFill>
                  <a:srgbClr val="1E3A5F"/>
                </a:solidFill>
                <a:latin typeface="Inter"/>
              </a:rPr>
              <a:t>Strategy</a:t>
            </a:r>
          </a:p>
        </p:txBody>
      </p:sp>
      <p:sp>
        <p:nvSpPr>
          <p:cNvPr id="12" name="TextBox 11"/>
          <p:cNvSpPr txBox="1"/>
          <p:nvPr/>
        </p:nvSpPr>
        <p:spPr>
          <a:xfrm>
            <a:off x="1985800" y="2917440"/>
            <a:ext cx="9520400" cy="350000"/>
          </a:xfrm>
          <a:prstGeom prst="rect">
            <a:avLst/>
          </a:prstGeom>
          <a:noFill/>
        </p:spPr>
        <p:txBody>
          <a:bodyPr wrap="square" anchor="t">
            <a:spAutoFit/>
          </a:bodyPr>
          <a:lstStyle/>
          <a:p>
            <a:pPr algn="l"/>
            <a:r>
              <a:rPr sz="1100" b="0" i="0">
                <a:solidFill>
                  <a:srgbClr val="4A5568"/>
                </a:solidFill>
                <a:latin typeface="Inter"/>
              </a:rPr>
              <a:t>Planning &amp; design</a:t>
            </a:r>
          </a:p>
        </p:txBody>
      </p:sp>
      <p:cxnSp>
        <p:nvCxnSpPr>
          <p:cNvPr id="13" name="Connector 12"/>
          <p:cNvCxnSpPr/>
          <p:nvPr/>
        </p:nvCxnSpPr>
        <p:spPr>
          <a:xfrm>
            <a:off x="685800" y="3423280"/>
            <a:ext cx="10820400" cy="0"/>
          </a:xfrm>
          <a:prstGeom prst="line">
            <a:avLst/>
          </a:prstGeom>
          <a:ln w="6350">
            <a:solidFill>
              <a:srgbClr val="D1D4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85800" y="3503280"/>
            <a:ext cx="1200000" cy="350000"/>
          </a:xfrm>
          <a:prstGeom prst="rect">
            <a:avLst/>
          </a:prstGeom>
          <a:noFill/>
        </p:spPr>
        <p:txBody>
          <a:bodyPr wrap="square" anchor="t">
            <a:spAutoFit/>
          </a:bodyPr>
          <a:lstStyle/>
          <a:p>
            <a:pPr algn="l"/>
            <a:r>
              <a:rPr sz="1300" b="1" i="0">
                <a:solidFill>
                  <a:srgbClr val="1E3A5F"/>
                </a:solidFill>
                <a:latin typeface="Inter"/>
              </a:rPr>
              <a:t>Step 3.</a:t>
            </a:r>
          </a:p>
        </p:txBody>
      </p:sp>
      <p:sp>
        <p:nvSpPr>
          <p:cNvPr id="15" name="TextBox 14"/>
          <p:cNvSpPr txBox="1"/>
          <p:nvPr/>
        </p:nvSpPr>
        <p:spPr>
          <a:xfrm>
            <a:off x="1985800" y="3503280"/>
            <a:ext cx="3500000" cy="350000"/>
          </a:xfrm>
          <a:prstGeom prst="rect">
            <a:avLst/>
          </a:prstGeom>
          <a:noFill/>
        </p:spPr>
        <p:txBody>
          <a:bodyPr wrap="square" anchor="t">
            <a:spAutoFit/>
          </a:bodyPr>
          <a:lstStyle/>
          <a:p>
            <a:pPr algn="l"/>
            <a:r>
              <a:rPr sz="1300" b="1" i="0">
                <a:solidFill>
                  <a:srgbClr val="1E3A5F"/>
                </a:solidFill>
                <a:latin typeface="Inter"/>
              </a:rPr>
              <a:t>Develop</a:t>
            </a:r>
          </a:p>
        </p:txBody>
      </p:sp>
      <p:sp>
        <p:nvSpPr>
          <p:cNvPr id="16" name="TextBox 15"/>
          <p:cNvSpPr txBox="1"/>
          <p:nvPr/>
        </p:nvSpPr>
        <p:spPr>
          <a:xfrm>
            <a:off x="1985800" y="3843280"/>
            <a:ext cx="9520400" cy="350000"/>
          </a:xfrm>
          <a:prstGeom prst="rect">
            <a:avLst/>
          </a:prstGeom>
          <a:noFill/>
        </p:spPr>
        <p:txBody>
          <a:bodyPr wrap="square" anchor="t">
            <a:spAutoFit/>
          </a:bodyPr>
          <a:lstStyle/>
          <a:p>
            <a:pPr algn="l"/>
            <a:r>
              <a:rPr sz="1100" b="0" i="0">
                <a:solidFill>
                  <a:srgbClr val="4A5568"/>
                </a:solidFill>
                <a:latin typeface="Inter"/>
              </a:rPr>
              <a:t>Build &amp; iterate</a:t>
            </a:r>
          </a:p>
        </p:txBody>
      </p:sp>
      <p:cxnSp>
        <p:nvCxnSpPr>
          <p:cNvPr id="17" name="Connector 16"/>
          <p:cNvCxnSpPr/>
          <p:nvPr/>
        </p:nvCxnSpPr>
        <p:spPr>
          <a:xfrm>
            <a:off x="685800" y="4349120"/>
            <a:ext cx="10820400" cy="0"/>
          </a:xfrm>
          <a:prstGeom prst="line">
            <a:avLst/>
          </a:prstGeom>
          <a:ln w="6350">
            <a:solidFill>
              <a:srgbClr val="D1D4D9"/>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85800" y="4429120"/>
            <a:ext cx="1200000" cy="350000"/>
          </a:xfrm>
          <a:prstGeom prst="rect">
            <a:avLst/>
          </a:prstGeom>
          <a:noFill/>
        </p:spPr>
        <p:txBody>
          <a:bodyPr wrap="square" anchor="t">
            <a:spAutoFit/>
          </a:bodyPr>
          <a:lstStyle/>
          <a:p>
            <a:pPr algn="l"/>
            <a:r>
              <a:rPr sz="1300" b="1" i="0">
                <a:solidFill>
                  <a:srgbClr val="1E3A5F"/>
                </a:solidFill>
                <a:latin typeface="Inter"/>
              </a:rPr>
              <a:t>Step 4.</a:t>
            </a:r>
          </a:p>
        </p:txBody>
      </p:sp>
      <p:sp>
        <p:nvSpPr>
          <p:cNvPr id="19" name="TextBox 18"/>
          <p:cNvSpPr txBox="1"/>
          <p:nvPr/>
        </p:nvSpPr>
        <p:spPr>
          <a:xfrm>
            <a:off x="1985800" y="4429120"/>
            <a:ext cx="3500000" cy="350000"/>
          </a:xfrm>
          <a:prstGeom prst="rect">
            <a:avLst/>
          </a:prstGeom>
          <a:noFill/>
        </p:spPr>
        <p:txBody>
          <a:bodyPr wrap="square" anchor="t">
            <a:spAutoFit/>
          </a:bodyPr>
          <a:lstStyle/>
          <a:p>
            <a:pPr algn="l"/>
            <a:r>
              <a:rPr sz="1300" b="1" i="0">
                <a:solidFill>
                  <a:srgbClr val="1E3A5F"/>
                </a:solidFill>
                <a:latin typeface="Inter"/>
              </a:rPr>
              <a:t>Deploy</a:t>
            </a:r>
          </a:p>
        </p:txBody>
      </p:sp>
      <p:sp>
        <p:nvSpPr>
          <p:cNvPr id="20" name="TextBox 19"/>
          <p:cNvSpPr txBox="1"/>
          <p:nvPr/>
        </p:nvSpPr>
        <p:spPr>
          <a:xfrm>
            <a:off x="1985800" y="4769120"/>
            <a:ext cx="9520400" cy="350000"/>
          </a:xfrm>
          <a:prstGeom prst="rect">
            <a:avLst/>
          </a:prstGeom>
          <a:noFill/>
        </p:spPr>
        <p:txBody>
          <a:bodyPr wrap="square" anchor="t">
            <a:spAutoFit/>
          </a:bodyPr>
          <a:lstStyle/>
          <a:p>
            <a:pPr algn="l"/>
            <a:r>
              <a:rPr sz="1100" b="0" i="0">
                <a:solidFill>
                  <a:srgbClr val="4A5568"/>
                </a:solidFill>
                <a:latin typeface="Inter"/>
              </a:rPr>
              <a:t>Launch &amp; integrate</a:t>
            </a:r>
          </a:p>
        </p:txBody>
      </p:sp>
      <p:cxnSp>
        <p:nvCxnSpPr>
          <p:cNvPr id="21" name="Connector 20"/>
          <p:cNvCxnSpPr/>
          <p:nvPr/>
        </p:nvCxnSpPr>
        <p:spPr>
          <a:xfrm>
            <a:off x="685800" y="5274960"/>
            <a:ext cx="10820400" cy="0"/>
          </a:xfrm>
          <a:prstGeom prst="line">
            <a:avLst/>
          </a:prstGeom>
          <a:ln w="6350">
            <a:solidFill>
              <a:srgbClr val="D1D4D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85800" y="5354960"/>
            <a:ext cx="1200000" cy="350000"/>
          </a:xfrm>
          <a:prstGeom prst="rect">
            <a:avLst/>
          </a:prstGeom>
          <a:noFill/>
        </p:spPr>
        <p:txBody>
          <a:bodyPr wrap="square" anchor="t">
            <a:spAutoFit/>
          </a:bodyPr>
          <a:lstStyle/>
          <a:p>
            <a:pPr algn="l"/>
            <a:r>
              <a:rPr sz="1300" b="1" i="0">
                <a:solidFill>
                  <a:srgbClr val="1E3A5F"/>
                </a:solidFill>
                <a:latin typeface="Inter"/>
              </a:rPr>
              <a:t>Step 5.</a:t>
            </a:r>
          </a:p>
        </p:txBody>
      </p:sp>
      <p:sp>
        <p:nvSpPr>
          <p:cNvPr id="23" name="TextBox 22"/>
          <p:cNvSpPr txBox="1"/>
          <p:nvPr/>
        </p:nvSpPr>
        <p:spPr>
          <a:xfrm>
            <a:off x="1985800" y="5354960"/>
            <a:ext cx="3500000" cy="350000"/>
          </a:xfrm>
          <a:prstGeom prst="rect">
            <a:avLst/>
          </a:prstGeom>
          <a:noFill/>
        </p:spPr>
        <p:txBody>
          <a:bodyPr wrap="square" anchor="t">
            <a:spAutoFit/>
          </a:bodyPr>
          <a:lstStyle/>
          <a:p>
            <a:pPr algn="l"/>
            <a:r>
              <a:rPr sz="1300" b="1" i="0">
                <a:solidFill>
                  <a:srgbClr val="1E3A5F"/>
                </a:solidFill>
                <a:latin typeface="Inter"/>
              </a:rPr>
              <a:t>Optimize</a:t>
            </a:r>
          </a:p>
        </p:txBody>
      </p:sp>
      <p:sp>
        <p:nvSpPr>
          <p:cNvPr id="24" name="TextBox 23"/>
          <p:cNvSpPr txBox="1"/>
          <p:nvPr/>
        </p:nvSpPr>
        <p:spPr>
          <a:xfrm>
            <a:off x="1985800" y="5694960"/>
            <a:ext cx="9520400" cy="350000"/>
          </a:xfrm>
          <a:prstGeom prst="rect">
            <a:avLst/>
          </a:prstGeom>
          <a:noFill/>
        </p:spPr>
        <p:txBody>
          <a:bodyPr wrap="square" anchor="t">
            <a:spAutoFit/>
          </a:bodyPr>
          <a:lstStyle/>
          <a:p>
            <a:pPr algn="l"/>
            <a:r>
              <a:rPr sz="1100" b="0" i="0">
                <a:solidFill>
                  <a:srgbClr val="4A5568"/>
                </a:solidFill>
                <a:latin typeface="Inter"/>
              </a:rPr>
              <a:t>Measure &amp; improve</a:t>
            </a:r>
          </a:p>
        </p:txBody>
      </p:sp>
      <p:cxnSp>
        <p:nvCxnSpPr>
          <p:cNvPr id="25" name="Connector 24"/>
          <p:cNvCxnSpPr/>
          <p:nvPr/>
        </p:nvCxnSpPr>
        <p:spPr>
          <a:xfrm>
            <a:off x="685800" y="6100800"/>
            <a:ext cx="10820400" cy="0"/>
          </a:xfrm>
          <a:prstGeom prst="line">
            <a:avLst/>
          </a:prstGeom>
          <a:ln w="6350">
            <a:solidFill>
              <a:srgbClr val="D1D4D9"/>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28" name="TextBox 27"/>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Research Cycle</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96000" y="1971600"/>
            <a:ext cx="1600000" cy="1600000"/>
          </a:xfrm>
          <a:prstGeom prst="line">
            <a:avLst/>
          </a:prstGeom>
          <a:ln w="9525">
            <a:solidFill>
              <a:srgbClr val="B6BBC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6096000" y="3571600"/>
            <a:ext cx="1600000" cy="1600000"/>
          </a:xfrm>
          <a:prstGeom prst="line">
            <a:avLst/>
          </a:prstGeom>
          <a:ln w="9525">
            <a:solidFill>
              <a:srgbClr val="B6BBC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4496000" y="3571600"/>
            <a:ext cx="1600000" cy="1600000"/>
          </a:xfrm>
          <a:prstGeom prst="line">
            <a:avLst/>
          </a:prstGeom>
          <a:ln w="9525">
            <a:solidFill>
              <a:srgbClr val="B6BBC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496000" y="1971600"/>
            <a:ext cx="1600000" cy="1600000"/>
          </a:xfrm>
          <a:prstGeom prst="line">
            <a:avLst/>
          </a:prstGeom>
          <a:ln w="9525">
            <a:solidFill>
              <a:srgbClr val="B6BBC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96000" y="3421600"/>
            <a:ext cx="800000" cy="300000"/>
          </a:xfrm>
          <a:prstGeom prst="rect">
            <a:avLst/>
          </a:prstGeom>
          <a:noFill/>
        </p:spPr>
        <p:txBody>
          <a:bodyPr wrap="square" anchor="t">
            <a:spAutoFit/>
          </a:bodyPr>
          <a:lstStyle/>
          <a:p>
            <a:pPr algn="ctr"/>
            <a:r>
              <a:rPr sz="1100" b="1" i="0">
                <a:solidFill>
                  <a:srgbClr val="4A5568"/>
                </a:solidFill>
                <a:latin typeface="Inter"/>
              </a:rPr>
              <a:t>Cycle</a:t>
            </a:r>
          </a:p>
        </p:txBody>
      </p:sp>
      <p:sp>
        <p:nvSpPr>
          <p:cNvPr id="10" name="Oval 9"/>
          <p:cNvSpPr/>
          <p:nvPr/>
        </p:nvSpPr>
        <p:spPr>
          <a:xfrm>
            <a:off x="6036000" y="3511600"/>
            <a:ext cx="120000" cy="120000"/>
          </a:xfrm>
          <a:prstGeom prst="ellipse">
            <a:avLst/>
          </a:prstGeom>
          <a:solidFill>
            <a:srgbClr val="DA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046000" y="1921600"/>
            <a:ext cx="100000" cy="100000"/>
          </a:xfrm>
          <a:prstGeom prst="ellipse">
            <a:avLst/>
          </a:prstGeom>
          <a:solidFill>
            <a:srgbClr val="FFFFFF"/>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46000" y="1921600"/>
            <a:ext cx="100000" cy="100000"/>
          </a:xfrm>
          <a:prstGeom prst="rect">
            <a:avLst/>
          </a:prstGeom>
          <a:noFill/>
        </p:spPr>
        <p:txBody>
          <a:bodyPr wrap="square" anchor="ctr">
            <a:spAutoFit/>
          </a:bodyPr>
          <a:lstStyle/>
          <a:p>
            <a:pPr algn="ctr"/>
            <a:r>
              <a:rPr sz="800" b="1" i="0">
                <a:solidFill>
                  <a:srgbClr val="1E3A5F"/>
                </a:solidFill>
                <a:latin typeface="Inter"/>
              </a:rPr>
              <a:t>1</a:t>
            </a:r>
          </a:p>
        </p:txBody>
      </p:sp>
      <p:sp>
        <p:nvSpPr>
          <p:cNvPr id="13" name="TextBox 12"/>
          <p:cNvSpPr txBox="1"/>
          <p:nvPr/>
        </p:nvSpPr>
        <p:spPr>
          <a:xfrm>
            <a:off x="5596000" y="1261600"/>
            <a:ext cx="1000000" cy="300000"/>
          </a:xfrm>
          <a:prstGeom prst="rect">
            <a:avLst/>
          </a:prstGeom>
          <a:noFill/>
        </p:spPr>
        <p:txBody>
          <a:bodyPr wrap="square" anchor="t">
            <a:spAutoFit/>
          </a:bodyPr>
          <a:lstStyle/>
          <a:p>
            <a:pPr algn="ctr"/>
            <a:r>
              <a:rPr sz="1200" b="1" i="0">
                <a:solidFill>
                  <a:srgbClr val="1E3A5F"/>
                </a:solidFill>
                <a:latin typeface="Inter"/>
              </a:rPr>
              <a:t>1. Plan</a:t>
            </a:r>
          </a:p>
        </p:txBody>
      </p:sp>
      <p:sp>
        <p:nvSpPr>
          <p:cNvPr id="14" name="Oval 13"/>
          <p:cNvSpPr/>
          <p:nvPr/>
        </p:nvSpPr>
        <p:spPr>
          <a:xfrm>
            <a:off x="7646000" y="3521600"/>
            <a:ext cx="100000" cy="100000"/>
          </a:xfrm>
          <a:prstGeom prst="ellipse">
            <a:avLst/>
          </a:prstGeom>
          <a:solidFill>
            <a:srgbClr val="FFFFFF"/>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46000" y="3521600"/>
            <a:ext cx="100000" cy="100000"/>
          </a:xfrm>
          <a:prstGeom prst="rect">
            <a:avLst/>
          </a:prstGeom>
          <a:noFill/>
        </p:spPr>
        <p:txBody>
          <a:bodyPr wrap="square" anchor="ctr">
            <a:spAutoFit/>
          </a:bodyPr>
          <a:lstStyle/>
          <a:p>
            <a:pPr algn="ctr"/>
            <a:r>
              <a:rPr sz="800" b="1" i="0">
                <a:solidFill>
                  <a:srgbClr val="1E3A5F"/>
                </a:solidFill>
                <a:latin typeface="Inter"/>
              </a:rPr>
              <a:t>2</a:t>
            </a:r>
          </a:p>
        </p:txBody>
      </p:sp>
      <p:sp>
        <p:nvSpPr>
          <p:cNvPr id="16" name="TextBox 15"/>
          <p:cNvSpPr txBox="1"/>
          <p:nvPr/>
        </p:nvSpPr>
        <p:spPr>
          <a:xfrm>
            <a:off x="7756000" y="3421600"/>
            <a:ext cx="1000000" cy="300000"/>
          </a:xfrm>
          <a:prstGeom prst="rect">
            <a:avLst/>
          </a:prstGeom>
          <a:noFill/>
        </p:spPr>
        <p:txBody>
          <a:bodyPr wrap="square" anchor="t">
            <a:spAutoFit/>
          </a:bodyPr>
          <a:lstStyle/>
          <a:p>
            <a:pPr algn="ctr"/>
            <a:r>
              <a:rPr sz="1200" b="1" i="0">
                <a:solidFill>
                  <a:srgbClr val="1E3A5F"/>
                </a:solidFill>
                <a:latin typeface="Inter"/>
              </a:rPr>
              <a:t>2. Execute</a:t>
            </a:r>
          </a:p>
        </p:txBody>
      </p:sp>
      <p:sp>
        <p:nvSpPr>
          <p:cNvPr id="17" name="Oval 16"/>
          <p:cNvSpPr/>
          <p:nvPr/>
        </p:nvSpPr>
        <p:spPr>
          <a:xfrm>
            <a:off x="6046000" y="5121600"/>
            <a:ext cx="100000" cy="100000"/>
          </a:xfrm>
          <a:prstGeom prst="ellipse">
            <a:avLst/>
          </a:prstGeom>
          <a:solidFill>
            <a:srgbClr val="FFFFFF"/>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46000" y="5121600"/>
            <a:ext cx="100000" cy="100000"/>
          </a:xfrm>
          <a:prstGeom prst="rect">
            <a:avLst/>
          </a:prstGeom>
          <a:noFill/>
        </p:spPr>
        <p:txBody>
          <a:bodyPr wrap="square" anchor="ctr">
            <a:spAutoFit/>
          </a:bodyPr>
          <a:lstStyle/>
          <a:p>
            <a:pPr algn="ctr"/>
            <a:r>
              <a:rPr sz="800" b="1" i="0">
                <a:solidFill>
                  <a:srgbClr val="1E3A5F"/>
                </a:solidFill>
                <a:latin typeface="Inter"/>
              </a:rPr>
              <a:t>3</a:t>
            </a:r>
          </a:p>
        </p:txBody>
      </p:sp>
      <p:sp>
        <p:nvSpPr>
          <p:cNvPr id="19" name="TextBox 18"/>
          <p:cNvSpPr txBox="1"/>
          <p:nvPr/>
        </p:nvSpPr>
        <p:spPr>
          <a:xfrm>
            <a:off x="5596000" y="5581600"/>
            <a:ext cx="1000000" cy="300000"/>
          </a:xfrm>
          <a:prstGeom prst="rect">
            <a:avLst/>
          </a:prstGeom>
          <a:noFill/>
        </p:spPr>
        <p:txBody>
          <a:bodyPr wrap="square" anchor="t">
            <a:spAutoFit/>
          </a:bodyPr>
          <a:lstStyle/>
          <a:p>
            <a:pPr algn="ctr"/>
            <a:r>
              <a:rPr sz="1200" b="1" i="0">
                <a:solidFill>
                  <a:srgbClr val="1E3A5F"/>
                </a:solidFill>
                <a:latin typeface="Inter"/>
              </a:rPr>
              <a:t>3. Review</a:t>
            </a:r>
          </a:p>
        </p:txBody>
      </p:sp>
      <p:sp>
        <p:nvSpPr>
          <p:cNvPr id="20" name="Oval 19"/>
          <p:cNvSpPr/>
          <p:nvPr/>
        </p:nvSpPr>
        <p:spPr>
          <a:xfrm>
            <a:off x="4446000" y="3521600"/>
            <a:ext cx="100000" cy="100000"/>
          </a:xfrm>
          <a:prstGeom prst="ellipse">
            <a:avLst/>
          </a:prstGeom>
          <a:solidFill>
            <a:srgbClr val="FFFFFF"/>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46000" y="3521600"/>
            <a:ext cx="100000" cy="100000"/>
          </a:xfrm>
          <a:prstGeom prst="rect">
            <a:avLst/>
          </a:prstGeom>
          <a:noFill/>
        </p:spPr>
        <p:txBody>
          <a:bodyPr wrap="square" anchor="ctr">
            <a:spAutoFit/>
          </a:bodyPr>
          <a:lstStyle/>
          <a:p>
            <a:pPr algn="ctr"/>
            <a:r>
              <a:rPr sz="800" b="1" i="0">
                <a:solidFill>
                  <a:srgbClr val="1E3A5F"/>
                </a:solidFill>
                <a:latin typeface="Inter"/>
              </a:rPr>
              <a:t>4</a:t>
            </a:r>
          </a:p>
        </p:txBody>
      </p:sp>
      <p:sp>
        <p:nvSpPr>
          <p:cNvPr id="22" name="TextBox 21"/>
          <p:cNvSpPr txBox="1"/>
          <p:nvPr/>
        </p:nvSpPr>
        <p:spPr>
          <a:xfrm>
            <a:off x="3436000" y="3421600"/>
            <a:ext cx="1000000" cy="300000"/>
          </a:xfrm>
          <a:prstGeom prst="rect">
            <a:avLst/>
          </a:prstGeom>
          <a:noFill/>
        </p:spPr>
        <p:txBody>
          <a:bodyPr wrap="square" anchor="t">
            <a:spAutoFit/>
          </a:bodyPr>
          <a:lstStyle/>
          <a:p>
            <a:pPr algn="ctr"/>
            <a:r>
              <a:rPr sz="1200" b="1" i="0">
                <a:solidFill>
                  <a:srgbClr val="1E3A5F"/>
                </a:solidFill>
                <a:latin typeface="Inter"/>
              </a:rPr>
              <a:t>4. Improve</a:t>
            </a:r>
          </a:p>
        </p:txBody>
      </p:sp>
      <p:sp>
        <p:nvSpPr>
          <p:cNvPr id="23" name="Rectangle 22"/>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25" name="TextBox 24"/>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Timeline</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85800" y="3371600"/>
            <a:ext cx="10420400" cy="0"/>
          </a:xfrm>
          <a:prstGeom prst="line">
            <a:avLst/>
          </a:prstGeom>
          <a:ln w="9525">
            <a:solidFill>
              <a:srgbClr val="A4AAB3"/>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35800" y="3321600"/>
            <a:ext cx="100000" cy="1000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5800" y="2821600"/>
            <a:ext cx="1200000" cy="350000"/>
          </a:xfrm>
          <a:prstGeom prst="rect">
            <a:avLst/>
          </a:prstGeom>
          <a:noFill/>
        </p:spPr>
        <p:txBody>
          <a:bodyPr wrap="square" anchor="t">
            <a:spAutoFit/>
          </a:bodyPr>
          <a:lstStyle/>
          <a:p>
            <a:pPr algn="ctr"/>
            <a:r>
              <a:rPr sz="1000" b="1" i="0">
                <a:solidFill>
                  <a:srgbClr val="9B2335"/>
                </a:solidFill>
                <a:latin typeface="Inter"/>
              </a:rPr>
              <a:t>Q1 2026</a:t>
            </a:r>
          </a:p>
        </p:txBody>
      </p:sp>
      <p:sp>
        <p:nvSpPr>
          <p:cNvPr id="8" name="TextBox 7"/>
          <p:cNvSpPr txBox="1"/>
          <p:nvPr/>
        </p:nvSpPr>
        <p:spPr>
          <a:xfrm>
            <a:off x="285800" y="3621600"/>
            <a:ext cx="1200000" cy="350000"/>
          </a:xfrm>
          <a:prstGeom prst="rect">
            <a:avLst/>
          </a:prstGeom>
          <a:noFill/>
        </p:spPr>
        <p:txBody>
          <a:bodyPr wrap="square" anchor="t">
            <a:spAutoFit/>
          </a:bodyPr>
          <a:lstStyle/>
          <a:p>
            <a:pPr algn="ctr"/>
            <a:r>
              <a:rPr sz="1200" b="1" i="0">
                <a:solidFill>
                  <a:srgbClr val="1E3A5F"/>
                </a:solidFill>
                <a:latin typeface="Inter"/>
              </a:rPr>
              <a:t>Foundation</a:t>
            </a:r>
          </a:p>
        </p:txBody>
      </p:sp>
      <p:sp>
        <p:nvSpPr>
          <p:cNvPr id="9" name="TextBox 8"/>
          <p:cNvSpPr txBox="1"/>
          <p:nvPr/>
        </p:nvSpPr>
        <p:spPr>
          <a:xfrm>
            <a:off x="285800" y="4001600"/>
            <a:ext cx="1200000" cy="350000"/>
          </a:xfrm>
          <a:prstGeom prst="rect">
            <a:avLst/>
          </a:prstGeom>
          <a:noFill/>
        </p:spPr>
        <p:txBody>
          <a:bodyPr wrap="square" anchor="t">
            <a:spAutoFit/>
          </a:bodyPr>
          <a:lstStyle/>
          <a:p>
            <a:pPr algn="ctr"/>
            <a:r>
              <a:rPr sz="1000" b="0" i="0">
                <a:solidFill>
                  <a:srgbClr val="4A5568"/>
                </a:solidFill>
                <a:latin typeface="Inter"/>
              </a:rPr>
              <a:t>Core platform launch
and team expansion</a:t>
            </a:r>
          </a:p>
        </p:txBody>
      </p:sp>
      <p:sp>
        <p:nvSpPr>
          <p:cNvPr id="10" name="Oval 9"/>
          <p:cNvSpPr/>
          <p:nvPr/>
        </p:nvSpPr>
        <p:spPr>
          <a:xfrm>
            <a:off x="3440900" y="3321600"/>
            <a:ext cx="100000" cy="1000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90900" y="2821600"/>
            <a:ext cx="1200000" cy="350000"/>
          </a:xfrm>
          <a:prstGeom prst="rect">
            <a:avLst/>
          </a:prstGeom>
          <a:noFill/>
        </p:spPr>
        <p:txBody>
          <a:bodyPr wrap="square" anchor="t">
            <a:spAutoFit/>
          </a:bodyPr>
          <a:lstStyle/>
          <a:p>
            <a:pPr algn="ctr"/>
            <a:r>
              <a:rPr sz="1000" b="1" i="0">
                <a:solidFill>
                  <a:srgbClr val="9B2335"/>
                </a:solidFill>
                <a:latin typeface="Inter"/>
              </a:rPr>
              <a:t>Q2 2026</a:t>
            </a:r>
          </a:p>
        </p:txBody>
      </p:sp>
      <p:sp>
        <p:nvSpPr>
          <p:cNvPr id="12" name="TextBox 11"/>
          <p:cNvSpPr txBox="1"/>
          <p:nvPr/>
        </p:nvSpPr>
        <p:spPr>
          <a:xfrm>
            <a:off x="2890900" y="3621600"/>
            <a:ext cx="1200000" cy="350000"/>
          </a:xfrm>
          <a:prstGeom prst="rect">
            <a:avLst/>
          </a:prstGeom>
          <a:noFill/>
        </p:spPr>
        <p:txBody>
          <a:bodyPr wrap="square" anchor="t">
            <a:spAutoFit/>
          </a:bodyPr>
          <a:lstStyle/>
          <a:p>
            <a:pPr algn="ctr"/>
            <a:r>
              <a:rPr sz="1200" b="1" i="0">
                <a:solidFill>
                  <a:srgbClr val="1E3A5F"/>
                </a:solidFill>
                <a:latin typeface="Inter"/>
              </a:rPr>
              <a:t>Growth</a:t>
            </a:r>
          </a:p>
        </p:txBody>
      </p:sp>
      <p:sp>
        <p:nvSpPr>
          <p:cNvPr id="13" name="TextBox 12"/>
          <p:cNvSpPr txBox="1"/>
          <p:nvPr/>
        </p:nvSpPr>
        <p:spPr>
          <a:xfrm>
            <a:off x="2890900" y="4001600"/>
            <a:ext cx="1200000" cy="350000"/>
          </a:xfrm>
          <a:prstGeom prst="rect">
            <a:avLst/>
          </a:prstGeom>
          <a:noFill/>
        </p:spPr>
        <p:txBody>
          <a:bodyPr wrap="square" anchor="t">
            <a:spAutoFit/>
          </a:bodyPr>
          <a:lstStyle/>
          <a:p>
            <a:pPr algn="ctr"/>
            <a:r>
              <a:rPr sz="1000" b="0" i="0">
                <a:solidFill>
                  <a:srgbClr val="4A5568"/>
                </a:solidFill>
                <a:latin typeface="Inter"/>
              </a:rPr>
              <a:t>Market entry into
3 new regions</a:t>
            </a:r>
          </a:p>
        </p:txBody>
      </p:sp>
      <p:sp>
        <p:nvSpPr>
          <p:cNvPr id="14" name="Oval 13"/>
          <p:cNvSpPr/>
          <p:nvPr/>
        </p:nvSpPr>
        <p:spPr>
          <a:xfrm>
            <a:off x="6046000" y="3321600"/>
            <a:ext cx="100000" cy="1000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96000" y="2821600"/>
            <a:ext cx="1200000" cy="350000"/>
          </a:xfrm>
          <a:prstGeom prst="rect">
            <a:avLst/>
          </a:prstGeom>
          <a:noFill/>
        </p:spPr>
        <p:txBody>
          <a:bodyPr wrap="square" anchor="t">
            <a:spAutoFit/>
          </a:bodyPr>
          <a:lstStyle/>
          <a:p>
            <a:pPr algn="ctr"/>
            <a:r>
              <a:rPr sz="1000" b="1" i="0">
                <a:solidFill>
                  <a:srgbClr val="9B2335"/>
                </a:solidFill>
                <a:latin typeface="Inter"/>
              </a:rPr>
              <a:t>Q3 2026</a:t>
            </a:r>
          </a:p>
        </p:txBody>
      </p:sp>
      <p:sp>
        <p:nvSpPr>
          <p:cNvPr id="16" name="TextBox 15"/>
          <p:cNvSpPr txBox="1"/>
          <p:nvPr/>
        </p:nvSpPr>
        <p:spPr>
          <a:xfrm>
            <a:off x="5496000" y="3621600"/>
            <a:ext cx="1200000" cy="350000"/>
          </a:xfrm>
          <a:prstGeom prst="rect">
            <a:avLst/>
          </a:prstGeom>
          <a:noFill/>
        </p:spPr>
        <p:txBody>
          <a:bodyPr wrap="square" anchor="t">
            <a:spAutoFit/>
          </a:bodyPr>
          <a:lstStyle/>
          <a:p>
            <a:pPr algn="ctr"/>
            <a:r>
              <a:rPr sz="1200" b="1" i="0">
                <a:solidFill>
                  <a:srgbClr val="1E3A5F"/>
                </a:solidFill>
                <a:latin typeface="Inter"/>
              </a:rPr>
              <a:t>Scale</a:t>
            </a:r>
          </a:p>
        </p:txBody>
      </p:sp>
      <p:sp>
        <p:nvSpPr>
          <p:cNvPr id="17" name="TextBox 16"/>
          <p:cNvSpPr txBox="1"/>
          <p:nvPr/>
        </p:nvSpPr>
        <p:spPr>
          <a:xfrm>
            <a:off x="5496000" y="4001600"/>
            <a:ext cx="1200000" cy="350000"/>
          </a:xfrm>
          <a:prstGeom prst="rect">
            <a:avLst/>
          </a:prstGeom>
          <a:noFill/>
        </p:spPr>
        <p:txBody>
          <a:bodyPr wrap="square" anchor="t">
            <a:spAutoFit/>
          </a:bodyPr>
          <a:lstStyle/>
          <a:p>
            <a:pPr algn="ctr"/>
            <a:r>
              <a:rPr sz="1000" b="0" i="0">
                <a:solidFill>
                  <a:srgbClr val="4A5568"/>
                </a:solidFill>
                <a:latin typeface="Inter"/>
              </a:rPr>
              <a:t>Enterprise features
and partnerships</a:t>
            </a:r>
          </a:p>
        </p:txBody>
      </p:sp>
      <p:sp>
        <p:nvSpPr>
          <p:cNvPr id="18" name="Oval 17"/>
          <p:cNvSpPr/>
          <p:nvPr/>
        </p:nvSpPr>
        <p:spPr>
          <a:xfrm>
            <a:off x="8651100" y="3321600"/>
            <a:ext cx="100000" cy="1000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100" y="2821600"/>
            <a:ext cx="1200000" cy="350000"/>
          </a:xfrm>
          <a:prstGeom prst="rect">
            <a:avLst/>
          </a:prstGeom>
          <a:noFill/>
        </p:spPr>
        <p:txBody>
          <a:bodyPr wrap="square" anchor="t">
            <a:spAutoFit/>
          </a:bodyPr>
          <a:lstStyle/>
          <a:p>
            <a:pPr algn="ctr"/>
            <a:r>
              <a:rPr sz="1000" b="1" i="0">
                <a:solidFill>
                  <a:srgbClr val="9B2335"/>
                </a:solidFill>
                <a:latin typeface="Inter"/>
              </a:rPr>
              <a:t>Q4 2026</a:t>
            </a:r>
          </a:p>
        </p:txBody>
      </p:sp>
      <p:sp>
        <p:nvSpPr>
          <p:cNvPr id="20" name="TextBox 19"/>
          <p:cNvSpPr txBox="1"/>
          <p:nvPr/>
        </p:nvSpPr>
        <p:spPr>
          <a:xfrm>
            <a:off x="8101100" y="3621600"/>
            <a:ext cx="1200000" cy="350000"/>
          </a:xfrm>
          <a:prstGeom prst="rect">
            <a:avLst/>
          </a:prstGeom>
          <a:noFill/>
        </p:spPr>
        <p:txBody>
          <a:bodyPr wrap="square" anchor="t">
            <a:spAutoFit/>
          </a:bodyPr>
          <a:lstStyle/>
          <a:p>
            <a:pPr algn="ctr"/>
            <a:r>
              <a:rPr sz="1200" b="1" i="0">
                <a:solidFill>
                  <a:srgbClr val="1E3A5F"/>
                </a:solidFill>
                <a:latin typeface="Inter"/>
              </a:rPr>
              <a:t>Optimize</a:t>
            </a:r>
          </a:p>
        </p:txBody>
      </p:sp>
      <p:sp>
        <p:nvSpPr>
          <p:cNvPr id="21" name="TextBox 20"/>
          <p:cNvSpPr txBox="1"/>
          <p:nvPr/>
        </p:nvSpPr>
        <p:spPr>
          <a:xfrm>
            <a:off x="8101100" y="4001600"/>
            <a:ext cx="1200000" cy="350000"/>
          </a:xfrm>
          <a:prstGeom prst="rect">
            <a:avLst/>
          </a:prstGeom>
          <a:noFill/>
        </p:spPr>
        <p:txBody>
          <a:bodyPr wrap="square" anchor="t">
            <a:spAutoFit/>
          </a:bodyPr>
          <a:lstStyle/>
          <a:p>
            <a:pPr algn="ctr"/>
            <a:r>
              <a:rPr sz="1000" b="0" i="0">
                <a:solidFill>
                  <a:srgbClr val="4A5568"/>
                </a:solidFill>
                <a:latin typeface="Inter"/>
              </a:rPr>
              <a:t>Process refinement
and cost reduction</a:t>
            </a:r>
          </a:p>
        </p:txBody>
      </p:sp>
      <p:sp>
        <p:nvSpPr>
          <p:cNvPr id="22" name="Oval 21"/>
          <p:cNvSpPr/>
          <p:nvPr/>
        </p:nvSpPr>
        <p:spPr>
          <a:xfrm>
            <a:off x="11256200" y="3321600"/>
            <a:ext cx="100000" cy="1000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706200" y="2821600"/>
            <a:ext cx="1200000" cy="350000"/>
          </a:xfrm>
          <a:prstGeom prst="rect">
            <a:avLst/>
          </a:prstGeom>
          <a:noFill/>
        </p:spPr>
        <p:txBody>
          <a:bodyPr wrap="square" anchor="t">
            <a:spAutoFit/>
          </a:bodyPr>
          <a:lstStyle/>
          <a:p>
            <a:pPr algn="ctr"/>
            <a:r>
              <a:rPr sz="1000" b="1" i="0">
                <a:solidFill>
                  <a:srgbClr val="9B2335"/>
                </a:solidFill>
                <a:latin typeface="Inter"/>
              </a:rPr>
              <a:t>Q1 2027</a:t>
            </a:r>
          </a:p>
        </p:txBody>
      </p:sp>
      <p:sp>
        <p:nvSpPr>
          <p:cNvPr id="24" name="TextBox 23"/>
          <p:cNvSpPr txBox="1"/>
          <p:nvPr/>
        </p:nvSpPr>
        <p:spPr>
          <a:xfrm>
            <a:off x="10706200" y="3621600"/>
            <a:ext cx="1200000" cy="350000"/>
          </a:xfrm>
          <a:prstGeom prst="rect">
            <a:avLst/>
          </a:prstGeom>
          <a:noFill/>
        </p:spPr>
        <p:txBody>
          <a:bodyPr wrap="square" anchor="t">
            <a:spAutoFit/>
          </a:bodyPr>
          <a:lstStyle/>
          <a:p>
            <a:pPr algn="ctr"/>
            <a:r>
              <a:rPr sz="1200" b="1" i="0">
                <a:solidFill>
                  <a:srgbClr val="1E3A5F"/>
                </a:solidFill>
                <a:latin typeface="Inter"/>
              </a:rPr>
              <a:t>Expand</a:t>
            </a:r>
          </a:p>
        </p:txBody>
      </p:sp>
      <p:sp>
        <p:nvSpPr>
          <p:cNvPr id="25" name="TextBox 24"/>
          <p:cNvSpPr txBox="1"/>
          <p:nvPr/>
        </p:nvSpPr>
        <p:spPr>
          <a:xfrm>
            <a:off x="10706200" y="4001600"/>
            <a:ext cx="1200000" cy="350000"/>
          </a:xfrm>
          <a:prstGeom prst="rect">
            <a:avLst/>
          </a:prstGeom>
          <a:noFill/>
        </p:spPr>
        <p:txBody>
          <a:bodyPr wrap="square" anchor="t">
            <a:spAutoFit/>
          </a:bodyPr>
          <a:lstStyle/>
          <a:p>
            <a:pPr algn="ctr"/>
            <a:r>
              <a:rPr sz="1000" b="0" i="0">
                <a:solidFill>
                  <a:srgbClr val="4A5568"/>
                </a:solidFill>
                <a:latin typeface="Inter"/>
              </a:rPr>
              <a:t>International rollout
and M&amp;A targets</a:t>
            </a:r>
          </a:p>
        </p:txBody>
      </p:sp>
      <p:cxnSp>
        <p:nvCxnSpPr>
          <p:cNvPr id="26" name="Connector 25"/>
          <p:cNvCxnSpPr/>
          <p:nvPr/>
        </p:nvCxnSpPr>
        <p:spPr>
          <a:xfrm>
            <a:off x="685800" y="6050800"/>
            <a:ext cx="108204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29" name="TextBox 28"/>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Conversion Funnel</a:t>
            </a:r>
          </a:p>
        </p:txBody>
      </p:sp>
      <p:cxnSp>
        <p:nvCxnSpPr>
          <p:cNvPr id="3" name="Connector 2"/>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91540" y="1451600"/>
            <a:ext cx="10408920" cy="280000"/>
          </a:xfrm>
          <a:prstGeom prst="rect">
            <a:avLst/>
          </a:prstGeom>
          <a:noFill/>
        </p:spPr>
        <p:txBody>
          <a:bodyPr wrap="square" anchor="t">
            <a:spAutoFit/>
          </a:bodyPr>
          <a:lstStyle/>
          <a:p>
            <a:pPr algn="ctr"/>
            <a:r>
              <a:rPr sz="1100" b="0" i="1">
                <a:solidFill>
                  <a:srgbClr val="4A5568"/>
                </a:solidFill>
                <a:latin typeface="Inter"/>
              </a:rPr>
              <a:t>Figure 1: Conversion Funnel Analysis</a:t>
            </a:r>
          </a:p>
        </p:txBody>
      </p:sp>
      <p:cxnSp>
        <p:nvCxnSpPr>
          <p:cNvPr id="5" name="Connector 4"/>
          <p:cNvCxnSpPr/>
          <p:nvPr/>
        </p:nvCxnSpPr>
        <p:spPr>
          <a:xfrm>
            <a:off x="2391540" y="1781600"/>
            <a:ext cx="740892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2091540" y="1831600"/>
            <a:ext cx="8008920" cy="530000"/>
          </a:xfrm>
          <a:prstGeom prst="rect">
            <a:avLst/>
          </a:prstGeom>
          <a:solidFill>
            <a:srgbClr val="F7E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91540" y="1841600"/>
            <a:ext cx="8008920" cy="220000"/>
          </a:xfrm>
          <a:prstGeom prst="rect">
            <a:avLst/>
          </a:prstGeom>
          <a:noFill/>
        </p:spPr>
        <p:txBody>
          <a:bodyPr wrap="square" anchor="t">
            <a:spAutoFit/>
          </a:bodyPr>
          <a:lstStyle/>
          <a:p>
            <a:pPr algn="ctr"/>
            <a:r>
              <a:rPr sz="1300" b="1" i="0">
                <a:solidFill>
                  <a:srgbClr val="1E3A5F"/>
                </a:solidFill>
                <a:latin typeface="Inter"/>
              </a:rPr>
              <a:t>Awareness</a:t>
            </a:r>
          </a:p>
        </p:txBody>
      </p:sp>
      <p:sp>
        <p:nvSpPr>
          <p:cNvPr id="8" name="TextBox 7"/>
          <p:cNvSpPr txBox="1"/>
          <p:nvPr/>
        </p:nvSpPr>
        <p:spPr>
          <a:xfrm>
            <a:off x="2091540" y="2030600"/>
            <a:ext cx="8008920" cy="192500"/>
          </a:xfrm>
          <a:prstGeom prst="rect">
            <a:avLst/>
          </a:prstGeom>
          <a:noFill/>
        </p:spPr>
        <p:txBody>
          <a:bodyPr wrap="square" anchor="t">
            <a:spAutoFit/>
          </a:bodyPr>
          <a:lstStyle/>
          <a:p>
            <a:pPr algn="ctr"/>
            <a:r>
              <a:rPr sz="1100" b="0" i="0">
                <a:solidFill>
                  <a:srgbClr val="9B2335"/>
                </a:solidFill>
                <a:latin typeface="Inter"/>
              </a:rPr>
              <a:t>n = 10,000</a:t>
            </a:r>
          </a:p>
        </p:txBody>
      </p:sp>
      <p:sp>
        <p:nvSpPr>
          <p:cNvPr id="9" name="TextBox 8"/>
          <p:cNvSpPr txBox="1"/>
          <p:nvPr/>
        </p:nvSpPr>
        <p:spPr>
          <a:xfrm>
            <a:off x="2091540" y="2195600"/>
            <a:ext cx="8008920" cy="154000"/>
          </a:xfrm>
          <a:prstGeom prst="rect">
            <a:avLst/>
          </a:prstGeom>
          <a:noFill/>
        </p:spPr>
        <p:txBody>
          <a:bodyPr wrap="square" anchor="t">
            <a:spAutoFit/>
          </a:bodyPr>
          <a:lstStyle/>
          <a:p>
            <a:pPr algn="ctr"/>
            <a:r>
              <a:rPr sz="900" b="0" i="1">
                <a:solidFill>
                  <a:srgbClr val="4A5568"/>
                </a:solidFill>
                <a:latin typeface="Inter"/>
              </a:rPr>
              <a:t>Total market reach</a:t>
            </a:r>
          </a:p>
        </p:txBody>
      </p:sp>
      <p:cxnSp>
        <p:nvCxnSpPr>
          <p:cNvPr id="10" name="Connector 9"/>
          <p:cNvCxnSpPr/>
          <p:nvPr/>
        </p:nvCxnSpPr>
        <p:spPr>
          <a:xfrm>
            <a:off x="2492097" y="2371600"/>
            <a:ext cx="7207805" cy="0"/>
          </a:xfrm>
          <a:prstGeom prst="line">
            <a:avLst/>
          </a:prstGeom>
          <a:ln w="6350">
            <a:solidFill>
              <a:srgbClr val="D1D4D9"/>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92097" y="2381600"/>
            <a:ext cx="7007805" cy="530000"/>
          </a:xfrm>
          <a:prstGeom prst="rect">
            <a:avLst/>
          </a:prstGeom>
          <a:solidFill>
            <a:srgbClr val="F7E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92097" y="2391600"/>
            <a:ext cx="7007805" cy="220000"/>
          </a:xfrm>
          <a:prstGeom prst="rect">
            <a:avLst/>
          </a:prstGeom>
          <a:noFill/>
        </p:spPr>
        <p:txBody>
          <a:bodyPr wrap="square" anchor="t">
            <a:spAutoFit/>
          </a:bodyPr>
          <a:lstStyle/>
          <a:p>
            <a:pPr algn="ctr"/>
            <a:r>
              <a:rPr sz="1300" b="1" i="0">
                <a:solidFill>
                  <a:srgbClr val="1E3A5F"/>
                </a:solidFill>
                <a:latin typeface="Inter"/>
              </a:rPr>
              <a:t>Interest</a:t>
            </a:r>
          </a:p>
        </p:txBody>
      </p:sp>
      <p:sp>
        <p:nvSpPr>
          <p:cNvPr id="13" name="TextBox 12"/>
          <p:cNvSpPr txBox="1"/>
          <p:nvPr/>
        </p:nvSpPr>
        <p:spPr>
          <a:xfrm>
            <a:off x="2592097" y="2580600"/>
            <a:ext cx="7007805" cy="192500"/>
          </a:xfrm>
          <a:prstGeom prst="rect">
            <a:avLst/>
          </a:prstGeom>
          <a:noFill/>
        </p:spPr>
        <p:txBody>
          <a:bodyPr wrap="square" anchor="t">
            <a:spAutoFit/>
          </a:bodyPr>
          <a:lstStyle/>
          <a:p>
            <a:pPr algn="ctr"/>
            <a:r>
              <a:rPr sz="1100" b="0" i="0">
                <a:solidFill>
                  <a:srgbClr val="9B2335"/>
                </a:solidFill>
                <a:latin typeface="Inter"/>
              </a:rPr>
              <a:t>n = 5,200</a:t>
            </a:r>
          </a:p>
        </p:txBody>
      </p:sp>
      <p:sp>
        <p:nvSpPr>
          <p:cNvPr id="14" name="TextBox 13"/>
          <p:cNvSpPr txBox="1"/>
          <p:nvPr/>
        </p:nvSpPr>
        <p:spPr>
          <a:xfrm>
            <a:off x="2592097" y="2745600"/>
            <a:ext cx="7007805" cy="154000"/>
          </a:xfrm>
          <a:prstGeom prst="rect">
            <a:avLst/>
          </a:prstGeom>
          <a:noFill/>
        </p:spPr>
        <p:txBody>
          <a:bodyPr wrap="square" anchor="t">
            <a:spAutoFit/>
          </a:bodyPr>
          <a:lstStyle/>
          <a:p>
            <a:pPr algn="ctr"/>
            <a:r>
              <a:rPr sz="900" b="0" i="1">
                <a:solidFill>
                  <a:srgbClr val="4A5568"/>
                </a:solidFill>
                <a:latin typeface="Inter"/>
              </a:rPr>
              <a:t>Engaged prospects</a:t>
            </a:r>
          </a:p>
        </p:txBody>
      </p:sp>
      <p:cxnSp>
        <p:nvCxnSpPr>
          <p:cNvPr id="15" name="Connector 14"/>
          <p:cNvCxnSpPr/>
          <p:nvPr/>
        </p:nvCxnSpPr>
        <p:spPr>
          <a:xfrm>
            <a:off x="2992655" y="2921600"/>
            <a:ext cx="6206690" cy="0"/>
          </a:xfrm>
          <a:prstGeom prst="line">
            <a:avLst/>
          </a:prstGeom>
          <a:ln w="6350">
            <a:solidFill>
              <a:srgbClr val="D1D4D9"/>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3092655" y="2931600"/>
            <a:ext cx="6006690" cy="530000"/>
          </a:xfrm>
          <a:prstGeom prst="rect">
            <a:avLst/>
          </a:prstGeom>
          <a:solidFill>
            <a:srgbClr val="F7E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92655" y="2941600"/>
            <a:ext cx="6006690" cy="220000"/>
          </a:xfrm>
          <a:prstGeom prst="rect">
            <a:avLst/>
          </a:prstGeom>
          <a:noFill/>
        </p:spPr>
        <p:txBody>
          <a:bodyPr wrap="square" anchor="t">
            <a:spAutoFit/>
          </a:bodyPr>
          <a:lstStyle/>
          <a:p>
            <a:pPr algn="ctr"/>
            <a:r>
              <a:rPr sz="1300" b="1" i="0">
                <a:solidFill>
                  <a:srgbClr val="1E3A5F"/>
                </a:solidFill>
                <a:latin typeface="Inter"/>
              </a:rPr>
              <a:t>Consideration</a:t>
            </a:r>
          </a:p>
        </p:txBody>
      </p:sp>
      <p:sp>
        <p:nvSpPr>
          <p:cNvPr id="18" name="TextBox 17"/>
          <p:cNvSpPr txBox="1"/>
          <p:nvPr/>
        </p:nvSpPr>
        <p:spPr>
          <a:xfrm>
            <a:off x="3092655" y="3130600"/>
            <a:ext cx="6006690" cy="192500"/>
          </a:xfrm>
          <a:prstGeom prst="rect">
            <a:avLst/>
          </a:prstGeom>
          <a:noFill/>
        </p:spPr>
        <p:txBody>
          <a:bodyPr wrap="square" anchor="t">
            <a:spAutoFit/>
          </a:bodyPr>
          <a:lstStyle/>
          <a:p>
            <a:pPr algn="ctr"/>
            <a:r>
              <a:rPr sz="1100" b="0" i="0">
                <a:solidFill>
                  <a:srgbClr val="9B2335"/>
                </a:solidFill>
                <a:latin typeface="Inter"/>
              </a:rPr>
              <a:t>n = 2,800</a:t>
            </a:r>
          </a:p>
        </p:txBody>
      </p:sp>
      <p:sp>
        <p:nvSpPr>
          <p:cNvPr id="19" name="TextBox 18"/>
          <p:cNvSpPr txBox="1"/>
          <p:nvPr/>
        </p:nvSpPr>
        <p:spPr>
          <a:xfrm>
            <a:off x="3092655" y="3295600"/>
            <a:ext cx="6006690" cy="154000"/>
          </a:xfrm>
          <a:prstGeom prst="rect">
            <a:avLst/>
          </a:prstGeom>
          <a:noFill/>
        </p:spPr>
        <p:txBody>
          <a:bodyPr wrap="square" anchor="t">
            <a:spAutoFit/>
          </a:bodyPr>
          <a:lstStyle/>
          <a:p>
            <a:pPr algn="ctr"/>
            <a:r>
              <a:rPr sz="900" b="0" i="1">
                <a:solidFill>
                  <a:srgbClr val="4A5568"/>
                </a:solidFill>
                <a:latin typeface="Inter"/>
              </a:rPr>
              <a:t>Qualified leads</a:t>
            </a:r>
          </a:p>
        </p:txBody>
      </p:sp>
      <p:cxnSp>
        <p:nvCxnSpPr>
          <p:cNvPr id="20" name="Connector 19"/>
          <p:cNvCxnSpPr/>
          <p:nvPr/>
        </p:nvCxnSpPr>
        <p:spPr>
          <a:xfrm>
            <a:off x="3493212" y="3471600"/>
            <a:ext cx="5205575" cy="0"/>
          </a:xfrm>
          <a:prstGeom prst="line">
            <a:avLst/>
          </a:prstGeom>
          <a:ln w="6350">
            <a:solidFill>
              <a:srgbClr val="D1D4D9"/>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593212" y="3481600"/>
            <a:ext cx="5005575" cy="530000"/>
          </a:xfrm>
          <a:prstGeom prst="rect">
            <a:avLst/>
          </a:prstGeom>
          <a:solidFill>
            <a:srgbClr val="F7E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93212" y="3491600"/>
            <a:ext cx="5005575" cy="220000"/>
          </a:xfrm>
          <a:prstGeom prst="rect">
            <a:avLst/>
          </a:prstGeom>
          <a:noFill/>
        </p:spPr>
        <p:txBody>
          <a:bodyPr wrap="square" anchor="t">
            <a:spAutoFit/>
          </a:bodyPr>
          <a:lstStyle/>
          <a:p>
            <a:pPr algn="ctr"/>
            <a:r>
              <a:rPr sz="1300" b="1" i="0">
                <a:solidFill>
                  <a:srgbClr val="1E3A5F"/>
                </a:solidFill>
                <a:latin typeface="Inter"/>
              </a:rPr>
              <a:t>Intent</a:t>
            </a:r>
          </a:p>
        </p:txBody>
      </p:sp>
      <p:sp>
        <p:nvSpPr>
          <p:cNvPr id="23" name="TextBox 22"/>
          <p:cNvSpPr txBox="1"/>
          <p:nvPr/>
        </p:nvSpPr>
        <p:spPr>
          <a:xfrm>
            <a:off x="3593212" y="3680600"/>
            <a:ext cx="5005575" cy="192500"/>
          </a:xfrm>
          <a:prstGeom prst="rect">
            <a:avLst/>
          </a:prstGeom>
          <a:noFill/>
        </p:spPr>
        <p:txBody>
          <a:bodyPr wrap="square" anchor="t">
            <a:spAutoFit/>
          </a:bodyPr>
          <a:lstStyle/>
          <a:p>
            <a:pPr algn="ctr"/>
            <a:r>
              <a:rPr sz="1100" b="0" i="0">
                <a:solidFill>
                  <a:srgbClr val="9B2335"/>
                </a:solidFill>
                <a:latin typeface="Inter"/>
              </a:rPr>
              <a:t>n = 1,400</a:t>
            </a:r>
          </a:p>
        </p:txBody>
      </p:sp>
      <p:sp>
        <p:nvSpPr>
          <p:cNvPr id="24" name="TextBox 23"/>
          <p:cNvSpPr txBox="1"/>
          <p:nvPr/>
        </p:nvSpPr>
        <p:spPr>
          <a:xfrm>
            <a:off x="3593212" y="3845600"/>
            <a:ext cx="5005575" cy="154000"/>
          </a:xfrm>
          <a:prstGeom prst="rect">
            <a:avLst/>
          </a:prstGeom>
          <a:noFill/>
        </p:spPr>
        <p:txBody>
          <a:bodyPr wrap="square" anchor="t">
            <a:spAutoFit/>
          </a:bodyPr>
          <a:lstStyle/>
          <a:p>
            <a:pPr algn="ctr"/>
            <a:r>
              <a:rPr sz="900" b="0" i="1">
                <a:solidFill>
                  <a:srgbClr val="4A5568"/>
                </a:solidFill>
                <a:latin typeface="Inter"/>
              </a:rPr>
              <a:t>Sales pipeline</a:t>
            </a:r>
          </a:p>
        </p:txBody>
      </p:sp>
      <p:cxnSp>
        <p:nvCxnSpPr>
          <p:cNvPr id="25" name="Connector 24"/>
          <p:cNvCxnSpPr/>
          <p:nvPr/>
        </p:nvCxnSpPr>
        <p:spPr>
          <a:xfrm>
            <a:off x="3993770" y="4021600"/>
            <a:ext cx="4204460" cy="0"/>
          </a:xfrm>
          <a:prstGeom prst="line">
            <a:avLst/>
          </a:prstGeom>
          <a:ln w="6350">
            <a:solidFill>
              <a:srgbClr val="D1D4D9"/>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093770" y="4031600"/>
            <a:ext cx="4004460" cy="530000"/>
          </a:xfrm>
          <a:prstGeom prst="rect">
            <a:avLst/>
          </a:prstGeom>
          <a:solidFill>
            <a:srgbClr val="F7E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93770" y="4041600"/>
            <a:ext cx="4004460" cy="220000"/>
          </a:xfrm>
          <a:prstGeom prst="rect">
            <a:avLst/>
          </a:prstGeom>
          <a:noFill/>
        </p:spPr>
        <p:txBody>
          <a:bodyPr wrap="square" anchor="t">
            <a:spAutoFit/>
          </a:bodyPr>
          <a:lstStyle/>
          <a:p>
            <a:pPr algn="ctr"/>
            <a:r>
              <a:rPr sz="1300" b="1" i="0">
                <a:solidFill>
                  <a:srgbClr val="1E3A5F"/>
                </a:solidFill>
                <a:latin typeface="Inter"/>
              </a:rPr>
              <a:t>Purchase</a:t>
            </a:r>
          </a:p>
        </p:txBody>
      </p:sp>
      <p:sp>
        <p:nvSpPr>
          <p:cNvPr id="28" name="TextBox 27"/>
          <p:cNvSpPr txBox="1"/>
          <p:nvPr/>
        </p:nvSpPr>
        <p:spPr>
          <a:xfrm>
            <a:off x="4093770" y="4230600"/>
            <a:ext cx="4004460" cy="192500"/>
          </a:xfrm>
          <a:prstGeom prst="rect">
            <a:avLst/>
          </a:prstGeom>
          <a:noFill/>
        </p:spPr>
        <p:txBody>
          <a:bodyPr wrap="square" anchor="t">
            <a:spAutoFit/>
          </a:bodyPr>
          <a:lstStyle/>
          <a:p>
            <a:pPr algn="ctr"/>
            <a:r>
              <a:rPr sz="1100" b="0" i="0">
                <a:solidFill>
                  <a:srgbClr val="9B2335"/>
                </a:solidFill>
                <a:latin typeface="Inter"/>
              </a:rPr>
              <a:t>n = 680</a:t>
            </a:r>
          </a:p>
        </p:txBody>
      </p:sp>
      <p:sp>
        <p:nvSpPr>
          <p:cNvPr id="29" name="TextBox 28"/>
          <p:cNvSpPr txBox="1"/>
          <p:nvPr/>
        </p:nvSpPr>
        <p:spPr>
          <a:xfrm>
            <a:off x="4093770" y="4395600"/>
            <a:ext cx="4004460" cy="154000"/>
          </a:xfrm>
          <a:prstGeom prst="rect">
            <a:avLst/>
          </a:prstGeom>
          <a:noFill/>
        </p:spPr>
        <p:txBody>
          <a:bodyPr wrap="square" anchor="t">
            <a:spAutoFit/>
          </a:bodyPr>
          <a:lstStyle/>
          <a:p>
            <a:pPr algn="ctr"/>
            <a:r>
              <a:rPr sz="900" b="0" i="1">
                <a:solidFill>
                  <a:srgbClr val="4A5568"/>
                </a:solidFill>
                <a:latin typeface="Inter"/>
              </a:rPr>
              <a:t>Converted customers</a:t>
            </a:r>
          </a:p>
        </p:txBody>
      </p:sp>
      <p:cxnSp>
        <p:nvCxnSpPr>
          <p:cNvPr id="30" name="Connector 29"/>
          <p:cNvCxnSpPr/>
          <p:nvPr/>
        </p:nvCxnSpPr>
        <p:spPr>
          <a:xfrm>
            <a:off x="2391540" y="4591600"/>
            <a:ext cx="740892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91540" y="4651600"/>
            <a:ext cx="10408920" cy="250000"/>
          </a:xfrm>
          <a:prstGeom prst="rect">
            <a:avLst/>
          </a:prstGeom>
          <a:noFill/>
        </p:spPr>
        <p:txBody>
          <a:bodyPr wrap="square" anchor="t">
            <a:spAutoFit/>
          </a:bodyPr>
          <a:lstStyle/>
          <a:p>
            <a:pPr algn="ctr"/>
            <a:r>
              <a:rPr sz="800" b="0" i="1">
                <a:solidFill>
                  <a:srgbClr val="808895"/>
                </a:solidFill>
                <a:latin typeface="Inter"/>
              </a:rPr>
              <a:t>Source: Internal analytics pipeline. Conversion rates calculated quarterly.</a:t>
            </a:r>
          </a:p>
        </p:txBody>
      </p:sp>
      <p:sp>
        <p:nvSpPr>
          <p:cNvPr id="32" name="Rectangle 31"/>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34" name="TextBox 33"/>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Strategic Hierarchy</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91540" y="1271600"/>
            <a:ext cx="10408920" cy="300000"/>
          </a:xfrm>
          <a:prstGeom prst="rect">
            <a:avLst/>
          </a:prstGeom>
          <a:noFill/>
        </p:spPr>
        <p:txBody>
          <a:bodyPr wrap="square" anchor="t">
            <a:spAutoFit/>
          </a:bodyPr>
          <a:lstStyle/>
          <a:p>
            <a:pPr algn="ctr"/>
            <a:r>
              <a:rPr sz="1100" b="0" i="1">
                <a:solidFill>
                  <a:srgbClr val="4A5568"/>
                </a:solidFill>
                <a:latin typeface="Inter"/>
              </a:rPr>
              <a:t>Figure 1: Organisational Hierarchy Framework</a:t>
            </a:r>
          </a:p>
        </p:txBody>
      </p:sp>
      <p:cxnSp>
        <p:nvCxnSpPr>
          <p:cNvPr id="6" name="Connector 5"/>
          <p:cNvCxnSpPr/>
          <p:nvPr/>
        </p:nvCxnSpPr>
        <p:spPr>
          <a:xfrm>
            <a:off x="2626360" y="1621600"/>
            <a:ext cx="6939280" cy="0"/>
          </a:xfrm>
          <a:prstGeom prst="line">
            <a:avLst/>
          </a:prstGeom>
          <a:ln w="9525">
            <a:solidFill>
              <a:srgbClr val="C8CCD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924997" y="1701600"/>
            <a:ext cx="2342007" cy="334336"/>
          </a:xfrm>
          <a:prstGeom prst="rect">
            <a:avLst/>
          </a:prstGeom>
          <a:noFill/>
        </p:spPr>
        <p:txBody>
          <a:bodyPr wrap="square" anchor="b">
            <a:spAutoFit/>
          </a:bodyPr>
          <a:lstStyle/>
          <a:p>
            <a:pPr algn="ctr"/>
            <a:r>
              <a:rPr sz="1300" b="1" i="0">
                <a:solidFill>
                  <a:srgbClr val="1E3A5F"/>
                </a:solidFill>
                <a:latin typeface="Inter"/>
              </a:rPr>
              <a:t>1. Vision</a:t>
            </a:r>
          </a:p>
        </p:txBody>
      </p:sp>
      <p:sp>
        <p:nvSpPr>
          <p:cNvPr id="8" name="TextBox 7"/>
          <p:cNvSpPr txBox="1"/>
          <p:nvPr/>
        </p:nvSpPr>
        <p:spPr>
          <a:xfrm>
            <a:off x="4924997" y="2055936"/>
            <a:ext cx="2342007" cy="334336"/>
          </a:xfrm>
          <a:prstGeom prst="rect">
            <a:avLst/>
          </a:prstGeom>
          <a:noFill/>
        </p:spPr>
        <p:txBody>
          <a:bodyPr wrap="square" anchor="t">
            <a:spAutoFit/>
          </a:bodyPr>
          <a:lstStyle/>
          <a:p>
            <a:pPr algn="ctr"/>
            <a:r>
              <a:rPr sz="1100" b="0" i="0">
                <a:solidFill>
                  <a:srgbClr val="4A5568"/>
                </a:solidFill>
                <a:latin typeface="Inter"/>
              </a:rPr>
              <a:t>Long-term aspirational goal</a:t>
            </a:r>
          </a:p>
        </p:txBody>
      </p:sp>
      <p:cxnSp>
        <p:nvCxnSpPr>
          <p:cNvPr id="9" name="Connector 8"/>
          <p:cNvCxnSpPr/>
          <p:nvPr/>
        </p:nvCxnSpPr>
        <p:spPr>
          <a:xfrm>
            <a:off x="5393398" y="2517440"/>
            <a:ext cx="1405204"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241912" y="2537440"/>
            <a:ext cx="3708177" cy="334336"/>
          </a:xfrm>
          <a:prstGeom prst="rect">
            <a:avLst/>
          </a:prstGeom>
          <a:noFill/>
        </p:spPr>
        <p:txBody>
          <a:bodyPr wrap="square" anchor="b">
            <a:spAutoFit/>
          </a:bodyPr>
          <a:lstStyle/>
          <a:p>
            <a:pPr algn="ctr"/>
            <a:r>
              <a:rPr sz="1300" b="1" i="0">
                <a:solidFill>
                  <a:srgbClr val="1E3A5F"/>
                </a:solidFill>
                <a:latin typeface="Inter"/>
              </a:rPr>
              <a:t>2. Strategy</a:t>
            </a:r>
          </a:p>
        </p:txBody>
      </p:sp>
      <p:sp>
        <p:nvSpPr>
          <p:cNvPr id="11" name="TextBox 10"/>
          <p:cNvSpPr txBox="1"/>
          <p:nvPr/>
        </p:nvSpPr>
        <p:spPr>
          <a:xfrm>
            <a:off x="4241912" y="2891776"/>
            <a:ext cx="3708177" cy="334336"/>
          </a:xfrm>
          <a:prstGeom prst="rect">
            <a:avLst/>
          </a:prstGeom>
          <a:noFill/>
        </p:spPr>
        <p:txBody>
          <a:bodyPr wrap="square" anchor="t">
            <a:spAutoFit/>
          </a:bodyPr>
          <a:lstStyle/>
          <a:p>
            <a:pPr algn="ctr"/>
            <a:r>
              <a:rPr sz="1100" b="0" i="0">
                <a:solidFill>
                  <a:srgbClr val="4A5568"/>
                </a:solidFill>
                <a:latin typeface="Inter"/>
              </a:rPr>
              <a:t>Multi-year plan to achieve vision</a:t>
            </a:r>
          </a:p>
        </p:txBody>
      </p:sp>
      <p:cxnSp>
        <p:nvCxnSpPr>
          <p:cNvPr id="12" name="Connector 11"/>
          <p:cNvCxnSpPr/>
          <p:nvPr/>
        </p:nvCxnSpPr>
        <p:spPr>
          <a:xfrm>
            <a:off x="4983547" y="3353280"/>
            <a:ext cx="2224906"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558826" y="3373280"/>
            <a:ext cx="5074348" cy="334336"/>
          </a:xfrm>
          <a:prstGeom prst="rect">
            <a:avLst/>
          </a:prstGeom>
          <a:noFill/>
        </p:spPr>
        <p:txBody>
          <a:bodyPr wrap="square" anchor="b">
            <a:spAutoFit/>
          </a:bodyPr>
          <a:lstStyle/>
          <a:p>
            <a:pPr algn="ctr"/>
            <a:r>
              <a:rPr sz="1300" b="1" i="0">
                <a:solidFill>
                  <a:srgbClr val="1E3A5F"/>
                </a:solidFill>
                <a:latin typeface="Inter"/>
              </a:rPr>
              <a:t>3. Objectives</a:t>
            </a:r>
          </a:p>
        </p:txBody>
      </p:sp>
      <p:sp>
        <p:nvSpPr>
          <p:cNvPr id="14" name="TextBox 13"/>
          <p:cNvSpPr txBox="1"/>
          <p:nvPr/>
        </p:nvSpPr>
        <p:spPr>
          <a:xfrm>
            <a:off x="3558826" y="3727616"/>
            <a:ext cx="5074348" cy="334336"/>
          </a:xfrm>
          <a:prstGeom prst="rect">
            <a:avLst/>
          </a:prstGeom>
          <a:noFill/>
        </p:spPr>
        <p:txBody>
          <a:bodyPr wrap="square" anchor="t">
            <a:spAutoFit/>
          </a:bodyPr>
          <a:lstStyle/>
          <a:p>
            <a:pPr algn="ctr"/>
            <a:r>
              <a:rPr sz="1100" b="0" i="0">
                <a:solidFill>
                  <a:srgbClr val="4A5568"/>
                </a:solidFill>
                <a:latin typeface="Inter"/>
              </a:rPr>
              <a:t>Measurable annual targets</a:t>
            </a:r>
          </a:p>
        </p:txBody>
      </p:sp>
      <p:cxnSp>
        <p:nvCxnSpPr>
          <p:cNvPr id="15" name="Connector 14"/>
          <p:cNvCxnSpPr/>
          <p:nvPr/>
        </p:nvCxnSpPr>
        <p:spPr>
          <a:xfrm>
            <a:off x="4573696" y="4189120"/>
            <a:ext cx="3044608"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875741" y="4209120"/>
            <a:ext cx="6440519" cy="334336"/>
          </a:xfrm>
          <a:prstGeom prst="rect">
            <a:avLst/>
          </a:prstGeom>
          <a:noFill/>
        </p:spPr>
        <p:txBody>
          <a:bodyPr wrap="square" anchor="b">
            <a:spAutoFit/>
          </a:bodyPr>
          <a:lstStyle/>
          <a:p>
            <a:pPr algn="ctr"/>
            <a:r>
              <a:rPr sz="1300" b="1" i="0">
                <a:solidFill>
                  <a:srgbClr val="1E3A5F"/>
                </a:solidFill>
                <a:latin typeface="Inter"/>
              </a:rPr>
              <a:t>4. Tactics</a:t>
            </a:r>
          </a:p>
        </p:txBody>
      </p:sp>
      <p:sp>
        <p:nvSpPr>
          <p:cNvPr id="17" name="TextBox 16"/>
          <p:cNvSpPr txBox="1"/>
          <p:nvPr/>
        </p:nvSpPr>
        <p:spPr>
          <a:xfrm>
            <a:off x="2875741" y="4563456"/>
            <a:ext cx="6440519" cy="334336"/>
          </a:xfrm>
          <a:prstGeom prst="rect">
            <a:avLst/>
          </a:prstGeom>
          <a:noFill/>
        </p:spPr>
        <p:txBody>
          <a:bodyPr wrap="square" anchor="t">
            <a:spAutoFit/>
          </a:bodyPr>
          <a:lstStyle/>
          <a:p>
            <a:pPr algn="ctr"/>
            <a:r>
              <a:rPr sz="1100" b="0" i="0">
                <a:solidFill>
                  <a:srgbClr val="4A5568"/>
                </a:solidFill>
                <a:latin typeface="Inter"/>
              </a:rPr>
              <a:t>Quarterly action plans</a:t>
            </a:r>
          </a:p>
        </p:txBody>
      </p:sp>
      <p:cxnSp>
        <p:nvCxnSpPr>
          <p:cNvPr id="18" name="Connector 17"/>
          <p:cNvCxnSpPr/>
          <p:nvPr/>
        </p:nvCxnSpPr>
        <p:spPr>
          <a:xfrm>
            <a:off x="4163845" y="5024960"/>
            <a:ext cx="386431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192655" y="5044960"/>
            <a:ext cx="7806690" cy="334336"/>
          </a:xfrm>
          <a:prstGeom prst="rect">
            <a:avLst/>
          </a:prstGeom>
          <a:noFill/>
        </p:spPr>
        <p:txBody>
          <a:bodyPr wrap="square" anchor="b">
            <a:spAutoFit/>
          </a:bodyPr>
          <a:lstStyle/>
          <a:p>
            <a:pPr algn="ctr"/>
            <a:r>
              <a:rPr sz="1300" b="1" i="0">
                <a:solidFill>
                  <a:srgbClr val="1E3A5F"/>
                </a:solidFill>
                <a:latin typeface="Inter"/>
              </a:rPr>
              <a:t>5. Operations</a:t>
            </a:r>
          </a:p>
        </p:txBody>
      </p:sp>
      <p:sp>
        <p:nvSpPr>
          <p:cNvPr id="20" name="TextBox 19"/>
          <p:cNvSpPr txBox="1"/>
          <p:nvPr/>
        </p:nvSpPr>
        <p:spPr>
          <a:xfrm>
            <a:off x="2192655" y="5399296"/>
            <a:ext cx="7806690" cy="334336"/>
          </a:xfrm>
          <a:prstGeom prst="rect">
            <a:avLst/>
          </a:prstGeom>
          <a:noFill/>
        </p:spPr>
        <p:txBody>
          <a:bodyPr wrap="square" anchor="t">
            <a:spAutoFit/>
          </a:bodyPr>
          <a:lstStyle/>
          <a:p>
            <a:pPr algn="ctr"/>
            <a:r>
              <a:rPr sz="1100" b="0" i="0">
                <a:solidFill>
                  <a:srgbClr val="4A5568"/>
                </a:solidFill>
                <a:latin typeface="Inter"/>
              </a:rPr>
              <a:t>Daily execution and processes</a:t>
            </a:r>
          </a:p>
        </p:txBody>
      </p:sp>
      <p:cxnSp>
        <p:nvCxnSpPr>
          <p:cNvPr id="21" name="Connector 20"/>
          <p:cNvCxnSpPr/>
          <p:nvPr/>
        </p:nvCxnSpPr>
        <p:spPr>
          <a:xfrm>
            <a:off x="2626360" y="5910800"/>
            <a:ext cx="6939280" cy="0"/>
          </a:xfrm>
          <a:prstGeom prst="line">
            <a:avLst/>
          </a:prstGeom>
          <a:ln w="9525">
            <a:solidFill>
              <a:srgbClr val="C8CCD1"/>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91540" y="5960800"/>
            <a:ext cx="10408920" cy="250000"/>
          </a:xfrm>
          <a:prstGeom prst="rect">
            <a:avLst/>
          </a:prstGeom>
          <a:noFill/>
        </p:spPr>
        <p:txBody>
          <a:bodyPr wrap="square" anchor="t">
            <a:spAutoFit/>
          </a:bodyPr>
          <a:lstStyle/>
          <a:p>
            <a:pPr algn="ctr"/>
            <a:r>
              <a:rPr sz="900" b="0" i="1">
                <a:solidFill>
                  <a:srgbClr val="4A5568"/>
                </a:solidFill>
                <a:latin typeface="Inter"/>
              </a:rPr>
              <a:t>Source: Author's framework</a:t>
            </a:r>
          </a:p>
        </p:txBody>
      </p:sp>
      <p:sp>
        <p:nvSpPr>
          <p:cNvPr id="23" name="Rectangle 22"/>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25" name="TextBox 24"/>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Core Capabilities</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6096000" y="2036200"/>
            <a:ext cx="0" cy="1650000"/>
          </a:xfrm>
          <a:prstGeom prst="line">
            <a:avLst/>
          </a:prstGeom>
          <a:ln w="9525">
            <a:solidFill>
              <a:srgbClr val="B6BBC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6096000" y="2861200"/>
            <a:ext cx="1428941" cy="825000"/>
          </a:xfrm>
          <a:prstGeom prst="line">
            <a:avLst/>
          </a:prstGeom>
          <a:ln w="9525">
            <a:solidFill>
              <a:srgbClr val="B6BBC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0" y="3686200"/>
            <a:ext cx="1428941" cy="824999"/>
          </a:xfrm>
          <a:prstGeom prst="line">
            <a:avLst/>
          </a:prstGeom>
          <a:ln w="9525">
            <a:solidFill>
              <a:srgbClr val="B6BBC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096000" y="3686200"/>
            <a:ext cx="0" cy="1650000"/>
          </a:xfrm>
          <a:prstGeom prst="line">
            <a:avLst/>
          </a:prstGeom>
          <a:ln w="9525">
            <a:solidFill>
              <a:srgbClr val="B6BBC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4667059" y="3686200"/>
            <a:ext cx="1428941" cy="825000"/>
          </a:xfrm>
          <a:prstGeom prst="line">
            <a:avLst/>
          </a:prstGeom>
          <a:ln w="9525">
            <a:solidFill>
              <a:srgbClr val="B6BBC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4667059" y="2861200"/>
            <a:ext cx="1428941" cy="825000"/>
          </a:xfrm>
          <a:prstGeom prst="line">
            <a:avLst/>
          </a:prstGeom>
          <a:ln w="9525">
            <a:solidFill>
              <a:srgbClr val="B6BBC2"/>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716000" y="3306200"/>
            <a:ext cx="760000" cy="760000"/>
          </a:xfrm>
          <a:prstGeom prst="ellipse">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16000" y="3306200"/>
            <a:ext cx="760000" cy="760000"/>
          </a:xfrm>
          <a:prstGeom prst="rect">
            <a:avLst/>
          </a:prstGeom>
          <a:noFill/>
        </p:spPr>
        <p:txBody>
          <a:bodyPr wrap="square" anchor="ctr">
            <a:spAutoFit/>
          </a:bodyPr>
          <a:lstStyle/>
          <a:p>
            <a:pPr algn="ctr"/>
            <a:r>
              <a:rPr sz="1300" b="0" i="0">
                <a:solidFill>
                  <a:srgbClr val="1E3A5F"/>
                </a:solidFill>
                <a:latin typeface="Inter"/>
              </a:rPr>
              <a:t>Our Platform</a:t>
            </a:r>
          </a:p>
        </p:txBody>
      </p:sp>
      <p:sp>
        <p:nvSpPr>
          <p:cNvPr id="13" name="Oval 12"/>
          <p:cNvSpPr/>
          <p:nvPr/>
        </p:nvSpPr>
        <p:spPr>
          <a:xfrm>
            <a:off x="5786000" y="1726200"/>
            <a:ext cx="620000" cy="620000"/>
          </a:xfrm>
          <a:prstGeom prst="ellipse">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026000" y="1746200"/>
            <a:ext cx="140000" cy="1400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26000" y="1746200"/>
            <a:ext cx="140000" cy="140000"/>
          </a:xfrm>
          <a:prstGeom prst="rect">
            <a:avLst/>
          </a:prstGeom>
          <a:noFill/>
        </p:spPr>
        <p:txBody>
          <a:bodyPr wrap="square" anchor="ctr">
            <a:spAutoFit/>
          </a:bodyPr>
          <a:lstStyle/>
          <a:p>
            <a:pPr algn="ctr"/>
            <a:r>
              <a:rPr sz="900" b="1" i="0">
                <a:solidFill>
                  <a:srgbClr val="FFFFFF"/>
                </a:solidFill>
                <a:latin typeface="Inter"/>
              </a:rPr>
              <a:t>1</a:t>
            </a:r>
          </a:p>
        </p:txBody>
      </p:sp>
      <p:sp>
        <p:nvSpPr>
          <p:cNvPr id="16" name="TextBox 15"/>
          <p:cNvSpPr txBox="1"/>
          <p:nvPr/>
        </p:nvSpPr>
        <p:spPr>
          <a:xfrm>
            <a:off x="5786000" y="1906200"/>
            <a:ext cx="620000" cy="310000"/>
          </a:xfrm>
          <a:prstGeom prst="rect">
            <a:avLst/>
          </a:prstGeom>
          <a:noFill/>
        </p:spPr>
        <p:txBody>
          <a:bodyPr wrap="square" anchor="ctr">
            <a:spAutoFit/>
          </a:bodyPr>
          <a:lstStyle/>
          <a:p>
            <a:pPr algn="ctr"/>
            <a:r>
              <a:rPr sz="900" b="1" i="0">
                <a:solidFill>
                  <a:srgbClr val="1E3A5F"/>
                </a:solidFill>
                <a:latin typeface="Inter"/>
              </a:rPr>
              <a:t>Analytics</a:t>
            </a:r>
          </a:p>
        </p:txBody>
      </p:sp>
      <p:sp>
        <p:nvSpPr>
          <p:cNvPr id="17" name="TextBox 16"/>
          <p:cNvSpPr txBox="1"/>
          <p:nvPr/>
        </p:nvSpPr>
        <p:spPr>
          <a:xfrm>
            <a:off x="5801000" y="2066200"/>
            <a:ext cx="590000" cy="270000"/>
          </a:xfrm>
          <a:prstGeom prst="rect">
            <a:avLst/>
          </a:prstGeom>
          <a:noFill/>
        </p:spPr>
        <p:txBody>
          <a:bodyPr wrap="square" anchor="t">
            <a:spAutoFit/>
          </a:bodyPr>
          <a:lstStyle/>
          <a:p>
            <a:pPr algn="ctr"/>
            <a:r>
              <a:rPr sz="700" b="0" i="0">
                <a:solidFill>
                  <a:srgbClr val="4A5568"/>
                </a:solidFill>
                <a:latin typeface="Inter"/>
              </a:rPr>
              <a:t>Real-time data insights</a:t>
            </a:r>
          </a:p>
        </p:txBody>
      </p:sp>
      <p:sp>
        <p:nvSpPr>
          <p:cNvPr id="18" name="Oval 17"/>
          <p:cNvSpPr/>
          <p:nvPr/>
        </p:nvSpPr>
        <p:spPr>
          <a:xfrm>
            <a:off x="7214941" y="2551200"/>
            <a:ext cx="620000" cy="620000"/>
          </a:xfrm>
          <a:prstGeom prst="ellipse">
            <a:avLst/>
          </a:prstGeom>
          <a:solidFill>
            <a:srgbClr val="FFFFFF"/>
          </a:solidFill>
          <a:ln w="12700">
            <a:solidFill>
              <a:srgbClr val="E85D0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54941" y="2571200"/>
            <a:ext cx="140000" cy="140000"/>
          </a:xfrm>
          <a:prstGeom prst="ellipse">
            <a:avLst/>
          </a:prstGeom>
          <a:solidFill>
            <a:srgbClr val="E85D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4941" y="2571200"/>
            <a:ext cx="140000" cy="140000"/>
          </a:xfrm>
          <a:prstGeom prst="rect">
            <a:avLst/>
          </a:prstGeom>
          <a:noFill/>
        </p:spPr>
        <p:txBody>
          <a:bodyPr wrap="square" anchor="ctr">
            <a:spAutoFit/>
          </a:bodyPr>
          <a:lstStyle/>
          <a:p>
            <a:pPr algn="ctr"/>
            <a:r>
              <a:rPr sz="900" b="1" i="0">
                <a:solidFill>
                  <a:srgbClr val="FFFFFF"/>
                </a:solidFill>
                <a:latin typeface="Inter"/>
              </a:rPr>
              <a:t>2</a:t>
            </a:r>
          </a:p>
        </p:txBody>
      </p:sp>
      <p:sp>
        <p:nvSpPr>
          <p:cNvPr id="21" name="TextBox 20"/>
          <p:cNvSpPr txBox="1"/>
          <p:nvPr/>
        </p:nvSpPr>
        <p:spPr>
          <a:xfrm>
            <a:off x="7214941" y="2731200"/>
            <a:ext cx="620000" cy="310000"/>
          </a:xfrm>
          <a:prstGeom prst="rect">
            <a:avLst/>
          </a:prstGeom>
          <a:noFill/>
        </p:spPr>
        <p:txBody>
          <a:bodyPr wrap="square" anchor="ctr">
            <a:spAutoFit/>
          </a:bodyPr>
          <a:lstStyle/>
          <a:p>
            <a:pPr algn="ctr"/>
            <a:r>
              <a:rPr sz="900" b="1" i="0">
                <a:solidFill>
                  <a:srgbClr val="1E3A5F"/>
                </a:solidFill>
                <a:latin typeface="Inter"/>
              </a:rPr>
              <a:t>Security</a:t>
            </a:r>
          </a:p>
        </p:txBody>
      </p:sp>
      <p:sp>
        <p:nvSpPr>
          <p:cNvPr id="22" name="TextBox 21"/>
          <p:cNvSpPr txBox="1"/>
          <p:nvPr/>
        </p:nvSpPr>
        <p:spPr>
          <a:xfrm>
            <a:off x="7229941" y="2891200"/>
            <a:ext cx="590000" cy="270000"/>
          </a:xfrm>
          <a:prstGeom prst="rect">
            <a:avLst/>
          </a:prstGeom>
          <a:noFill/>
        </p:spPr>
        <p:txBody>
          <a:bodyPr wrap="square" anchor="t">
            <a:spAutoFit/>
          </a:bodyPr>
          <a:lstStyle/>
          <a:p>
            <a:pPr algn="ctr"/>
            <a:r>
              <a:rPr sz="700" b="0" i="0">
                <a:solidFill>
                  <a:srgbClr val="4A5568"/>
                </a:solidFill>
                <a:latin typeface="Inter"/>
              </a:rPr>
              <a:t>Enterprise-grade protection</a:t>
            </a:r>
          </a:p>
        </p:txBody>
      </p:sp>
      <p:sp>
        <p:nvSpPr>
          <p:cNvPr id="23" name="Oval 22"/>
          <p:cNvSpPr/>
          <p:nvPr/>
        </p:nvSpPr>
        <p:spPr>
          <a:xfrm>
            <a:off x="7214941" y="4201199"/>
            <a:ext cx="620000" cy="620000"/>
          </a:xfrm>
          <a:prstGeom prst="ellipse">
            <a:avLst/>
          </a:prstGeom>
          <a:solidFill>
            <a:srgbClr val="FFFFFF"/>
          </a:solidFill>
          <a:ln w="1270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454941" y="4221199"/>
            <a:ext cx="140000" cy="140000"/>
          </a:xfrm>
          <a:prstGeom prst="ellipse">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54941" y="4221199"/>
            <a:ext cx="140000" cy="140000"/>
          </a:xfrm>
          <a:prstGeom prst="rect">
            <a:avLst/>
          </a:prstGeom>
          <a:noFill/>
        </p:spPr>
        <p:txBody>
          <a:bodyPr wrap="square" anchor="ctr">
            <a:spAutoFit/>
          </a:bodyPr>
          <a:lstStyle/>
          <a:p>
            <a:pPr algn="ctr"/>
            <a:r>
              <a:rPr sz="900" b="1" i="0">
                <a:solidFill>
                  <a:srgbClr val="FFFFFF"/>
                </a:solidFill>
                <a:latin typeface="Inter"/>
              </a:rPr>
              <a:t>3</a:t>
            </a:r>
          </a:p>
        </p:txBody>
      </p:sp>
      <p:sp>
        <p:nvSpPr>
          <p:cNvPr id="26" name="TextBox 25"/>
          <p:cNvSpPr txBox="1"/>
          <p:nvPr/>
        </p:nvSpPr>
        <p:spPr>
          <a:xfrm>
            <a:off x="7214941" y="4381199"/>
            <a:ext cx="620000" cy="310000"/>
          </a:xfrm>
          <a:prstGeom prst="rect">
            <a:avLst/>
          </a:prstGeom>
          <a:noFill/>
        </p:spPr>
        <p:txBody>
          <a:bodyPr wrap="square" anchor="ctr">
            <a:spAutoFit/>
          </a:bodyPr>
          <a:lstStyle/>
          <a:p>
            <a:pPr algn="ctr"/>
            <a:r>
              <a:rPr sz="900" b="1" i="0">
                <a:solidFill>
                  <a:srgbClr val="1E3A5F"/>
                </a:solidFill>
                <a:latin typeface="Inter"/>
              </a:rPr>
              <a:t>Integration</a:t>
            </a:r>
          </a:p>
        </p:txBody>
      </p:sp>
      <p:sp>
        <p:nvSpPr>
          <p:cNvPr id="27" name="TextBox 26"/>
          <p:cNvSpPr txBox="1"/>
          <p:nvPr/>
        </p:nvSpPr>
        <p:spPr>
          <a:xfrm>
            <a:off x="7229941" y="4541199"/>
            <a:ext cx="590000" cy="270000"/>
          </a:xfrm>
          <a:prstGeom prst="rect">
            <a:avLst/>
          </a:prstGeom>
          <a:noFill/>
        </p:spPr>
        <p:txBody>
          <a:bodyPr wrap="square" anchor="t">
            <a:spAutoFit/>
          </a:bodyPr>
          <a:lstStyle/>
          <a:p>
            <a:pPr algn="ctr"/>
            <a:r>
              <a:rPr sz="700" b="0" i="0">
                <a:solidFill>
                  <a:srgbClr val="4A5568"/>
                </a:solidFill>
                <a:latin typeface="Inter"/>
              </a:rPr>
              <a:t>Seamless API connectivity</a:t>
            </a:r>
          </a:p>
        </p:txBody>
      </p:sp>
      <p:sp>
        <p:nvSpPr>
          <p:cNvPr id="28" name="Oval 27"/>
          <p:cNvSpPr/>
          <p:nvPr/>
        </p:nvSpPr>
        <p:spPr>
          <a:xfrm>
            <a:off x="5786000" y="5026200"/>
            <a:ext cx="620000" cy="620000"/>
          </a:xfrm>
          <a:prstGeom prst="ellipse">
            <a:avLst/>
          </a:prstGeom>
          <a:solidFill>
            <a:srgbClr val="FFFFFF"/>
          </a:solidFill>
          <a:ln w="12700">
            <a:solidFill>
              <a:srgbClr val="7C5C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026000" y="5046200"/>
            <a:ext cx="140000" cy="140000"/>
          </a:xfrm>
          <a:prstGeom prst="ellipse">
            <a:avLst/>
          </a:prstGeom>
          <a:solidFill>
            <a:srgbClr val="7C5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26000" y="5046200"/>
            <a:ext cx="140000" cy="140000"/>
          </a:xfrm>
          <a:prstGeom prst="rect">
            <a:avLst/>
          </a:prstGeom>
          <a:noFill/>
        </p:spPr>
        <p:txBody>
          <a:bodyPr wrap="square" anchor="ctr">
            <a:spAutoFit/>
          </a:bodyPr>
          <a:lstStyle/>
          <a:p>
            <a:pPr algn="ctr"/>
            <a:r>
              <a:rPr sz="900" b="1" i="0">
                <a:solidFill>
                  <a:srgbClr val="FFFFFF"/>
                </a:solidFill>
                <a:latin typeface="Inter"/>
              </a:rPr>
              <a:t>4</a:t>
            </a:r>
          </a:p>
        </p:txBody>
      </p:sp>
      <p:sp>
        <p:nvSpPr>
          <p:cNvPr id="31" name="TextBox 30"/>
          <p:cNvSpPr txBox="1"/>
          <p:nvPr/>
        </p:nvSpPr>
        <p:spPr>
          <a:xfrm>
            <a:off x="5786000" y="5206200"/>
            <a:ext cx="620000" cy="310000"/>
          </a:xfrm>
          <a:prstGeom prst="rect">
            <a:avLst/>
          </a:prstGeom>
          <a:noFill/>
        </p:spPr>
        <p:txBody>
          <a:bodyPr wrap="square" anchor="ctr">
            <a:spAutoFit/>
          </a:bodyPr>
          <a:lstStyle/>
          <a:p>
            <a:pPr algn="ctr"/>
            <a:r>
              <a:rPr sz="900" b="1" i="0">
                <a:solidFill>
                  <a:srgbClr val="1E3A5F"/>
                </a:solidFill>
                <a:latin typeface="Inter"/>
              </a:rPr>
              <a:t>Automation</a:t>
            </a:r>
          </a:p>
        </p:txBody>
      </p:sp>
      <p:sp>
        <p:nvSpPr>
          <p:cNvPr id="32" name="TextBox 31"/>
          <p:cNvSpPr txBox="1"/>
          <p:nvPr/>
        </p:nvSpPr>
        <p:spPr>
          <a:xfrm>
            <a:off x="5801000" y="5366200"/>
            <a:ext cx="590000" cy="270000"/>
          </a:xfrm>
          <a:prstGeom prst="rect">
            <a:avLst/>
          </a:prstGeom>
          <a:noFill/>
        </p:spPr>
        <p:txBody>
          <a:bodyPr wrap="square" anchor="t">
            <a:spAutoFit/>
          </a:bodyPr>
          <a:lstStyle/>
          <a:p>
            <a:pPr algn="ctr"/>
            <a:r>
              <a:rPr sz="700" b="0" i="0">
                <a:solidFill>
                  <a:srgbClr val="4A5568"/>
                </a:solidFill>
                <a:latin typeface="Inter"/>
              </a:rPr>
              <a:t>Workflow optimization</a:t>
            </a:r>
          </a:p>
        </p:txBody>
      </p:sp>
      <p:sp>
        <p:nvSpPr>
          <p:cNvPr id="33" name="Oval 32"/>
          <p:cNvSpPr/>
          <p:nvPr/>
        </p:nvSpPr>
        <p:spPr>
          <a:xfrm>
            <a:off x="4357059" y="4201200"/>
            <a:ext cx="620000" cy="620000"/>
          </a:xfrm>
          <a:prstGeom prst="ellipse">
            <a:avLst/>
          </a:prstGeom>
          <a:solidFill>
            <a:srgbClr val="FFFFFF"/>
          </a:solidFill>
          <a:ln w="12700">
            <a:solidFill>
              <a:srgbClr val="C27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597059" y="4221200"/>
            <a:ext cx="140000" cy="140000"/>
          </a:xfrm>
          <a:prstGeom prst="ellipse">
            <a:avLst/>
          </a:prstGeom>
          <a:solidFill>
            <a:srgbClr val="C27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97059" y="4221200"/>
            <a:ext cx="140000" cy="140000"/>
          </a:xfrm>
          <a:prstGeom prst="rect">
            <a:avLst/>
          </a:prstGeom>
          <a:noFill/>
        </p:spPr>
        <p:txBody>
          <a:bodyPr wrap="square" anchor="ctr">
            <a:spAutoFit/>
          </a:bodyPr>
          <a:lstStyle/>
          <a:p>
            <a:pPr algn="ctr"/>
            <a:r>
              <a:rPr sz="900" b="1" i="0">
                <a:solidFill>
                  <a:srgbClr val="FFFFFF"/>
                </a:solidFill>
                <a:latin typeface="Inter"/>
              </a:rPr>
              <a:t>5</a:t>
            </a:r>
          </a:p>
        </p:txBody>
      </p:sp>
      <p:sp>
        <p:nvSpPr>
          <p:cNvPr id="36" name="TextBox 35"/>
          <p:cNvSpPr txBox="1"/>
          <p:nvPr/>
        </p:nvSpPr>
        <p:spPr>
          <a:xfrm>
            <a:off x="4357059" y="4381200"/>
            <a:ext cx="620000" cy="310000"/>
          </a:xfrm>
          <a:prstGeom prst="rect">
            <a:avLst/>
          </a:prstGeom>
          <a:noFill/>
        </p:spPr>
        <p:txBody>
          <a:bodyPr wrap="square" anchor="ctr">
            <a:spAutoFit/>
          </a:bodyPr>
          <a:lstStyle/>
          <a:p>
            <a:pPr algn="ctr"/>
            <a:r>
              <a:rPr sz="900" b="1" i="0">
                <a:solidFill>
                  <a:srgbClr val="1E3A5F"/>
                </a:solidFill>
                <a:latin typeface="Inter"/>
              </a:rPr>
              <a:t>Support</a:t>
            </a:r>
          </a:p>
        </p:txBody>
      </p:sp>
      <p:sp>
        <p:nvSpPr>
          <p:cNvPr id="37" name="TextBox 36"/>
          <p:cNvSpPr txBox="1"/>
          <p:nvPr/>
        </p:nvSpPr>
        <p:spPr>
          <a:xfrm>
            <a:off x="4372059" y="4541200"/>
            <a:ext cx="590000" cy="270000"/>
          </a:xfrm>
          <a:prstGeom prst="rect">
            <a:avLst/>
          </a:prstGeom>
          <a:noFill/>
        </p:spPr>
        <p:txBody>
          <a:bodyPr wrap="square" anchor="t">
            <a:spAutoFit/>
          </a:bodyPr>
          <a:lstStyle/>
          <a:p>
            <a:pPr algn="ctr"/>
            <a:r>
              <a:rPr sz="700" b="0" i="0">
                <a:solidFill>
                  <a:srgbClr val="4A5568"/>
                </a:solidFill>
                <a:latin typeface="Inter"/>
              </a:rPr>
              <a:t>24/7 expert assistance</a:t>
            </a:r>
          </a:p>
        </p:txBody>
      </p:sp>
      <p:sp>
        <p:nvSpPr>
          <p:cNvPr id="38" name="Oval 37"/>
          <p:cNvSpPr/>
          <p:nvPr/>
        </p:nvSpPr>
        <p:spPr>
          <a:xfrm>
            <a:off x="4357059" y="2551200"/>
            <a:ext cx="620000" cy="620000"/>
          </a:xfrm>
          <a:prstGeom prst="ellipse">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597059" y="2571200"/>
            <a:ext cx="140000" cy="14000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97059" y="2571200"/>
            <a:ext cx="140000" cy="140000"/>
          </a:xfrm>
          <a:prstGeom prst="rect">
            <a:avLst/>
          </a:prstGeom>
          <a:noFill/>
        </p:spPr>
        <p:txBody>
          <a:bodyPr wrap="square" anchor="ctr">
            <a:spAutoFit/>
          </a:bodyPr>
          <a:lstStyle/>
          <a:p>
            <a:pPr algn="ctr"/>
            <a:r>
              <a:rPr sz="900" b="1" i="0">
                <a:solidFill>
                  <a:srgbClr val="FFFFFF"/>
                </a:solidFill>
                <a:latin typeface="Inter"/>
              </a:rPr>
              <a:t>6</a:t>
            </a:r>
          </a:p>
        </p:txBody>
      </p:sp>
      <p:sp>
        <p:nvSpPr>
          <p:cNvPr id="41" name="TextBox 40"/>
          <p:cNvSpPr txBox="1"/>
          <p:nvPr/>
        </p:nvSpPr>
        <p:spPr>
          <a:xfrm>
            <a:off x="4357059" y="2731200"/>
            <a:ext cx="620000" cy="310000"/>
          </a:xfrm>
          <a:prstGeom prst="rect">
            <a:avLst/>
          </a:prstGeom>
          <a:noFill/>
        </p:spPr>
        <p:txBody>
          <a:bodyPr wrap="square" anchor="ctr">
            <a:spAutoFit/>
          </a:bodyPr>
          <a:lstStyle/>
          <a:p>
            <a:pPr algn="ctr"/>
            <a:r>
              <a:rPr sz="900" b="1" i="0">
                <a:solidFill>
                  <a:srgbClr val="1E3A5F"/>
                </a:solidFill>
                <a:latin typeface="Inter"/>
              </a:rPr>
              <a:t>Scale</a:t>
            </a:r>
          </a:p>
        </p:txBody>
      </p:sp>
      <p:sp>
        <p:nvSpPr>
          <p:cNvPr id="42" name="TextBox 41"/>
          <p:cNvSpPr txBox="1"/>
          <p:nvPr/>
        </p:nvSpPr>
        <p:spPr>
          <a:xfrm>
            <a:off x="4372059" y="2891200"/>
            <a:ext cx="590000" cy="270000"/>
          </a:xfrm>
          <a:prstGeom prst="rect">
            <a:avLst/>
          </a:prstGeom>
          <a:noFill/>
        </p:spPr>
        <p:txBody>
          <a:bodyPr wrap="square" anchor="t">
            <a:spAutoFit/>
          </a:bodyPr>
          <a:lstStyle/>
          <a:p>
            <a:pPr algn="ctr"/>
            <a:r>
              <a:rPr sz="700" b="0" i="0">
                <a:solidFill>
                  <a:srgbClr val="4A5568"/>
                </a:solidFill>
                <a:latin typeface="Inter"/>
              </a:rPr>
              <a:t>Global infrastructure</a:t>
            </a:r>
          </a:p>
        </p:txBody>
      </p:sp>
      <p:sp>
        <p:nvSpPr>
          <p:cNvPr id="43" name="TextBox 42"/>
          <p:cNvSpPr txBox="1"/>
          <p:nvPr/>
        </p:nvSpPr>
        <p:spPr>
          <a:xfrm>
            <a:off x="891540" y="6020800"/>
            <a:ext cx="10408920" cy="300000"/>
          </a:xfrm>
          <a:prstGeom prst="rect">
            <a:avLst/>
          </a:prstGeom>
          <a:noFill/>
        </p:spPr>
        <p:txBody>
          <a:bodyPr wrap="square" anchor="t">
            <a:spAutoFit/>
          </a:bodyPr>
          <a:lstStyle/>
          <a:p>
            <a:pPr algn="ctr"/>
            <a:r>
              <a:rPr sz="900" b="0" i="1">
                <a:solidFill>
                  <a:srgbClr val="4A5568"/>
                </a:solidFill>
                <a:latin typeface="Inter"/>
              </a:rPr>
              <a:t>Fig. 1 — Our Platform: Interconnected capability model (n=6)</a:t>
            </a:r>
          </a:p>
        </p:txBody>
      </p:sp>
      <p:sp>
        <p:nvSpPr>
          <p:cNvPr id="44" name="Rectangle 43"/>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46" name="TextBox 45"/>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3352800" y="2429000"/>
            <a:ext cx="54864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2629000"/>
            <a:ext cx="10820400" cy="400000"/>
          </a:xfrm>
          <a:prstGeom prst="rect">
            <a:avLst/>
          </a:prstGeom>
          <a:noFill/>
        </p:spPr>
        <p:txBody>
          <a:bodyPr wrap="square" anchor="t">
            <a:spAutoFit/>
          </a:bodyPr>
          <a:lstStyle/>
          <a:p>
            <a:pPr algn="ctr"/>
            <a:r>
              <a:rPr sz="1300" b="0" i="0">
                <a:solidFill>
                  <a:srgbClr val="9B2335"/>
                </a:solidFill>
                <a:latin typeface="Inter"/>
              </a:rPr>
              <a:t>Section 04</a:t>
            </a:r>
          </a:p>
        </p:txBody>
      </p:sp>
      <p:sp>
        <p:nvSpPr>
          <p:cNvPr id="5" name="TextBox 4"/>
          <p:cNvSpPr txBox="1"/>
          <p:nvPr/>
        </p:nvSpPr>
        <p:spPr>
          <a:xfrm>
            <a:off x="1185800" y="3129000"/>
            <a:ext cx="9820400" cy="700000"/>
          </a:xfrm>
          <a:prstGeom prst="rect">
            <a:avLst/>
          </a:prstGeom>
          <a:noFill/>
        </p:spPr>
        <p:txBody>
          <a:bodyPr wrap="square" anchor="t">
            <a:spAutoFit/>
          </a:bodyPr>
          <a:lstStyle/>
          <a:p>
            <a:pPr algn="ctr"/>
            <a:r>
              <a:rPr sz="3600" b="1" i="0">
                <a:solidFill>
                  <a:srgbClr val="1E3A5F"/>
                </a:solidFill>
                <a:latin typeface="Inter"/>
              </a:rPr>
              <a:t>Data &amp; Insights</a:t>
            </a:r>
          </a:p>
        </p:txBody>
      </p:sp>
      <p:cxnSp>
        <p:nvCxnSpPr>
          <p:cNvPr id="6" name="Connector 5"/>
          <p:cNvCxnSpPr/>
          <p:nvPr/>
        </p:nvCxnSpPr>
        <p:spPr>
          <a:xfrm>
            <a:off x="3352800" y="4029000"/>
            <a:ext cx="54864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685800" y="4279000"/>
            <a:ext cx="8820400" cy="350000"/>
          </a:xfrm>
          <a:prstGeom prst="rect">
            <a:avLst/>
          </a:prstGeom>
          <a:noFill/>
        </p:spPr>
        <p:txBody>
          <a:bodyPr wrap="square" anchor="t">
            <a:spAutoFit/>
          </a:bodyPr>
          <a:lstStyle/>
          <a:p>
            <a:pPr algn="ctr"/>
            <a:r>
              <a:rPr sz="1300" b="0" i="0">
                <a:solidFill>
                  <a:srgbClr val="4A5568"/>
                </a:solidFill>
                <a:latin typeface="Inter"/>
              </a:rPr>
              <a:t>Metrics that drive decisions</a:t>
            </a:r>
          </a:p>
        </p:txBody>
      </p:sp>
      <p:sp>
        <p:nvSpPr>
          <p:cNvPr id="8" name="Rectangle 7"/>
          <p:cNvSpPr/>
          <p:nvPr/>
        </p:nvSpPr>
        <p:spPr>
          <a:xfrm>
            <a:off x="0" y="6400800"/>
            <a:ext cx="12192000" cy="457200"/>
          </a:xfrm>
          <a:prstGeom prst="rect">
            <a:avLst/>
          </a:prstGeom>
          <a:solidFill>
            <a:srgbClr val="18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1540" y="6500800"/>
            <a:ext cx="3000000" cy="260000"/>
          </a:xfrm>
          <a:prstGeom prst="rect">
            <a:avLst/>
          </a:prstGeom>
          <a:noFill/>
        </p:spPr>
        <p:txBody>
          <a:bodyPr wrap="square" anchor="t">
            <a:spAutoFit/>
          </a:bodyPr>
          <a:lstStyle/>
          <a:p>
            <a:pPr algn="l"/>
            <a:r>
              <a:rPr sz="1200" b="0" i="0">
                <a:solidFill>
                  <a:srgbClr val="8E9CAF"/>
                </a:solidFill>
                <a:latin typeface="Inter"/>
              </a:rPr>
              <a:t>University</a:t>
            </a:r>
          </a:p>
        </p:txBody>
      </p:sp>
      <p:sp>
        <p:nvSpPr>
          <p:cNvPr id="10" name="TextBox 9"/>
          <p:cNvSpPr txBox="1"/>
          <p:nvPr/>
        </p:nvSpPr>
        <p:spPr>
          <a:xfrm>
            <a:off x="11106200" y="6500800"/>
            <a:ext cx="400000" cy="260000"/>
          </a:xfrm>
          <a:prstGeom prst="rect">
            <a:avLst/>
          </a:prstGeom>
          <a:noFill/>
        </p:spPr>
        <p:txBody>
          <a:bodyPr wrap="square" anchor="t">
            <a:spAutoFit/>
          </a:bodyPr>
          <a:lstStyle/>
          <a:p>
            <a:pPr algn="r"/>
            <a:r>
              <a:rPr sz="900" b="0" i="0">
                <a:solidFill>
                  <a:srgbClr val="8E9CAF"/>
                </a:solidFill>
                <a:latin typeface="Inter"/>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Revenue by Region</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1391600"/>
            <a:ext cx="10820400" cy="300000"/>
          </a:xfrm>
          <a:prstGeom prst="rect">
            <a:avLst/>
          </a:prstGeom>
          <a:noFill/>
        </p:spPr>
        <p:txBody>
          <a:bodyPr wrap="square" anchor="t">
            <a:spAutoFit/>
          </a:bodyPr>
          <a:lstStyle/>
          <a:p>
            <a:pPr algn="l"/>
            <a:r>
              <a:rPr sz="1200" b="0" i="1">
                <a:solidFill>
                  <a:srgbClr val="4A5568"/>
                </a:solidFill>
                <a:latin typeface="Inter"/>
              </a:rPr>
              <a:t>Figure 2: Revenue by Region</a:t>
            </a:r>
          </a:p>
        </p:txBody>
      </p:sp>
      <p:cxnSp>
        <p:nvCxnSpPr>
          <p:cNvPr id="6" name="Connector 5"/>
          <p:cNvCxnSpPr/>
          <p:nvPr/>
        </p:nvCxnSpPr>
        <p:spPr>
          <a:xfrm>
            <a:off x="685800" y="1691600"/>
            <a:ext cx="10820400" cy="0"/>
          </a:xfrm>
          <a:prstGeom prst="line">
            <a:avLst/>
          </a:prstGeom>
          <a:ln w="6350">
            <a:solidFill>
              <a:srgbClr val="A4AAB3"/>
            </a:solidFill>
          </a:ln>
        </p:spPr>
        <p:style>
          <a:lnRef idx="2">
            <a:schemeClr val="accent1"/>
          </a:lnRef>
          <a:fillRef idx="0">
            <a:schemeClr val="accent1"/>
          </a:fillRef>
          <a:effectRef idx="1">
            <a:schemeClr val="accent1"/>
          </a:effectRef>
          <a:fontRef idx="minor">
            <a:schemeClr val="tx1"/>
          </a:fontRef>
        </p:style>
      </p:cxnSp>
      <p:graphicFrame>
        <p:nvGraphicFramePr>
          <p:cNvPr id="7" name="Chart 6"/>
          <p:cNvGraphicFramePr>
            <a:graphicFrameLocks noGrp="1"/>
          </p:cNvGraphicFramePr>
          <p:nvPr/>
        </p:nvGraphicFramePr>
        <p:xfrm>
          <a:off x="685800" y="1721600"/>
          <a:ext cx="10820400" cy="4200000"/>
        </p:xfrm>
        <a:graphic>
          <a:graphicData uri="http://schemas.openxmlformats.org/drawingml/2006/chart">
            <c:chart xmlns:c="http://schemas.openxmlformats.org/drawingml/2006/chart" r:id="rId2"/>
          </a:graphicData>
        </a:graphic>
      </p:graphicFrame>
      <p:cxnSp>
        <p:nvCxnSpPr>
          <p:cNvPr id="8" name="Connector 7"/>
          <p:cNvCxnSpPr/>
          <p:nvPr/>
        </p:nvCxnSpPr>
        <p:spPr>
          <a:xfrm>
            <a:off x="685800" y="5951600"/>
            <a:ext cx="10820400" cy="0"/>
          </a:xfrm>
          <a:prstGeom prst="line">
            <a:avLst/>
          </a:prstGeom>
          <a:ln w="6350">
            <a:solidFill>
              <a:srgbClr val="A4AAB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5981600"/>
            <a:ext cx="10820400" cy="250000"/>
          </a:xfrm>
          <a:prstGeom prst="rect">
            <a:avLst/>
          </a:prstGeom>
          <a:noFill/>
        </p:spPr>
        <p:txBody>
          <a:bodyPr wrap="square" anchor="t">
            <a:spAutoFit/>
          </a:bodyPr>
          <a:lstStyle/>
          <a:p>
            <a:pPr algn="l"/>
            <a:r>
              <a:rPr sz="900" b="0" i="1">
                <a:solidFill>
                  <a:srgbClr val="B6BBC2"/>
                </a:solidFill>
                <a:latin typeface="Inter"/>
              </a:rPr>
              <a:t>Source: Internal data</a:t>
            </a:r>
          </a:p>
        </p:txBody>
      </p:sp>
      <p:sp>
        <p:nvSpPr>
          <p:cNvPr id="10" name="Rectangle 9"/>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12" name="TextBox 11"/>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Growth Trends</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1391600"/>
            <a:ext cx="10820400" cy="300000"/>
          </a:xfrm>
          <a:prstGeom prst="rect">
            <a:avLst/>
          </a:prstGeom>
          <a:noFill/>
        </p:spPr>
        <p:txBody>
          <a:bodyPr wrap="square" anchor="t">
            <a:spAutoFit/>
          </a:bodyPr>
          <a:lstStyle/>
          <a:p>
            <a:pPr algn="l"/>
            <a:r>
              <a:rPr sz="1200" b="0" i="1">
                <a:solidFill>
                  <a:srgbClr val="4A5568"/>
                </a:solidFill>
                <a:latin typeface="Inter"/>
              </a:rPr>
              <a:t>Figure 3: Growth Trends</a:t>
            </a:r>
          </a:p>
        </p:txBody>
      </p:sp>
      <p:cxnSp>
        <p:nvCxnSpPr>
          <p:cNvPr id="6" name="Connector 5"/>
          <p:cNvCxnSpPr/>
          <p:nvPr/>
        </p:nvCxnSpPr>
        <p:spPr>
          <a:xfrm>
            <a:off x="685800" y="1691600"/>
            <a:ext cx="10820400" cy="0"/>
          </a:xfrm>
          <a:prstGeom prst="line">
            <a:avLst/>
          </a:prstGeom>
          <a:ln w="6350">
            <a:solidFill>
              <a:srgbClr val="A4AAB3"/>
            </a:solidFill>
          </a:ln>
        </p:spPr>
        <p:style>
          <a:lnRef idx="2">
            <a:schemeClr val="accent1"/>
          </a:lnRef>
          <a:fillRef idx="0">
            <a:schemeClr val="accent1"/>
          </a:fillRef>
          <a:effectRef idx="1">
            <a:schemeClr val="accent1"/>
          </a:effectRef>
          <a:fontRef idx="minor">
            <a:schemeClr val="tx1"/>
          </a:fontRef>
        </p:style>
      </p:cxnSp>
      <p:graphicFrame>
        <p:nvGraphicFramePr>
          <p:cNvPr id="7" name="Chart 6"/>
          <p:cNvGraphicFramePr>
            <a:graphicFrameLocks noGrp="1"/>
          </p:cNvGraphicFramePr>
          <p:nvPr/>
        </p:nvGraphicFramePr>
        <p:xfrm>
          <a:off x="685800" y="1721600"/>
          <a:ext cx="10820400" cy="4200000"/>
        </p:xfrm>
        <a:graphic>
          <a:graphicData uri="http://schemas.openxmlformats.org/drawingml/2006/chart">
            <c:chart xmlns:c="http://schemas.openxmlformats.org/drawingml/2006/chart" r:id="rId2"/>
          </a:graphicData>
        </a:graphic>
      </p:graphicFrame>
      <p:cxnSp>
        <p:nvCxnSpPr>
          <p:cNvPr id="8" name="Connector 7"/>
          <p:cNvCxnSpPr/>
          <p:nvPr/>
        </p:nvCxnSpPr>
        <p:spPr>
          <a:xfrm>
            <a:off x="685800" y="5951600"/>
            <a:ext cx="10820400" cy="0"/>
          </a:xfrm>
          <a:prstGeom prst="line">
            <a:avLst/>
          </a:prstGeom>
          <a:ln w="6350">
            <a:solidFill>
              <a:srgbClr val="A4AAB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5981600"/>
            <a:ext cx="10820400" cy="250000"/>
          </a:xfrm>
          <a:prstGeom prst="rect">
            <a:avLst/>
          </a:prstGeom>
          <a:noFill/>
        </p:spPr>
        <p:txBody>
          <a:bodyPr wrap="square" anchor="t">
            <a:spAutoFit/>
          </a:bodyPr>
          <a:lstStyle/>
          <a:p>
            <a:pPr algn="l"/>
            <a:r>
              <a:rPr sz="900" b="0" i="1">
                <a:solidFill>
                  <a:srgbClr val="B6BBC2"/>
                </a:solidFill>
                <a:latin typeface="Inter"/>
              </a:rPr>
              <a:t>Source: Internal data</a:t>
            </a:r>
          </a:p>
        </p:txBody>
      </p:sp>
      <p:sp>
        <p:nvSpPr>
          <p:cNvPr id="10" name="Rectangle 9"/>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12" name="TextBox 11"/>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Revenue Distribution</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1391600"/>
            <a:ext cx="10820400" cy="300000"/>
          </a:xfrm>
          <a:prstGeom prst="rect">
            <a:avLst/>
          </a:prstGeom>
          <a:noFill/>
        </p:spPr>
        <p:txBody>
          <a:bodyPr wrap="square" anchor="t">
            <a:spAutoFit/>
          </a:bodyPr>
          <a:lstStyle/>
          <a:p>
            <a:pPr algn="l"/>
            <a:r>
              <a:rPr sz="1200" b="0" i="1">
                <a:solidFill>
                  <a:srgbClr val="4A5568"/>
                </a:solidFill>
                <a:latin typeface="Inter"/>
              </a:rPr>
              <a:t>Figure 4: Revenue Distribution</a:t>
            </a:r>
          </a:p>
        </p:txBody>
      </p:sp>
      <p:cxnSp>
        <p:nvCxnSpPr>
          <p:cNvPr id="6" name="Connector 5"/>
          <p:cNvCxnSpPr/>
          <p:nvPr/>
        </p:nvCxnSpPr>
        <p:spPr>
          <a:xfrm>
            <a:off x="685800" y="1691600"/>
            <a:ext cx="10820400" cy="0"/>
          </a:xfrm>
          <a:prstGeom prst="line">
            <a:avLst/>
          </a:prstGeom>
          <a:ln w="6350">
            <a:solidFill>
              <a:srgbClr val="A4AAB3"/>
            </a:solidFill>
          </a:ln>
        </p:spPr>
        <p:style>
          <a:lnRef idx="2">
            <a:schemeClr val="accent1"/>
          </a:lnRef>
          <a:fillRef idx="0">
            <a:schemeClr val="accent1"/>
          </a:fillRef>
          <a:effectRef idx="1">
            <a:schemeClr val="accent1"/>
          </a:effectRef>
          <a:fontRef idx="minor">
            <a:schemeClr val="tx1"/>
          </a:fontRef>
        </p:style>
      </p:cxnSp>
      <p:graphicFrame>
        <p:nvGraphicFramePr>
          <p:cNvPr id="7" name="Chart 6"/>
          <p:cNvGraphicFramePr>
            <a:graphicFrameLocks noGrp="1"/>
          </p:cNvGraphicFramePr>
          <p:nvPr/>
        </p:nvGraphicFramePr>
        <p:xfrm>
          <a:off x="2579370" y="1721600"/>
          <a:ext cx="7033260" cy="4200000"/>
        </p:xfrm>
        <a:graphic>
          <a:graphicData uri="http://schemas.openxmlformats.org/drawingml/2006/chart">
            <c:chart xmlns:c="http://schemas.openxmlformats.org/drawingml/2006/chart" r:id="rId2"/>
          </a:graphicData>
        </a:graphic>
      </p:graphicFrame>
      <p:cxnSp>
        <p:nvCxnSpPr>
          <p:cNvPr id="8" name="Connector 7"/>
          <p:cNvCxnSpPr/>
          <p:nvPr/>
        </p:nvCxnSpPr>
        <p:spPr>
          <a:xfrm>
            <a:off x="685800" y="5951600"/>
            <a:ext cx="10820400" cy="0"/>
          </a:xfrm>
          <a:prstGeom prst="line">
            <a:avLst/>
          </a:prstGeom>
          <a:ln w="6350">
            <a:solidFill>
              <a:srgbClr val="A4AAB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5981600"/>
            <a:ext cx="10820400" cy="250000"/>
          </a:xfrm>
          <a:prstGeom prst="rect">
            <a:avLst/>
          </a:prstGeom>
          <a:noFill/>
        </p:spPr>
        <p:txBody>
          <a:bodyPr wrap="square" anchor="t">
            <a:spAutoFit/>
          </a:bodyPr>
          <a:lstStyle/>
          <a:p>
            <a:pPr algn="l"/>
            <a:r>
              <a:rPr sz="900" b="0" i="1">
                <a:solidFill>
                  <a:srgbClr val="B6BBC2"/>
                </a:solidFill>
                <a:latin typeface="Inter"/>
              </a:rPr>
              <a:t>Source: Internal data</a:t>
            </a:r>
          </a:p>
        </p:txBody>
      </p:sp>
      <p:sp>
        <p:nvSpPr>
          <p:cNvPr id="10" name="Rectangle 9"/>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12" name="TextBox 11"/>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Comparison</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1391600"/>
            <a:ext cx="10820400" cy="300000"/>
          </a:xfrm>
          <a:prstGeom prst="rect">
            <a:avLst/>
          </a:prstGeom>
          <a:noFill/>
        </p:spPr>
        <p:txBody>
          <a:bodyPr wrap="square" anchor="t">
            <a:spAutoFit/>
          </a:bodyPr>
          <a:lstStyle/>
          <a:p>
            <a:pPr algn="l"/>
            <a:r>
              <a:rPr sz="1200" b="0" i="1">
                <a:solidFill>
                  <a:srgbClr val="4A5568"/>
                </a:solidFill>
                <a:latin typeface="Inter"/>
              </a:rPr>
              <a:t>Table 2: Comparison</a:t>
            </a:r>
          </a:p>
        </p:txBody>
      </p:sp>
      <p:sp>
        <p:nvSpPr>
          <p:cNvPr id="6" name="TextBox 5"/>
          <p:cNvSpPr txBox="1"/>
          <p:nvPr/>
        </p:nvSpPr>
        <p:spPr>
          <a:xfrm>
            <a:off x="685800" y="1771600"/>
            <a:ext cx="2705100" cy="450000"/>
          </a:xfrm>
          <a:prstGeom prst="rect">
            <a:avLst/>
          </a:prstGeom>
          <a:noFill/>
        </p:spPr>
        <p:txBody>
          <a:bodyPr wrap="square" anchor="ctr">
            <a:spAutoFit/>
          </a:bodyPr>
          <a:lstStyle/>
          <a:p>
            <a:pPr algn="l"/>
            <a:r>
              <a:rPr sz="1200" b="1" i="0">
                <a:solidFill>
                  <a:srgbClr val="1E3A5F"/>
                </a:solidFill>
                <a:latin typeface="Inter"/>
              </a:rPr>
              <a:t>Criterion</a:t>
            </a:r>
          </a:p>
        </p:txBody>
      </p:sp>
      <p:sp>
        <p:nvSpPr>
          <p:cNvPr id="7" name="TextBox 6"/>
          <p:cNvSpPr txBox="1"/>
          <p:nvPr/>
        </p:nvSpPr>
        <p:spPr>
          <a:xfrm>
            <a:off x="3390900" y="1771600"/>
            <a:ext cx="4057650" cy="450000"/>
          </a:xfrm>
          <a:prstGeom prst="rect">
            <a:avLst/>
          </a:prstGeom>
          <a:noFill/>
        </p:spPr>
        <p:txBody>
          <a:bodyPr wrap="square" anchor="ctr">
            <a:spAutoFit/>
          </a:bodyPr>
          <a:lstStyle/>
          <a:p>
            <a:pPr algn="ctr"/>
            <a:r>
              <a:rPr sz="1200" b="1" i="0">
                <a:solidFill>
                  <a:srgbClr val="1E3A5F"/>
                </a:solidFill>
                <a:latin typeface="Inter"/>
              </a:rPr>
              <a:t>Option A</a:t>
            </a:r>
          </a:p>
        </p:txBody>
      </p:sp>
      <p:sp>
        <p:nvSpPr>
          <p:cNvPr id="8" name="TextBox 7"/>
          <p:cNvSpPr txBox="1"/>
          <p:nvPr/>
        </p:nvSpPr>
        <p:spPr>
          <a:xfrm>
            <a:off x="7448550" y="1771600"/>
            <a:ext cx="4057650" cy="450000"/>
          </a:xfrm>
          <a:prstGeom prst="rect">
            <a:avLst/>
          </a:prstGeom>
          <a:noFill/>
        </p:spPr>
        <p:txBody>
          <a:bodyPr wrap="square" anchor="ctr">
            <a:spAutoFit/>
          </a:bodyPr>
          <a:lstStyle/>
          <a:p>
            <a:pPr algn="ctr"/>
            <a:r>
              <a:rPr sz="1200" b="1" i="0">
                <a:solidFill>
                  <a:srgbClr val="1E3A5F"/>
                </a:solidFill>
                <a:latin typeface="Inter"/>
              </a:rPr>
              <a:t>Option B</a:t>
            </a:r>
          </a:p>
        </p:txBody>
      </p:sp>
      <p:cxnSp>
        <p:nvCxnSpPr>
          <p:cNvPr id="9" name="Connector 8"/>
          <p:cNvCxnSpPr/>
          <p:nvPr/>
        </p:nvCxnSpPr>
        <p:spPr>
          <a:xfrm>
            <a:off x="685800" y="2221600"/>
            <a:ext cx="10820400" cy="0"/>
          </a:xfrm>
          <a:prstGeom prst="line">
            <a:avLst/>
          </a:prstGeom>
          <a:ln w="12700">
            <a:solidFill>
              <a:srgbClr val="1E3A5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 y="2246600"/>
            <a:ext cx="10820400" cy="0"/>
          </a:xfrm>
          <a:prstGeom prst="line">
            <a:avLst/>
          </a:prstGeom>
          <a:ln w="6350">
            <a:solidFill>
              <a:srgbClr val="1E3A5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271600"/>
            <a:ext cx="2705100" cy="450000"/>
          </a:xfrm>
          <a:prstGeom prst="rect">
            <a:avLst/>
          </a:prstGeom>
          <a:noFill/>
        </p:spPr>
        <p:txBody>
          <a:bodyPr wrap="square" anchor="ctr">
            <a:spAutoFit/>
          </a:bodyPr>
          <a:lstStyle/>
          <a:p>
            <a:pPr algn="l"/>
            <a:r>
              <a:rPr sz="1100" b="1" i="0">
                <a:solidFill>
                  <a:srgbClr val="4A5568"/>
                </a:solidFill>
                <a:latin typeface="Inter"/>
              </a:rPr>
              <a:t>Cost</a:t>
            </a:r>
          </a:p>
        </p:txBody>
      </p:sp>
      <p:sp>
        <p:nvSpPr>
          <p:cNvPr id="12" name="TextBox 11"/>
          <p:cNvSpPr txBox="1"/>
          <p:nvPr/>
        </p:nvSpPr>
        <p:spPr>
          <a:xfrm>
            <a:off x="3390900" y="2271600"/>
            <a:ext cx="4057650" cy="450000"/>
          </a:xfrm>
          <a:prstGeom prst="rect">
            <a:avLst/>
          </a:prstGeom>
          <a:noFill/>
        </p:spPr>
        <p:txBody>
          <a:bodyPr wrap="square" anchor="ctr">
            <a:spAutoFit/>
          </a:bodyPr>
          <a:lstStyle/>
          <a:p>
            <a:pPr algn="ctr"/>
            <a:r>
              <a:rPr sz="1100" b="0" i="0">
                <a:solidFill>
                  <a:srgbClr val="1E3A5F"/>
                </a:solidFill>
                <a:latin typeface="Inter"/>
              </a:rPr>
              <a:t>$500K/year</a:t>
            </a:r>
          </a:p>
        </p:txBody>
      </p:sp>
      <p:sp>
        <p:nvSpPr>
          <p:cNvPr id="13" name="TextBox 12"/>
          <p:cNvSpPr txBox="1"/>
          <p:nvPr/>
        </p:nvSpPr>
        <p:spPr>
          <a:xfrm>
            <a:off x="7448550" y="2271600"/>
            <a:ext cx="4057650" cy="450000"/>
          </a:xfrm>
          <a:prstGeom prst="rect">
            <a:avLst/>
          </a:prstGeom>
          <a:noFill/>
        </p:spPr>
        <p:txBody>
          <a:bodyPr wrap="square" anchor="ctr">
            <a:spAutoFit/>
          </a:bodyPr>
          <a:lstStyle/>
          <a:p>
            <a:pPr algn="ctr"/>
            <a:r>
              <a:rPr sz="1100" b="0" i="0">
                <a:solidFill>
                  <a:srgbClr val="1E3A5F"/>
                </a:solidFill>
                <a:latin typeface="Inter"/>
              </a:rPr>
              <a:t>$350K/year</a:t>
            </a:r>
          </a:p>
        </p:txBody>
      </p:sp>
      <p:cxnSp>
        <p:nvCxnSpPr>
          <p:cNvPr id="14" name="Connector 13"/>
          <p:cNvCxnSpPr/>
          <p:nvPr/>
        </p:nvCxnSpPr>
        <p:spPr>
          <a:xfrm>
            <a:off x="685800" y="2721600"/>
            <a:ext cx="10820400" cy="0"/>
          </a:xfrm>
          <a:prstGeom prst="line">
            <a:avLst/>
          </a:prstGeom>
          <a:ln w="3175">
            <a:solidFill>
              <a:srgbClr val="A4AAB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721600"/>
            <a:ext cx="2705100" cy="450000"/>
          </a:xfrm>
          <a:prstGeom prst="rect">
            <a:avLst/>
          </a:prstGeom>
          <a:noFill/>
        </p:spPr>
        <p:txBody>
          <a:bodyPr wrap="square" anchor="ctr">
            <a:spAutoFit/>
          </a:bodyPr>
          <a:lstStyle/>
          <a:p>
            <a:pPr algn="l"/>
            <a:r>
              <a:rPr sz="1100" b="1" i="0">
                <a:solidFill>
                  <a:srgbClr val="4A5568"/>
                </a:solidFill>
                <a:latin typeface="Inter"/>
              </a:rPr>
              <a:t>Implementation</a:t>
            </a:r>
          </a:p>
        </p:txBody>
      </p:sp>
      <p:sp>
        <p:nvSpPr>
          <p:cNvPr id="16" name="TextBox 15"/>
          <p:cNvSpPr txBox="1"/>
          <p:nvPr/>
        </p:nvSpPr>
        <p:spPr>
          <a:xfrm>
            <a:off x="3390900" y="2721600"/>
            <a:ext cx="4057650" cy="450000"/>
          </a:xfrm>
          <a:prstGeom prst="rect">
            <a:avLst/>
          </a:prstGeom>
          <a:noFill/>
        </p:spPr>
        <p:txBody>
          <a:bodyPr wrap="square" anchor="ctr">
            <a:spAutoFit/>
          </a:bodyPr>
          <a:lstStyle/>
          <a:p>
            <a:pPr algn="ctr"/>
            <a:r>
              <a:rPr sz="1100" b="0" i="0">
                <a:solidFill>
                  <a:srgbClr val="1E3A5F"/>
                </a:solidFill>
                <a:latin typeface="Inter"/>
              </a:rPr>
              <a:t>6 months</a:t>
            </a:r>
          </a:p>
        </p:txBody>
      </p:sp>
      <p:sp>
        <p:nvSpPr>
          <p:cNvPr id="17" name="TextBox 16"/>
          <p:cNvSpPr txBox="1"/>
          <p:nvPr/>
        </p:nvSpPr>
        <p:spPr>
          <a:xfrm>
            <a:off x="7448550" y="2721600"/>
            <a:ext cx="4057650" cy="450000"/>
          </a:xfrm>
          <a:prstGeom prst="rect">
            <a:avLst/>
          </a:prstGeom>
          <a:noFill/>
        </p:spPr>
        <p:txBody>
          <a:bodyPr wrap="square" anchor="ctr">
            <a:spAutoFit/>
          </a:bodyPr>
          <a:lstStyle/>
          <a:p>
            <a:pPr algn="ctr"/>
            <a:r>
              <a:rPr sz="1100" b="0" i="0">
                <a:solidFill>
                  <a:srgbClr val="1E3A5F"/>
                </a:solidFill>
                <a:latin typeface="Inter"/>
              </a:rPr>
              <a:t>4 months</a:t>
            </a:r>
          </a:p>
        </p:txBody>
      </p:sp>
      <p:cxnSp>
        <p:nvCxnSpPr>
          <p:cNvPr id="18" name="Connector 17"/>
          <p:cNvCxnSpPr/>
          <p:nvPr/>
        </p:nvCxnSpPr>
        <p:spPr>
          <a:xfrm>
            <a:off x="685800" y="3171600"/>
            <a:ext cx="10820400" cy="0"/>
          </a:xfrm>
          <a:prstGeom prst="line">
            <a:avLst/>
          </a:prstGeom>
          <a:ln w="3175">
            <a:solidFill>
              <a:srgbClr val="A4AAB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171600"/>
            <a:ext cx="2705100" cy="450000"/>
          </a:xfrm>
          <a:prstGeom prst="rect">
            <a:avLst/>
          </a:prstGeom>
          <a:noFill/>
        </p:spPr>
        <p:txBody>
          <a:bodyPr wrap="square" anchor="ctr">
            <a:spAutoFit/>
          </a:bodyPr>
          <a:lstStyle/>
          <a:p>
            <a:pPr algn="l"/>
            <a:r>
              <a:rPr sz="1100" b="1" i="0">
                <a:solidFill>
                  <a:srgbClr val="4A5568"/>
                </a:solidFill>
                <a:latin typeface="Inter"/>
              </a:rPr>
              <a:t>Scalability</a:t>
            </a:r>
          </a:p>
        </p:txBody>
      </p:sp>
      <p:sp>
        <p:nvSpPr>
          <p:cNvPr id="20" name="TextBox 19"/>
          <p:cNvSpPr txBox="1"/>
          <p:nvPr/>
        </p:nvSpPr>
        <p:spPr>
          <a:xfrm>
            <a:off x="3390900" y="3171600"/>
            <a:ext cx="4057650" cy="450000"/>
          </a:xfrm>
          <a:prstGeom prst="rect">
            <a:avLst/>
          </a:prstGeom>
          <a:noFill/>
        </p:spPr>
        <p:txBody>
          <a:bodyPr wrap="square" anchor="ctr">
            <a:spAutoFit/>
          </a:bodyPr>
          <a:lstStyle/>
          <a:p>
            <a:pPr algn="ctr"/>
            <a:r>
              <a:rPr sz="1100" b="0" i="0">
                <a:solidFill>
                  <a:srgbClr val="1E3A5F"/>
                </a:solidFill>
                <a:latin typeface="Inter"/>
              </a:rPr>
              <a:t>Enterprise-grade</a:t>
            </a:r>
          </a:p>
        </p:txBody>
      </p:sp>
      <p:sp>
        <p:nvSpPr>
          <p:cNvPr id="21" name="TextBox 20"/>
          <p:cNvSpPr txBox="1"/>
          <p:nvPr/>
        </p:nvSpPr>
        <p:spPr>
          <a:xfrm>
            <a:off x="7448550" y="3171600"/>
            <a:ext cx="4057650" cy="450000"/>
          </a:xfrm>
          <a:prstGeom prst="rect">
            <a:avLst/>
          </a:prstGeom>
          <a:noFill/>
        </p:spPr>
        <p:txBody>
          <a:bodyPr wrap="square" anchor="ctr">
            <a:spAutoFit/>
          </a:bodyPr>
          <a:lstStyle/>
          <a:p>
            <a:pPr algn="ctr"/>
            <a:r>
              <a:rPr sz="1100" b="0" i="0">
                <a:solidFill>
                  <a:srgbClr val="1E3A5F"/>
                </a:solidFill>
                <a:latin typeface="Inter"/>
              </a:rPr>
              <a:t>Mid-market focus</a:t>
            </a:r>
          </a:p>
        </p:txBody>
      </p:sp>
      <p:cxnSp>
        <p:nvCxnSpPr>
          <p:cNvPr id="22" name="Connector 21"/>
          <p:cNvCxnSpPr/>
          <p:nvPr/>
        </p:nvCxnSpPr>
        <p:spPr>
          <a:xfrm>
            <a:off x="685800" y="3621600"/>
            <a:ext cx="10820400" cy="0"/>
          </a:xfrm>
          <a:prstGeom prst="line">
            <a:avLst/>
          </a:prstGeom>
          <a:ln w="3175">
            <a:solidFill>
              <a:srgbClr val="A4AAB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621600"/>
            <a:ext cx="2705100" cy="450000"/>
          </a:xfrm>
          <a:prstGeom prst="rect">
            <a:avLst/>
          </a:prstGeom>
          <a:noFill/>
        </p:spPr>
        <p:txBody>
          <a:bodyPr wrap="square" anchor="ctr">
            <a:spAutoFit/>
          </a:bodyPr>
          <a:lstStyle/>
          <a:p>
            <a:pPr algn="l"/>
            <a:r>
              <a:rPr sz="1100" b="1" i="0">
                <a:solidFill>
                  <a:srgbClr val="4A5568"/>
                </a:solidFill>
                <a:latin typeface="Inter"/>
              </a:rPr>
              <a:t>Support</a:t>
            </a:r>
          </a:p>
        </p:txBody>
      </p:sp>
      <p:sp>
        <p:nvSpPr>
          <p:cNvPr id="24" name="TextBox 23"/>
          <p:cNvSpPr txBox="1"/>
          <p:nvPr/>
        </p:nvSpPr>
        <p:spPr>
          <a:xfrm>
            <a:off x="3390900" y="3621600"/>
            <a:ext cx="4057650" cy="450000"/>
          </a:xfrm>
          <a:prstGeom prst="rect">
            <a:avLst/>
          </a:prstGeom>
          <a:noFill/>
        </p:spPr>
        <p:txBody>
          <a:bodyPr wrap="square" anchor="ctr">
            <a:spAutoFit/>
          </a:bodyPr>
          <a:lstStyle/>
          <a:p>
            <a:pPr algn="ctr"/>
            <a:r>
              <a:rPr sz="1100" b="0" i="0">
                <a:solidFill>
                  <a:srgbClr val="1E3A5F"/>
                </a:solidFill>
                <a:latin typeface="Inter"/>
              </a:rPr>
              <a:t>24/7 dedicated</a:t>
            </a:r>
          </a:p>
        </p:txBody>
      </p:sp>
      <p:sp>
        <p:nvSpPr>
          <p:cNvPr id="25" name="TextBox 24"/>
          <p:cNvSpPr txBox="1"/>
          <p:nvPr/>
        </p:nvSpPr>
        <p:spPr>
          <a:xfrm>
            <a:off x="7448550" y="3621600"/>
            <a:ext cx="4057650" cy="450000"/>
          </a:xfrm>
          <a:prstGeom prst="rect">
            <a:avLst/>
          </a:prstGeom>
          <a:noFill/>
        </p:spPr>
        <p:txBody>
          <a:bodyPr wrap="square" anchor="ctr">
            <a:spAutoFit/>
          </a:bodyPr>
          <a:lstStyle/>
          <a:p>
            <a:pPr algn="ctr"/>
            <a:r>
              <a:rPr sz="1100" b="0" i="0">
                <a:solidFill>
                  <a:srgbClr val="1E3A5F"/>
                </a:solidFill>
                <a:latin typeface="Inter"/>
              </a:rPr>
              <a:t>Business hours</a:t>
            </a:r>
          </a:p>
        </p:txBody>
      </p:sp>
      <p:cxnSp>
        <p:nvCxnSpPr>
          <p:cNvPr id="26" name="Connector 25"/>
          <p:cNvCxnSpPr/>
          <p:nvPr/>
        </p:nvCxnSpPr>
        <p:spPr>
          <a:xfrm>
            <a:off x="685800" y="4071600"/>
            <a:ext cx="10820400" cy="0"/>
          </a:xfrm>
          <a:prstGeom prst="line">
            <a:avLst/>
          </a:prstGeom>
          <a:ln w="3175">
            <a:solidFill>
              <a:srgbClr val="A4AAB3"/>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85800" y="4071600"/>
            <a:ext cx="2705100" cy="450000"/>
          </a:xfrm>
          <a:prstGeom prst="rect">
            <a:avLst/>
          </a:prstGeom>
          <a:noFill/>
        </p:spPr>
        <p:txBody>
          <a:bodyPr wrap="square" anchor="ctr">
            <a:spAutoFit/>
          </a:bodyPr>
          <a:lstStyle/>
          <a:p>
            <a:pPr algn="l"/>
            <a:r>
              <a:rPr sz="1100" b="1" i="0">
                <a:solidFill>
                  <a:srgbClr val="4A5568"/>
                </a:solidFill>
                <a:latin typeface="Inter"/>
              </a:rPr>
              <a:t>Integration</a:t>
            </a:r>
          </a:p>
        </p:txBody>
      </p:sp>
      <p:sp>
        <p:nvSpPr>
          <p:cNvPr id="28" name="TextBox 27"/>
          <p:cNvSpPr txBox="1"/>
          <p:nvPr/>
        </p:nvSpPr>
        <p:spPr>
          <a:xfrm>
            <a:off x="3390900" y="4071600"/>
            <a:ext cx="4057650" cy="450000"/>
          </a:xfrm>
          <a:prstGeom prst="rect">
            <a:avLst/>
          </a:prstGeom>
          <a:noFill/>
        </p:spPr>
        <p:txBody>
          <a:bodyPr wrap="square" anchor="ctr">
            <a:spAutoFit/>
          </a:bodyPr>
          <a:lstStyle/>
          <a:p>
            <a:pPr algn="ctr"/>
            <a:r>
              <a:rPr sz="1100" b="0" i="0">
                <a:solidFill>
                  <a:srgbClr val="1E3A5F"/>
                </a:solidFill>
                <a:latin typeface="Inter"/>
              </a:rPr>
              <a:t>200+ connectors</a:t>
            </a:r>
          </a:p>
        </p:txBody>
      </p:sp>
      <p:sp>
        <p:nvSpPr>
          <p:cNvPr id="29" name="TextBox 28"/>
          <p:cNvSpPr txBox="1"/>
          <p:nvPr/>
        </p:nvSpPr>
        <p:spPr>
          <a:xfrm>
            <a:off x="7448550" y="4071600"/>
            <a:ext cx="4057650" cy="450000"/>
          </a:xfrm>
          <a:prstGeom prst="rect">
            <a:avLst/>
          </a:prstGeom>
          <a:noFill/>
        </p:spPr>
        <p:txBody>
          <a:bodyPr wrap="square" anchor="ctr">
            <a:spAutoFit/>
          </a:bodyPr>
          <a:lstStyle/>
          <a:p>
            <a:pPr algn="ctr"/>
            <a:r>
              <a:rPr sz="1100" b="0" i="0">
                <a:solidFill>
                  <a:srgbClr val="1E3A5F"/>
                </a:solidFill>
                <a:latin typeface="Inter"/>
              </a:rPr>
              <a:t>50+ connectors</a:t>
            </a:r>
          </a:p>
        </p:txBody>
      </p:sp>
      <p:cxnSp>
        <p:nvCxnSpPr>
          <p:cNvPr id="30" name="Connector 29"/>
          <p:cNvCxnSpPr/>
          <p:nvPr/>
        </p:nvCxnSpPr>
        <p:spPr>
          <a:xfrm>
            <a:off x="685800" y="4521600"/>
            <a:ext cx="10820400" cy="0"/>
          </a:xfrm>
          <a:prstGeom prst="line">
            <a:avLst/>
          </a:prstGeom>
          <a:ln w="3175">
            <a:solidFill>
              <a:srgbClr val="A4AAB3"/>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85800" y="4521600"/>
            <a:ext cx="2705100" cy="450000"/>
          </a:xfrm>
          <a:prstGeom prst="rect">
            <a:avLst/>
          </a:prstGeom>
          <a:noFill/>
        </p:spPr>
        <p:txBody>
          <a:bodyPr wrap="square" anchor="ctr">
            <a:spAutoFit/>
          </a:bodyPr>
          <a:lstStyle/>
          <a:p>
            <a:pPr algn="l"/>
            <a:r>
              <a:rPr sz="1100" b="1" i="0">
                <a:solidFill>
                  <a:srgbClr val="4A5568"/>
                </a:solidFill>
                <a:latin typeface="Inter"/>
              </a:rPr>
              <a:t>ROI Timeline</a:t>
            </a:r>
          </a:p>
        </p:txBody>
      </p:sp>
      <p:sp>
        <p:nvSpPr>
          <p:cNvPr id="32" name="TextBox 31"/>
          <p:cNvSpPr txBox="1"/>
          <p:nvPr/>
        </p:nvSpPr>
        <p:spPr>
          <a:xfrm>
            <a:off x="3390900" y="4521600"/>
            <a:ext cx="4057650" cy="450000"/>
          </a:xfrm>
          <a:prstGeom prst="rect">
            <a:avLst/>
          </a:prstGeom>
          <a:noFill/>
        </p:spPr>
        <p:txBody>
          <a:bodyPr wrap="square" anchor="ctr">
            <a:spAutoFit/>
          </a:bodyPr>
          <a:lstStyle/>
          <a:p>
            <a:pPr algn="ctr"/>
            <a:r>
              <a:rPr sz="1100" b="0" i="0">
                <a:solidFill>
                  <a:srgbClr val="1E3A5F"/>
                </a:solidFill>
                <a:latin typeface="Inter"/>
              </a:rPr>
              <a:t>12 months</a:t>
            </a:r>
          </a:p>
        </p:txBody>
      </p:sp>
      <p:sp>
        <p:nvSpPr>
          <p:cNvPr id="33" name="TextBox 32"/>
          <p:cNvSpPr txBox="1"/>
          <p:nvPr/>
        </p:nvSpPr>
        <p:spPr>
          <a:xfrm>
            <a:off x="7448550" y="4521600"/>
            <a:ext cx="4057650" cy="450000"/>
          </a:xfrm>
          <a:prstGeom prst="rect">
            <a:avLst/>
          </a:prstGeom>
          <a:noFill/>
        </p:spPr>
        <p:txBody>
          <a:bodyPr wrap="square" anchor="ctr">
            <a:spAutoFit/>
          </a:bodyPr>
          <a:lstStyle/>
          <a:p>
            <a:pPr algn="ctr"/>
            <a:r>
              <a:rPr sz="1100" b="0" i="0">
                <a:solidFill>
                  <a:srgbClr val="1E3A5F"/>
                </a:solidFill>
                <a:latin typeface="Inter"/>
              </a:rPr>
              <a:t>8 months</a:t>
            </a:r>
          </a:p>
        </p:txBody>
      </p:sp>
      <p:cxnSp>
        <p:nvCxnSpPr>
          <p:cNvPr id="34" name="Connector 33"/>
          <p:cNvCxnSpPr/>
          <p:nvPr/>
        </p:nvCxnSpPr>
        <p:spPr>
          <a:xfrm>
            <a:off x="685800" y="4971600"/>
            <a:ext cx="10820400" cy="0"/>
          </a:xfrm>
          <a:prstGeom prst="line">
            <a:avLst/>
          </a:prstGeom>
          <a:ln w="3175">
            <a:solidFill>
              <a:srgbClr val="A4AAB3"/>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37" name="TextBox 36"/>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Financial Summary</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1391600"/>
            <a:ext cx="10820400" cy="300000"/>
          </a:xfrm>
          <a:prstGeom prst="rect">
            <a:avLst/>
          </a:prstGeom>
          <a:noFill/>
        </p:spPr>
        <p:txBody>
          <a:bodyPr wrap="square" anchor="t">
            <a:spAutoFit/>
          </a:bodyPr>
          <a:lstStyle/>
          <a:p>
            <a:pPr algn="l"/>
            <a:r>
              <a:rPr sz="1200" b="0" i="1">
                <a:solidFill>
                  <a:srgbClr val="4A5568"/>
                </a:solidFill>
                <a:latin typeface="Inter"/>
              </a:rPr>
              <a:t>Table 3: Financial Summary</a:t>
            </a:r>
          </a:p>
        </p:txBody>
      </p:sp>
      <p:cxnSp>
        <p:nvCxnSpPr>
          <p:cNvPr id="6" name="Connector 5"/>
          <p:cNvCxnSpPr/>
          <p:nvPr/>
        </p:nvCxnSpPr>
        <p:spPr>
          <a:xfrm>
            <a:off x="685800" y="1691600"/>
            <a:ext cx="10820400" cy="0"/>
          </a:xfrm>
          <a:prstGeom prst="line">
            <a:avLst/>
          </a:prstGeom>
          <a:ln w="6350">
            <a:solidFill>
              <a:srgbClr val="A4AAB3"/>
            </a:solidFill>
          </a:ln>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685800" y="1721600"/>
          <a:ext cx="10820398" cy="4000000"/>
        </p:xfrm>
        <a:graphic>
          <a:graphicData uri="http://schemas.openxmlformats.org/drawingml/2006/table">
            <a:tbl>
              <a:tblPr firstRow="0" bandRow="0" lastRow="0">
                <a:tableStyleId>{5C22544A-7EE6-4342-B048-85BDC9FD1C3A}</a:tableStyleId>
              </a:tblPr>
              <a:tblGrid>
                <a:gridCol w="3278909"/>
                <a:gridCol w="1967345"/>
                <a:gridCol w="1967345"/>
                <a:gridCol w="1967345"/>
                <a:gridCol w="1639454"/>
              </a:tblGrid>
              <a:tr h="571428">
                <a:tc>
                  <a:txBody>
                    <a:bodyPr/>
                    <a:lstStyle/>
                    <a:p>
                      <a:pPr>
                        <a:spcBef>
                          <a:spcPts val="400"/>
                        </a:spcBef>
                        <a:spcAft>
                          <a:spcPts val="400"/>
                        </a:spcAft>
                      </a:pPr>
                      <a:r>
                        <a:rPr sz="1600" b="1">
                          <a:solidFill>
                            <a:srgbClr val="FFFFFF"/>
                          </a:solidFill>
                          <a:latin typeface="Georgia"/>
                        </a:rPr>
                        <a:t>Metric</a:t>
                      </a:r>
                    </a:p>
                  </a:txBody>
                  <a:tcPr anchor="ctr" marL="120000" marR="80000" marT="50000" marB="50000">
                    <a:solidFill>
                      <a:srgbClr val="2563EB"/>
                    </a:solidFill>
                  </a:tcPr>
                </a:tc>
                <a:tc>
                  <a:txBody>
                    <a:bodyPr/>
                    <a:lstStyle/>
                    <a:p>
                      <a:pPr>
                        <a:spcBef>
                          <a:spcPts val="400"/>
                        </a:spcBef>
                        <a:spcAft>
                          <a:spcPts val="400"/>
                        </a:spcAft>
                      </a:pPr>
                      <a:r>
                        <a:rPr sz="1600" b="1">
                          <a:solidFill>
                            <a:srgbClr val="FFFFFF"/>
                          </a:solidFill>
                          <a:latin typeface="Georgia"/>
                        </a:rPr>
                        <a:t>FY 2024</a:t>
                      </a:r>
                    </a:p>
                  </a:txBody>
                  <a:tcPr anchor="ctr" marL="120000" marR="80000" marT="50000" marB="50000">
                    <a:solidFill>
                      <a:srgbClr val="2563EB"/>
                    </a:solidFill>
                  </a:tcPr>
                </a:tc>
                <a:tc>
                  <a:txBody>
                    <a:bodyPr/>
                    <a:lstStyle/>
                    <a:p>
                      <a:pPr>
                        <a:spcBef>
                          <a:spcPts val="400"/>
                        </a:spcBef>
                        <a:spcAft>
                          <a:spcPts val="400"/>
                        </a:spcAft>
                      </a:pPr>
                      <a:r>
                        <a:rPr sz="1600" b="1">
                          <a:solidFill>
                            <a:srgbClr val="FFFFFF"/>
                          </a:solidFill>
                          <a:latin typeface="Georgia"/>
                        </a:rPr>
                        <a:t>FY 2025</a:t>
                      </a:r>
                    </a:p>
                  </a:txBody>
                  <a:tcPr anchor="ctr" marL="120000" marR="80000" marT="50000" marB="50000">
                    <a:solidFill>
                      <a:srgbClr val="2563EB"/>
                    </a:solidFill>
                  </a:tcPr>
                </a:tc>
                <a:tc>
                  <a:txBody>
                    <a:bodyPr/>
                    <a:lstStyle/>
                    <a:p>
                      <a:pPr>
                        <a:spcBef>
                          <a:spcPts val="400"/>
                        </a:spcBef>
                        <a:spcAft>
                          <a:spcPts val="400"/>
                        </a:spcAft>
                      </a:pPr>
                      <a:r>
                        <a:rPr sz="1600" b="1">
                          <a:solidFill>
                            <a:srgbClr val="FFFFFF"/>
                          </a:solidFill>
                          <a:latin typeface="Georgia"/>
                        </a:rPr>
                        <a:t>FY 2026 (Proj)</a:t>
                      </a:r>
                    </a:p>
                  </a:txBody>
                  <a:tcPr anchor="ctr" marL="120000" marR="80000" marT="50000" marB="50000">
                    <a:solidFill>
                      <a:srgbClr val="2563EB"/>
                    </a:solidFill>
                  </a:tcPr>
                </a:tc>
                <a:tc>
                  <a:txBody>
                    <a:bodyPr/>
                    <a:lstStyle/>
                    <a:p>
                      <a:pPr>
                        <a:spcBef>
                          <a:spcPts val="400"/>
                        </a:spcBef>
                        <a:spcAft>
                          <a:spcPts val="400"/>
                        </a:spcAft>
                      </a:pPr>
                      <a:r>
                        <a:rPr sz="1600" b="1">
                          <a:solidFill>
                            <a:srgbClr val="FFFFFF"/>
                          </a:solidFill>
                          <a:latin typeface="Georgia"/>
                        </a:rPr>
                        <a:t>YoY Change</a:t>
                      </a:r>
                    </a:p>
                  </a:txBody>
                  <a:tcPr anchor="ctr" marL="120000" marR="80000" marT="50000" marB="50000">
                    <a:solidFill>
                      <a:srgbClr val="2563EB"/>
                    </a:solidFill>
                  </a:tcPr>
                </a:tc>
              </a:tr>
              <a:tr h="571428">
                <a:tc>
                  <a:txBody>
                    <a:bodyPr/>
                    <a:lstStyle/>
                    <a:p>
                      <a:pPr>
                        <a:spcBef>
                          <a:spcPts val="300"/>
                        </a:spcBef>
                        <a:spcAft>
                          <a:spcPts val="300"/>
                        </a:spcAft>
                      </a:pPr>
                      <a:r>
                        <a:rPr sz="1400">
                          <a:solidFill>
                            <a:srgbClr val="4A5568"/>
                          </a:solidFill>
                          <a:latin typeface="Georgia"/>
                        </a:rPr>
                        <a:t>Revenue</a:t>
                      </a:r>
                    </a:p>
                  </a:txBody>
                  <a:tcPr anchor="ctr" marL="120000" marR="80000" marT="40000" marB="40000">
                    <a:solidFill>
                      <a:srgbClr val="FFFFFF"/>
                    </a:solidFill>
                  </a:tcPr>
                </a:tc>
                <a:tc>
                  <a:txBody>
                    <a:bodyPr/>
                    <a:lstStyle/>
                    <a:p>
                      <a:pPr>
                        <a:spcBef>
                          <a:spcPts val="300"/>
                        </a:spcBef>
                        <a:spcAft>
                          <a:spcPts val="300"/>
                        </a:spcAft>
                      </a:pPr>
                      <a:r>
                        <a:rPr sz="1400">
                          <a:solidFill>
                            <a:srgbClr val="4A5568"/>
                          </a:solidFill>
                          <a:latin typeface="Georgia"/>
                        </a:rPr>
                        <a:t>$690M</a:t>
                      </a:r>
                    </a:p>
                  </a:txBody>
                  <a:tcPr anchor="ctr" marL="120000" marR="80000" marT="40000" marB="40000">
                    <a:solidFill>
                      <a:srgbClr val="FFFFFF"/>
                    </a:solidFill>
                  </a:tcPr>
                </a:tc>
                <a:tc>
                  <a:txBody>
                    <a:bodyPr/>
                    <a:lstStyle/>
                    <a:p>
                      <a:pPr>
                        <a:spcBef>
                          <a:spcPts val="300"/>
                        </a:spcBef>
                        <a:spcAft>
                          <a:spcPts val="300"/>
                        </a:spcAft>
                      </a:pPr>
                      <a:r>
                        <a:rPr sz="1400">
                          <a:solidFill>
                            <a:srgbClr val="4A5568"/>
                          </a:solidFill>
                          <a:latin typeface="Georgia"/>
                        </a:rPr>
                        <a:t>$780M</a:t>
                      </a:r>
                    </a:p>
                  </a:txBody>
                  <a:tcPr anchor="ctr" marL="120000" marR="80000" marT="40000" marB="40000">
                    <a:solidFill>
                      <a:srgbClr val="FFFFFF"/>
                    </a:solidFill>
                  </a:tcPr>
                </a:tc>
                <a:tc>
                  <a:txBody>
                    <a:bodyPr/>
                    <a:lstStyle/>
                    <a:p>
                      <a:pPr>
                        <a:spcBef>
                          <a:spcPts val="300"/>
                        </a:spcBef>
                        <a:spcAft>
                          <a:spcPts val="300"/>
                        </a:spcAft>
                      </a:pPr>
                      <a:r>
                        <a:rPr sz="1400">
                          <a:solidFill>
                            <a:srgbClr val="4A5568"/>
                          </a:solidFill>
                          <a:latin typeface="Georgia"/>
                        </a:rPr>
                        <a:t>$850M</a:t>
                      </a:r>
                    </a:p>
                  </a:txBody>
                  <a:tcPr anchor="ctr" marL="120000" marR="80000" marT="40000" marB="40000">
                    <a:solidFill>
                      <a:srgbClr val="FFFFFF"/>
                    </a:solidFill>
                  </a:tcPr>
                </a:tc>
                <a:tc>
                  <a:txBody>
                    <a:bodyPr/>
                    <a:lstStyle/>
                    <a:p>
                      <a:pPr>
                        <a:spcBef>
                          <a:spcPts val="300"/>
                        </a:spcBef>
                        <a:spcAft>
                          <a:spcPts val="300"/>
                        </a:spcAft>
                      </a:pPr>
                      <a:r>
                        <a:rPr sz="1400">
                          <a:solidFill>
                            <a:srgbClr val="4A5568"/>
                          </a:solidFill>
                          <a:latin typeface="Georgia"/>
                        </a:rPr>
                        <a:t>+9.0%</a:t>
                      </a:r>
                    </a:p>
                  </a:txBody>
                  <a:tcPr anchor="ctr" marL="120000" marR="80000" marT="40000" marB="40000">
                    <a:solidFill>
                      <a:srgbClr val="FFFFFF"/>
                    </a:solidFill>
                  </a:tcPr>
                </a:tc>
              </a:tr>
              <a:tr h="571428">
                <a:tc>
                  <a:txBody>
                    <a:bodyPr/>
                    <a:lstStyle/>
                    <a:p>
                      <a:pPr>
                        <a:spcBef>
                          <a:spcPts val="300"/>
                        </a:spcBef>
                        <a:spcAft>
                          <a:spcPts val="300"/>
                        </a:spcAft>
                      </a:pPr>
                      <a:r>
                        <a:rPr sz="1400">
                          <a:solidFill>
                            <a:srgbClr val="4A5568"/>
                          </a:solidFill>
                          <a:latin typeface="Georgia"/>
                        </a:rPr>
                        <a:t>Gross Profit</a:t>
                      </a:r>
                    </a:p>
                  </a:txBody>
                  <a:tcPr anchor="ctr" marL="120000" marR="80000" marT="40000" marB="40000">
                    <a:solidFill>
                      <a:srgbClr val="E9EFFD"/>
                    </a:solidFill>
                  </a:tcPr>
                </a:tc>
                <a:tc>
                  <a:txBody>
                    <a:bodyPr/>
                    <a:lstStyle/>
                    <a:p>
                      <a:pPr>
                        <a:spcBef>
                          <a:spcPts val="300"/>
                        </a:spcBef>
                        <a:spcAft>
                          <a:spcPts val="300"/>
                        </a:spcAft>
                      </a:pPr>
                      <a:r>
                        <a:rPr sz="1400">
                          <a:solidFill>
                            <a:srgbClr val="4A5568"/>
                          </a:solidFill>
                          <a:latin typeface="Georgia"/>
                        </a:rPr>
                        <a:t>$380M</a:t>
                      </a:r>
                    </a:p>
                  </a:txBody>
                  <a:tcPr anchor="ctr" marL="120000" marR="80000" marT="40000" marB="40000">
                    <a:solidFill>
                      <a:srgbClr val="E9EFFD"/>
                    </a:solidFill>
                  </a:tcPr>
                </a:tc>
                <a:tc>
                  <a:txBody>
                    <a:bodyPr/>
                    <a:lstStyle/>
                    <a:p>
                      <a:pPr>
                        <a:spcBef>
                          <a:spcPts val="300"/>
                        </a:spcBef>
                        <a:spcAft>
                          <a:spcPts val="300"/>
                        </a:spcAft>
                      </a:pPr>
                      <a:r>
                        <a:rPr sz="1400">
                          <a:solidFill>
                            <a:srgbClr val="4A5568"/>
                          </a:solidFill>
                          <a:latin typeface="Georgia"/>
                        </a:rPr>
                        <a:t>$440M</a:t>
                      </a:r>
                    </a:p>
                  </a:txBody>
                  <a:tcPr anchor="ctr" marL="120000" marR="80000" marT="40000" marB="40000">
                    <a:solidFill>
                      <a:srgbClr val="E9EFFD"/>
                    </a:solidFill>
                  </a:tcPr>
                </a:tc>
                <a:tc>
                  <a:txBody>
                    <a:bodyPr/>
                    <a:lstStyle/>
                    <a:p>
                      <a:pPr>
                        <a:spcBef>
                          <a:spcPts val="300"/>
                        </a:spcBef>
                        <a:spcAft>
                          <a:spcPts val="300"/>
                        </a:spcAft>
                      </a:pPr>
                      <a:r>
                        <a:rPr sz="1400">
                          <a:solidFill>
                            <a:srgbClr val="4A5568"/>
                          </a:solidFill>
                          <a:latin typeface="Georgia"/>
                        </a:rPr>
                        <a:t>$490M</a:t>
                      </a:r>
                    </a:p>
                  </a:txBody>
                  <a:tcPr anchor="ctr" marL="120000" marR="80000" marT="40000" marB="40000">
                    <a:solidFill>
                      <a:srgbClr val="E9EFFD"/>
                    </a:solidFill>
                  </a:tcPr>
                </a:tc>
                <a:tc>
                  <a:txBody>
                    <a:bodyPr/>
                    <a:lstStyle/>
                    <a:p>
                      <a:pPr>
                        <a:spcBef>
                          <a:spcPts val="300"/>
                        </a:spcBef>
                        <a:spcAft>
                          <a:spcPts val="300"/>
                        </a:spcAft>
                      </a:pPr>
                      <a:r>
                        <a:rPr sz="1400">
                          <a:solidFill>
                            <a:srgbClr val="4A5568"/>
                          </a:solidFill>
                          <a:latin typeface="Georgia"/>
                        </a:rPr>
                        <a:t>+11.4%</a:t>
                      </a:r>
                    </a:p>
                  </a:txBody>
                  <a:tcPr anchor="ctr" marL="120000" marR="80000" marT="40000" marB="40000">
                    <a:solidFill>
                      <a:srgbClr val="E9EFFD"/>
                    </a:solidFill>
                  </a:tcPr>
                </a:tc>
              </a:tr>
              <a:tr h="571428">
                <a:tc>
                  <a:txBody>
                    <a:bodyPr/>
                    <a:lstStyle/>
                    <a:p>
                      <a:pPr>
                        <a:spcBef>
                          <a:spcPts val="300"/>
                        </a:spcBef>
                        <a:spcAft>
                          <a:spcPts val="300"/>
                        </a:spcAft>
                      </a:pPr>
                      <a:r>
                        <a:rPr sz="1400">
                          <a:solidFill>
                            <a:srgbClr val="4A5568"/>
                          </a:solidFill>
                          <a:latin typeface="Georgia"/>
                        </a:rPr>
                        <a:t>Operating Income</a:t>
                      </a:r>
                    </a:p>
                  </a:txBody>
                  <a:tcPr anchor="ctr" marL="120000" marR="80000" marT="40000" marB="40000">
                    <a:solidFill>
                      <a:srgbClr val="FFFFFF"/>
                    </a:solidFill>
                  </a:tcPr>
                </a:tc>
                <a:tc>
                  <a:txBody>
                    <a:bodyPr/>
                    <a:lstStyle/>
                    <a:p>
                      <a:pPr>
                        <a:spcBef>
                          <a:spcPts val="300"/>
                        </a:spcBef>
                        <a:spcAft>
                          <a:spcPts val="300"/>
                        </a:spcAft>
                      </a:pPr>
                      <a:r>
                        <a:rPr sz="1400">
                          <a:solidFill>
                            <a:srgbClr val="4A5568"/>
                          </a:solidFill>
                          <a:latin typeface="Georgia"/>
                        </a:rPr>
                        <a:t>$95M</a:t>
                      </a:r>
                    </a:p>
                  </a:txBody>
                  <a:tcPr anchor="ctr" marL="120000" marR="80000" marT="40000" marB="40000">
                    <a:solidFill>
                      <a:srgbClr val="FFFFFF"/>
                    </a:solidFill>
                  </a:tcPr>
                </a:tc>
                <a:tc>
                  <a:txBody>
                    <a:bodyPr/>
                    <a:lstStyle/>
                    <a:p>
                      <a:pPr>
                        <a:spcBef>
                          <a:spcPts val="300"/>
                        </a:spcBef>
                        <a:spcAft>
                          <a:spcPts val="300"/>
                        </a:spcAft>
                      </a:pPr>
                      <a:r>
                        <a:rPr sz="1400">
                          <a:solidFill>
                            <a:srgbClr val="4A5568"/>
                          </a:solidFill>
                          <a:latin typeface="Georgia"/>
                        </a:rPr>
                        <a:t>$120M</a:t>
                      </a:r>
                    </a:p>
                  </a:txBody>
                  <a:tcPr anchor="ctr" marL="120000" marR="80000" marT="40000" marB="40000">
                    <a:solidFill>
                      <a:srgbClr val="FFFFFF"/>
                    </a:solidFill>
                  </a:tcPr>
                </a:tc>
                <a:tc>
                  <a:txBody>
                    <a:bodyPr/>
                    <a:lstStyle/>
                    <a:p>
                      <a:pPr>
                        <a:spcBef>
                          <a:spcPts val="300"/>
                        </a:spcBef>
                        <a:spcAft>
                          <a:spcPts val="300"/>
                        </a:spcAft>
                      </a:pPr>
                      <a:r>
                        <a:rPr sz="1400">
                          <a:solidFill>
                            <a:srgbClr val="4A5568"/>
                          </a:solidFill>
                          <a:latin typeface="Georgia"/>
                        </a:rPr>
                        <a:t>$145M</a:t>
                      </a:r>
                    </a:p>
                  </a:txBody>
                  <a:tcPr anchor="ctr" marL="120000" marR="80000" marT="40000" marB="40000">
                    <a:solidFill>
                      <a:srgbClr val="FFFFFF"/>
                    </a:solidFill>
                  </a:tcPr>
                </a:tc>
                <a:tc>
                  <a:txBody>
                    <a:bodyPr/>
                    <a:lstStyle/>
                    <a:p>
                      <a:pPr>
                        <a:spcBef>
                          <a:spcPts val="300"/>
                        </a:spcBef>
                        <a:spcAft>
                          <a:spcPts val="300"/>
                        </a:spcAft>
                      </a:pPr>
                      <a:r>
                        <a:rPr sz="1400">
                          <a:solidFill>
                            <a:srgbClr val="4A5568"/>
                          </a:solidFill>
                          <a:latin typeface="Georgia"/>
                        </a:rPr>
                        <a:t>+20.8%</a:t>
                      </a:r>
                    </a:p>
                  </a:txBody>
                  <a:tcPr anchor="ctr" marL="120000" marR="80000" marT="40000" marB="40000">
                    <a:solidFill>
                      <a:srgbClr val="FFFFFF"/>
                    </a:solidFill>
                  </a:tcPr>
                </a:tc>
              </a:tr>
              <a:tr h="571428">
                <a:tc>
                  <a:txBody>
                    <a:bodyPr/>
                    <a:lstStyle/>
                    <a:p>
                      <a:pPr>
                        <a:spcBef>
                          <a:spcPts val="300"/>
                        </a:spcBef>
                        <a:spcAft>
                          <a:spcPts val="300"/>
                        </a:spcAft>
                      </a:pPr>
                      <a:r>
                        <a:rPr sz="1400">
                          <a:solidFill>
                            <a:srgbClr val="4A5568"/>
                          </a:solidFill>
                          <a:latin typeface="Georgia"/>
                        </a:rPr>
                        <a:t>Net Income</a:t>
                      </a:r>
                    </a:p>
                  </a:txBody>
                  <a:tcPr anchor="ctr" marL="120000" marR="80000" marT="40000" marB="40000">
                    <a:solidFill>
                      <a:srgbClr val="E9EFFD"/>
                    </a:solidFill>
                  </a:tcPr>
                </a:tc>
                <a:tc>
                  <a:txBody>
                    <a:bodyPr/>
                    <a:lstStyle/>
                    <a:p>
                      <a:pPr>
                        <a:spcBef>
                          <a:spcPts val="300"/>
                        </a:spcBef>
                        <a:spcAft>
                          <a:spcPts val="300"/>
                        </a:spcAft>
                      </a:pPr>
                      <a:r>
                        <a:rPr sz="1400">
                          <a:solidFill>
                            <a:srgbClr val="4A5568"/>
                          </a:solidFill>
                          <a:latin typeface="Georgia"/>
                        </a:rPr>
                        <a:t>$72M</a:t>
                      </a:r>
                    </a:p>
                  </a:txBody>
                  <a:tcPr anchor="ctr" marL="120000" marR="80000" marT="40000" marB="40000">
                    <a:solidFill>
                      <a:srgbClr val="E9EFFD"/>
                    </a:solidFill>
                  </a:tcPr>
                </a:tc>
                <a:tc>
                  <a:txBody>
                    <a:bodyPr/>
                    <a:lstStyle/>
                    <a:p>
                      <a:pPr>
                        <a:spcBef>
                          <a:spcPts val="300"/>
                        </a:spcBef>
                        <a:spcAft>
                          <a:spcPts val="300"/>
                        </a:spcAft>
                      </a:pPr>
                      <a:r>
                        <a:rPr sz="1400">
                          <a:solidFill>
                            <a:srgbClr val="4A5568"/>
                          </a:solidFill>
                          <a:latin typeface="Georgia"/>
                        </a:rPr>
                        <a:t>$92M</a:t>
                      </a:r>
                    </a:p>
                  </a:txBody>
                  <a:tcPr anchor="ctr" marL="120000" marR="80000" marT="40000" marB="40000">
                    <a:solidFill>
                      <a:srgbClr val="E9EFFD"/>
                    </a:solidFill>
                  </a:tcPr>
                </a:tc>
                <a:tc>
                  <a:txBody>
                    <a:bodyPr/>
                    <a:lstStyle/>
                    <a:p>
                      <a:pPr>
                        <a:spcBef>
                          <a:spcPts val="300"/>
                        </a:spcBef>
                        <a:spcAft>
                          <a:spcPts val="300"/>
                        </a:spcAft>
                      </a:pPr>
                      <a:r>
                        <a:rPr sz="1400">
                          <a:solidFill>
                            <a:srgbClr val="4A5568"/>
                          </a:solidFill>
                          <a:latin typeface="Georgia"/>
                        </a:rPr>
                        <a:t>$115M</a:t>
                      </a:r>
                    </a:p>
                  </a:txBody>
                  <a:tcPr anchor="ctr" marL="120000" marR="80000" marT="40000" marB="40000">
                    <a:solidFill>
                      <a:srgbClr val="E9EFFD"/>
                    </a:solidFill>
                  </a:tcPr>
                </a:tc>
                <a:tc>
                  <a:txBody>
                    <a:bodyPr/>
                    <a:lstStyle/>
                    <a:p>
                      <a:pPr>
                        <a:spcBef>
                          <a:spcPts val="300"/>
                        </a:spcBef>
                        <a:spcAft>
                          <a:spcPts val="300"/>
                        </a:spcAft>
                      </a:pPr>
                      <a:r>
                        <a:rPr sz="1400">
                          <a:solidFill>
                            <a:srgbClr val="4A5568"/>
                          </a:solidFill>
                          <a:latin typeface="Georgia"/>
                        </a:rPr>
                        <a:t>+25.0%</a:t>
                      </a:r>
                    </a:p>
                  </a:txBody>
                  <a:tcPr anchor="ctr" marL="120000" marR="80000" marT="40000" marB="40000">
                    <a:solidFill>
                      <a:srgbClr val="E9EFFD"/>
                    </a:solidFill>
                  </a:tcPr>
                </a:tc>
              </a:tr>
              <a:tr h="571428">
                <a:tc>
                  <a:txBody>
                    <a:bodyPr/>
                    <a:lstStyle/>
                    <a:p>
                      <a:pPr>
                        <a:spcBef>
                          <a:spcPts val="300"/>
                        </a:spcBef>
                        <a:spcAft>
                          <a:spcPts val="300"/>
                        </a:spcAft>
                      </a:pPr>
                      <a:r>
                        <a:rPr sz="1400">
                          <a:solidFill>
                            <a:srgbClr val="4A5568"/>
                          </a:solidFill>
                          <a:latin typeface="Georgia"/>
                        </a:rPr>
                        <a:t>EBITDA</a:t>
                      </a:r>
                    </a:p>
                  </a:txBody>
                  <a:tcPr anchor="ctr" marL="120000" marR="80000" marT="40000" marB="40000">
                    <a:solidFill>
                      <a:srgbClr val="FFFFFF"/>
                    </a:solidFill>
                  </a:tcPr>
                </a:tc>
                <a:tc>
                  <a:txBody>
                    <a:bodyPr/>
                    <a:lstStyle/>
                    <a:p>
                      <a:pPr>
                        <a:spcBef>
                          <a:spcPts val="300"/>
                        </a:spcBef>
                        <a:spcAft>
                          <a:spcPts val="300"/>
                        </a:spcAft>
                      </a:pPr>
                      <a:r>
                        <a:rPr sz="1400">
                          <a:solidFill>
                            <a:srgbClr val="4A5568"/>
                          </a:solidFill>
                          <a:latin typeface="Georgia"/>
                        </a:rPr>
                        <a:t>$130M</a:t>
                      </a:r>
                    </a:p>
                  </a:txBody>
                  <a:tcPr anchor="ctr" marL="120000" marR="80000" marT="40000" marB="40000">
                    <a:solidFill>
                      <a:srgbClr val="FFFFFF"/>
                    </a:solidFill>
                  </a:tcPr>
                </a:tc>
                <a:tc>
                  <a:txBody>
                    <a:bodyPr/>
                    <a:lstStyle/>
                    <a:p>
                      <a:pPr>
                        <a:spcBef>
                          <a:spcPts val="300"/>
                        </a:spcBef>
                        <a:spcAft>
                          <a:spcPts val="300"/>
                        </a:spcAft>
                      </a:pPr>
                      <a:r>
                        <a:rPr sz="1400">
                          <a:solidFill>
                            <a:srgbClr val="4A5568"/>
                          </a:solidFill>
                          <a:latin typeface="Georgia"/>
                        </a:rPr>
                        <a:t>$160M</a:t>
                      </a:r>
                    </a:p>
                  </a:txBody>
                  <a:tcPr anchor="ctr" marL="120000" marR="80000" marT="40000" marB="40000">
                    <a:solidFill>
                      <a:srgbClr val="FFFFFF"/>
                    </a:solidFill>
                  </a:tcPr>
                </a:tc>
                <a:tc>
                  <a:txBody>
                    <a:bodyPr/>
                    <a:lstStyle/>
                    <a:p>
                      <a:pPr>
                        <a:spcBef>
                          <a:spcPts val="300"/>
                        </a:spcBef>
                        <a:spcAft>
                          <a:spcPts val="300"/>
                        </a:spcAft>
                      </a:pPr>
                      <a:r>
                        <a:rPr sz="1400">
                          <a:solidFill>
                            <a:srgbClr val="4A5568"/>
                          </a:solidFill>
                          <a:latin typeface="Georgia"/>
                        </a:rPr>
                        <a:t>$195M</a:t>
                      </a:r>
                    </a:p>
                  </a:txBody>
                  <a:tcPr anchor="ctr" marL="120000" marR="80000" marT="40000" marB="40000">
                    <a:solidFill>
                      <a:srgbClr val="FFFFFF"/>
                    </a:solidFill>
                  </a:tcPr>
                </a:tc>
                <a:tc>
                  <a:txBody>
                    <a:bodyPr/>
                    <a:lstStyle/>
                    <a:p>
                      <a:pPr>
                        <a:spcBef>
                          <a:spcPts val="300"/>
                        </a:spcBef>
                        <a:spcAft>
                          <a:spcPts val="300"/>
                        </a:spcAft>
                      </a:pPr>
                      <a:r>
                        <a:rPr sz="1400">
                          <a:solidFill>
                            <a:srgbClr val="4A5568"/>
                          </a:solidFill>
                          <a:latin typeface="Georgia"/>
                        </a:rPr>
                        <a:t>+21.9%</a:t>
                      </a:r>
                    </a:p>
                  </a:txBody>
                  <a:tcPr anchor="ctr" marL="120000" marR="80000" marT="40000" marB="40000">
                    <a:solidFill>
                      <a:srgbClr val="FFFFFF"/>
                    </a:solidFill>
                  </a:tcPr>
                </a:tc>
              </a:tr>
              <a:tr h="571432">
                <a:tc>
                  <a:txBody>
                    <a:bodyPr/>
                    <a:lstStyle/>
                    <a:p>
                      <a:pPr>
                        <a:spcBef>
                          <a:spcPts val="300"/>
                        </a:spcBef>
                        <a:spcAft>
                          <a:spcPts val="300"/>
                        </a:spcAft>
                      </a:pPr>
                      <a:r>
                        <a:rPr sz="1400">
                          <a:solidFill>
                            <a:srgbClr val="4A5568"/>
                          </a:solidFill>
                          <a:latin typeface="Georgia"/>
                        </a:rPr>
                        <a:t>EPS</a:t>
                      </a:r>
                    </a:p>
                  </a:txBody>
                  <a:tcPr anchor="ctr" marL="120000" marR="80000" marT="40000" marB="40000">
                    <a:solidFill>
                      <a:srgbClr val="E9EFFD"/>
                    </a:solidFill>
                  </a:tcPr>
                </a:tc>
                <a:tc>
                  <a:txBody>
                    <a:bodyPr/>
                    <a:lstStyle/>
                    <a:p>
                      <a:pPr>
                        <a:spcBef>
                          <a:spcPts val="300"/>
                        </a:spcBef>
                        <a:spcAft>
                          <a:spcPts val="300"/>
                        </a:spcAft>
                      </a:pPr>
                      <a:r>
                        <a:rPr sz="1400">
                          <a:solidFill>
                            <a:srgbClr val="4A5568"/>
                          </a:solidFill>
                          <a:latin typeface="Georgia"/>
                        </a:rPr>
                        <a:t>$3.20</a:t>
                      </a:r>
                    </a:p>
                  </a:txBody>
                  <a:tcPr anchor="ctr" marL="120000" marR="80000" marT="40000" marB="40000">
                    <a:solidFill>
                      <a:srgbClr val="E9EFFD"/>
                    </a:solidFill>
                  </a:tcPr>
                </a:tc>
                <a:tc>
                  <a:txBody>
                    <a:bodyPr/>
                    <a:lstStyle/>
                    <a:p>
                      <a:pPr>
                        <a:spcBef>
                          <a:spcPts val="300"/>
                        </a:spcBef>
                        <a:spcAft>
                          <a:spcPts val="300"/>
                        </a:spcAft>
                      </a:pPr>
                      <a:r>
                        <a:rPr sz="1400">
                          <a:solidFill>
                            <a:srgbClr val="4A5568"/>
                          </a:solidFill>
                          <a:latin typeface="Georgia"/>
                        </a:rPr>
                        <a:t>$4.10</a:t>
                      </a:r>
                    </a:p>
                  </a:txBody>
                  <a:tcPr anchor="ctr" marL="120000" marR="80000" marT="40000" marB="40000">
                    <a:solidFill>
                      <a:srgbClr val="E9EFFD"/>
                    </a:solidFill>
                  </a:tcPr>
                </a:tc>
                <a:tc>
                  <a:txBody>
                    <a:bodyPr/>
                    <a:lstStyle/>
                    <a:p>
                      <a:pPr>
                        <a:spcBef>
                          <a:spcPts val="300"/>
                        </a:spcBef>
                        <a:spcAft>
                          <a:spcPts val="300"/>
                        </a:spcAft>
                      </a:pPr>
                      <a:r>
                        <a:rPr sz="1400">
                          <a:solidFill>
                            <a:srgbClr val="4A5568"/>
                          </a:solidFill>
                          <a:latin typeface="Georgia"/>
                        </a:rPr>
                        <a:t>$5.15</a:t>
                      </a:r>
                    </a:p>
                  </a:txBody>
                  <a:tcPr anchor="ctr" marL="120000" marR="80000" marT="40000" marB="40000">
                    <a:solidFill>
                      <a:srgbClr val="E9EFFD"/>
                    </a:solidFill>
                  </a:tcPr>
                </a:tc>
                <a:tc>
                  <a:txBody>
                    <a:bodyPr/>
                    <a:lstStyle/>
                    <a:p>
                      <a:pPr>
                        <a:spcBef>
                          <a:spcPts val="300"/>
                        </a:spcBef>
                        <a:spcAft>
                          <a:spcPts val="300"/>
                        </a:spcAft>
                      </a:pPr>
                      <a:r>
                        <a:rPr sz="1400">
                          <a:solidFill>
                            <a:srgbClr val="4A5568"/>
                          </a:solidFill>
                          <a:latin typeface="Georgia"/>
                        </a:rPr>
                        <a:t>+25.6%</a:t>
                      </a:r>
                    </a:p>
                  </a:txBody>
                  <a:tcPr anchor="ctr" marL="120000" marR="80000" marT="40000" marB="40000">
                    <a:solidFill>
                      <a:srgbClr val="E9EFFD"/>
                    </a:solidFill>
                  </a:tcPr>
                </a:tc>
              </a:tr>
            </a:tbl>
          </a:graphicData>
        </a:graphic>
      </p:graphicFrame>
      <p:cxnSp>
        <p:nvCxnSpPr>
          <p:cNvPr id="8" name="Connector 7"/>
          <p:cNvCxnSpPr/>
          <p:nvPr/>
        </p:nvCxnSpPr>
        <p:spPr>
          <a:xfrm>
            <a:off x="685800" y="5751600"/>
            <a:ext cx="10820400" cy="0"/>
          </a:xfrm>
          <a:prstGeom prst="line">
            <a:avLst/>
          </a:prstGeom>
          <a:ln w="6350">
            <a:solidFill>
              <a:srgbClr val="A4AAB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5781600"/>
            <a:ext cx="10820400" cy="250000"/>
          </a:xfrm>
          <a:prstGeom prst="rect">
            <a:avLst/>
          </a:prstGeom>
          <a:noFill/>
        </p:spPr>
        <p:txBody>
          <a:bodyPr wrap="square" anchor="t">
            <a:spAutoFit/>
          </a:bodyPr>
          <a:lstStyle/>
          <a:p>
            <a:pPr algn="l"/>
            <a:r>
              <a:rPr sz="900" b="0" i="1">
                <a:solidFill>
                  <a:srgbClr val="B6BBC2"/>
                </a:solidFill>
                <a:latin typeface="Inter"/>
              </a:rPr>
              <a:t>Source: Internal data</a:t>
            </a:r>
          </a:p>
        </p:txBody>
      </p:sp>
      <p:sp>
        <p:nvSpPr>
          <p:cNvPr id="10" name="Rectangle 9"/>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12" name="TextBox 11"/>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Performance Gauges</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642655" y="2321600"/>
            <a:ext cx="1100000" cy="1100000"/>
          </a:xfrm>
          <a:prstGeom prst="ellipse">
            <a:avLst/>
          </a:prstGeom>
          <a:solidFill>
            <a:srgbClr val="E9EA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642655" y="2321600"/>
            <a:ext cx="1100000" cy="11000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752655" y="2431600"/>
            <a:ext cx="880000" cy="880000"/>
          </a:xfrm>
          <a:prstGeom prst="ellipse">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52655" y="2783600"/>
            <a:ext cx="880000" cy="176000"/>
          </a:xfrm>
          <a:prstGeom prst="rect">
            <a:avLst/>
          </a:prstGeom>
          <a:noFill/>
        </p:spPr>
        <p:txBody>
          <a:bodyPr wrap="square" anchor="ctr">
            <a:spAutoFit/>
          </a:bodyPr>
          <a:lstStyle/>
          <a:p>
            <a:pPr algn="ctr"/>
            <a:r>
              <a:rPr sz="1400" b="1" i="0">
                <a:solidFill>
                  <a:srgbClr val="1E3A5F"/>
                </a:solidFill>
                <a:latin typeface="Inter"/>
              </a:rPr>
              <a:t>82%</a:t>
            </a:r>
          </a:p>
        </p:txBody>
      </p:sp>
      <p:sp>
        <p:nvSpPr>
          <p:cNvPr id="9" name="TextBox 8"/>
          <p:cNvSpPr txBox="1"/>
          <p:nvPr/>
        </p:nvSpPr>
        <p:spPr>
          <a:xfrm>
            <a:off x="951540" y="3521600"/>
            <a:ext cx="2482230" cy="250000"/>
          </a:xfrm>
          <a:prstGeom prst="rect">
            <a:avLst/>
          </a:prstGeom>
          <a:noFill/>
        </p:spPr>
        <p:txBody>
          <a:bodyPr wrap="square" anchor="t">
            <a:spAutoFit/>
          </a:bodyPr>
          <a:lstStyle/>
          <a:p>
            <a:pPr algn="ctr"/>
            <a:r>
              <a:rPr sz="900" b="0" i="1">
                <a:solidFill>
                  <a:srgbClr val="4A5568"/>
                </a:solidFill>
                <a:latin typeface="Inter"/>
              </a:rPr>
              <a:t>Fig. 1. Revenue Target</a:t>
            </a:r>
          </a:p>
        </p:txBody>
      </p:sp>
      <p:sp>
        <p:nvSpPr>
          <p:cNvPr id="10" name="TextBox 9"/>
          <p:cNvSpPr txBox="1"/>
          <p:nvPr/>
        </p:nvSpPr>
        <p:spPr>
          <a:xfrm>
            <a:off x="951540" y="3771600"/>
            <a:ext cx="2482230" cy="250000"/>
          </a:xfrm>
          <a:prstGeom prst="rect">
            <a:avLst/>
          </a:prstGeom>
          <a:noFill/>
        </p:spPr>
        <p:txBody>
          <a:bodyPr wrap="square" anchor="t">
            <a:spAutoFit/>
          </a:bodyPr>
          <a:lstStyle/>
          <a:p>
            <a:pPr algn="ctr"/>
            <a:r>
              <a:rPr sz="1100" b="1" i="0">
                <a:solidFill>
                  <a:srgbClr val="1E3A5F"/>
                </a:solidFill>
                <a:latin typeface="Inter"/>
              </a:rPr>
              <a:t>$8.2M / $10M</a:t>
            </a:r>
          </a:p>
        </p:txBody>
      </p:sp>
      <p:cxnSp>
        <p:nvCxnSpPr>
          <p:cNvPr id="11" name="Connector 10"/>
          <p:cNvCxnSpPr/>
          <p:nvPr/>
        </p:nvCxnSpPr>
        <p:spPr>
          <a:xfrm>
            <a:off x="1016540" y="4061600"/>
            <a:ext cx="2352230" cy="0"/>
          </a:xfrm>
          <a:prstGeom prst="line">
            <a:avLst/>
          </a:prstGeom>
          <a:ln w="6350">
            <a:solidFill>
              <a:srgbClr val="DADDE0"/>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4244885" y="2321600"/>
            <a:ext cx="1100000" cy="1100000"/>
          </a:xfrm>
          <a:prstGeom prst="ellipse">
            <a:avLst/>
          </a:prstGeom>
          <a:solidFill>
            <a:srgbClr val="E9EA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244885" y="2321600"/>
            <a:ext cx="1100000" cy="1100000"/>
          </a:xfrm>
          <a:prstGeom prst="ellipse">
            <a:avLst/>
          </a:prstGeom>
          <a:solidFill>
            <a:srgbClr val="E85D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354885" y="2431600"/>
            <a:ext cx="880000" cy="880000"/>
          </a:xfrm>
          <a:prstGeom prst="ellipse">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54885" y="2783600"/>
            <a:ext cx="880000" cy="176000"/>
          </a:xfrm>
          <a:prstGeom prst="rect">
            <a:avLst/>
          </a:prstGeom>
          <a:noFill/>
        </p:spPr>
        <p:txBody>
          <a:bodyPr wrap="square" anchor="ctr">
            <a:spAutoFit/>
          </a:bodyPr>
          <a:lstStyle/>
          <a:p>
            <a:pPr algn="ctr"/>
            <a:r>
              <a:rPr sz="1400" b="1" i="0">
                <a:solidFill>
                  <a:srgbClr val="1E3A5F"/>
                </a:solidFill>
                <a:latin typeface="Inter"/>
              </a:rPr>
              <a:t>94%</a:t>
            </a:r>
          </a:p>
        </p:txBody>
      </p:sp>
      <p:sp>
        <p:nvSpPr>
          <p:cNvPr id="16" name="TextBox 15"/>
          <p:cNvSpPr txBox="1"/>
          <p:nvPr/>
        </p:nvSpPr>
        <p:spPr>
          <a:xfrm>
            <a:off x="3553770" y="3521600"/>
            <a:ext cx="2482230" cy="250000"/>
          </a:xfrm>
          <a:prstGeom prst="rect">
            <a:avLst/>
          </a:prstGeom>
          <a:noFill/>
        </p:spPr>
        <p:txBody>
          <a:bodyPr wrap="square" anchor="t">
            <a:spAutoFit/>
          </a:bodyPr>
          <a:lstStyle/>
          <a:p>
            <a:pPr algn="ctr"/>
            <a:r>
              <a:rPr sz="900" b="0" i="1">
                <a:solidFill>
                  <a:srgbClr val="4A5568"/>
                </a:solidFill>
                <a:latin typeface="Inter"/>
              </a:rPr>
              <a:t>Fig. 2. Customer Satisfaction</a:t>
            </a:r>
          </a:p>
        </p:txBody>
      </p:sp>
      <p:sp>
        <p:nvSpPr>
          <p:cNvPr id="17" name="TextBox 16"/>
          <p:cNvSpPr txBox="1"/>
          <p:nvPr/>
        </p:nvSpPr>
        <p:spPr>
          <a:xfrm>
            <a:off x="3553770" y="3771600"/>
            <a:ext cx="2482230" cy="250000"/>
          </a:xfrm>
          <a:prstGeom prst="rect">
            <a:avLst/>
          </a:prstGeom>
          <a:noFill/>
        </p:spPr>
        <p:txBody>
          <a:bodyPr wrap="square" anchor="t">
            <a:spAutoFit/>
          </a:bodyPr>
          <a:lstStyle/>
          <a:p>
            <a:pPr algn="ctr"/>
            <a:r>
              <a:rPr sz="1100" b="1" i="0">
                <a:solidFill>
                  <a:srgbClr val="1E3A5F"/>
                </a:solidFill>
                <a:latin typeface="Inter"/>
              </a:rPr>
              <a:t>94%</a:t>
            </a:r>
          </a:p>
        </p:txBody>
      </p:sp>
      <p:cxnSp>
        <p:nvCxnSpPr>
          <p:cNvPr id="18" name="Connector 17"/>
          <p:cNvCxnSpPr/>
          <p:nvPr/>
        </p:nvCxnSpPr>
        <p:spPr>
          <a:xfrm>
            <a:off x="3618770" y="4061600"/>
            <a:ext cx="2352230" cy="0"/>
          </a:xfrm>
          <a:prstGeom prst="line">
            <a:avLst/>
          </a:prstGeom>
          <a:ln w="6350">
            <a:solidFill>
              <a:srgbClr val="DADDE0"/>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847115" y="2321600"/>
            <a:ext cx="1100000" cy="1100000"/>
          </a:xfrm>
          <a:prstGeom prst="ellipse">
            <a:avLst/>
          </a:prstGeom>
          <a:solidFill>
            <a:srgbClr val="E9EA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47115" y="2321600"/>
            <a:ext cx="1100000" cy="1100000"/>
          </a:xfrm>
          <a:prstGeom prst="ellipse">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957115" y="2431600"/>
            <a:ext cx="880000" cy="880000"/>
          </a:xfrm>
          <a:prstGeom prst="ellipse">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57115" y="2783600"/>
            <a:ext cx="880000" cy="176000"/>
          </a:xfrm>
          <a:prstGeom prst="rect">
            <a:avLst/>
          </a:prstGeom>
          <a:noFill/>
        </p:spPr>
        <p:txBody>
          <a:bodyPr wrap="square" anchor="ctr">
            <a:spAutoFit/>
          </a:bodyPr>
          <a:lstStyle/>
          <a:p>
            <a:pPr algn="ctr"/>
            <a:r>
              <a:rPr sz="1400" b="1" i="0">
                <a:solidFill>
                  <a:srgbClr val="1E3A5F"/>
                </a:solidFill>
                <a:latin typeface="Inter"/>
              </a:rPr>
              <a:t>84%</a:t>
            </a:r>
          </a:p>
        </p:txBody>
      </p:sp>
      <p:sp>
        <p:nvSpPr>
          <p:cNvPr id="23" name="TextBox 22"/>
          <p:cNvSpPr txBox="1"/>
          <p:nvPr/>
        </p:nvSpPr>
        <p:spPr>
          <a:xfrm>
            <a:off x="6156000" y="3521600"/>
            <a:ext cx="2482230" cy="250000"/>
          </a:xfrm>
          <a:prstGeom prst="rect">
            <a:avLst/>
          </a:prstGeom>
          <a:noFill/>
        </p:spPr>
        <p:txBody>
          <a:bodyPr wrap="square" anchor="t">
            <a:spAutoFit/>
          </a:bodyPr>
          <a:lstStyle/>
          <a:p>
            <a:pPr algn="ctr"/>
            <a:r>
              <a:rPr sz="900" b="0" i="1">
                <a:solidFill>
                  <a:srgbClr val="4A5568"/>
                </a:solidFill>
                <a:latin typeface="Inter"/>
              </a:rPr>
              <a:t>Fig. 3. Sprint Velocity</a:t>
            </a:r>
          </a:p>
        </p:txBody>
      </p:sp>
      <p:sp>
        <p:nvSpPr>
          <p:cNvPr id="24" name="TextBox 23"/>
          <p:cNvSpPr txBox="1"/>
          <p:nvPr/>
        </p:nvSpPr>
        <p:spPr>
          <a:xfrm>
            <a:off x="6156000" y="3771600"/>
            <a:ext cx="2482230" cy="250000"/>
          </a:xfrm>
          <a:prstGeom prst="rect">
            <a:avLst/>
          </a:prstGeom>
          <a:noFill/>
        </p:spPr>
        <p:txBody>
          <a:bodyPr wrap="square" anchor="t">
            <a:spAutoFit/>
          </a:bodyPr>
          <a:lstStyle/>
          <a:p>
            <a:pPr algn="ctr"/>
            <a:r>
              <a:rPr sz="1100" b="1" i="0">
                <a:solidFill>
                  <a:srgbClr val="1E3A5F"/>
                </a:solidFill>
                <a:latin typeface="Inter"/>
              </a:rPr>
              <a:t>42 / 50 pts</a:t>
            </a:r>
          </a:p>
        </p:txBody>
      </p:sp>
      <p:cxnSp>
        <p:nvCxnSpPr>
          <p:cNvPr id="25" name="Connector 24"/>
          <p:cNvCxnSpPr/>
          <p:nvPr/>
        </p:nvCxnSpPr>
        <p:spPr>
          <a:xfrm>
            <a:off x="6221000" y="4061600"/>
            <a:ext cx="2352230" cy="0"/>
          </a:xfrm>
          <a:prstGeom prst="line">
            <a:avLst/>
          </a:prstGeom>
          <a:ln w="6350">
            <a:solidFill>
              <a:srgbClr val="DADDE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9449345" y="2321600"/>
            <a:ext cx="1100000" cy="1100000"/>
          </a:xfrm>
          <a:prstGeom prst="ellipse">
            <a:avLst/>
          </a:prstGeom>
          <a:solidFill>
            <a:srgbClr val="E9EA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449345" y="2321600"/>
            <a:ext cx="1100000" cy="1100000"/>
          </a:xfrm>
          <a:prstGeom prst="ellipse">
            <a:avLst/>
          </a:prstGeom>
          <a:solidFill>
            <a:srgbClr val="7C5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59345" y="2431600"/>
            <a:ext cx="880000" cy="880000"/>
          </a:xfrm>
          <a:prstGeom prst="ellipse">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59345" y="2783600"/>
            <a:ext cx="880000" cy="176000"/>
          </a:xfrm>
          <a:prstGeom prst="rect">
            <a:avLst/>
          </a:prstGeom>
          <a:noFill/>
        </p:spPr>
        <p:txBody>
          <a:bodyPr wrap="square" anchor="ctr">
            <a:spAutoFit/>
          </a:bodyPr>
          <a:lstStyle/>
          <a:p>
            <a:pPr algn="ctr"/>
            <a:r>
              <a:rPr sz="1400" b="1" i="0">
                <a:solidFill>
                  <a:srgbClr val="1E3A5F"/>
                </a:solidFill>
                <a:latin typeface="Inter"/>
              </a:rPr>
              <a:t>99%</a:t>
            </a:r>
          </a:p>
        </p:txBody>
      </p:sp>
      <p:sp>
        <p:nvSpPr>
          <p:cNvPr id="30" name="TextBox 29"/>
          <p:cNvSpPr txBox="1"/>
          <p:nvPr/>
        </p:nvSpPr>
        <p:spPr>
          <a:xfrm>
            <a:off x="8758230" y="3521600"/>
            <a:ext cx="2482230" cy="250000"/>
          </a:xfrm>
          <a:prstGeom prst="rect">
            <a:avLst/>
          </a:prstGeom>
          <a:noFill/>
        </p:spPr>
        <p:txBody>
          <a:bodyPr wrap="square" anchor="t">
            <a:spAutoFit/>
          </a:bodyPr>
          <a:lstStyle/>
          <a:p>
            <a:pPr algn="ctr"/>
            <a:r>
              <a:rPr sz="900" b="0" i="1">
                <a:solidFill>
                  <a:srgbClr val="4A5568"/>
                </a:solidFill>
                <a:latin typeface="Inter"/>
              </a:rPr>
              <a:t>Fig. 4. Uptime SLA</a:t>
            </a:r>
          </a:p>
        </p:txBody>
      </p:sp>
      <p:sp>
        <p:nvSpPr>
          <p:cNvPr id="31" name="TextBox 30"/>
          <p:cNvSpPr txBox="1"/>
          <p:nvPr/>
        </p:nvSpPr>
        <p:spPr>
          <a:xfrm>
            <a:off x="8758230" y="3771600"/>
            <a:ext cx="2482230" cy="250000"/>
          </a:xfrm>
          <a:prstGeom prst="rect">
            <a:avLst/>
          </a:prstGeom>
          <a:noFill/>
        </p:spPr>
        <p:txBody>
          <a:bodyPr wrap="square" anchor="t">
            <a:spAutoFit/>
          </a:bodyPr>
          <a:lstStyle/>
          <a:p>
            <a:pPr algn="ctr"/>
            <a:r>
              <a:rPr sz="1100" b="1" i="0">
                <a:solidFill>
                  <a:srgbClr val="1E3A5F"/>
                </a:solidFill>
                <a:latin typeface="Inter"/>
              </a:rPr>
              <a:t>99.95%</a:t>
            </a:r>
          </a:p>
        </p:txBody>
      </p:sp>
      <p:cxnSp>
        <p:nvCxnSpPr>
          <p:cNvPr id="32" name="Connector 31"/>
          <p:cNvCxnSpPr/>
          <p:nvPr/>
        </p:nvCxnSpPr>
        <p:spPr>
          <a:xfrm>
            <a:off x="8823230" y="4061600"/>
            <a:ext cx="2352230" cy="0"/>
          </a:xfrm>
          <a:prstGeom prst="line">
            <a:avLst/>
          </a:prstGeom>
          <a:ln w="6350">
            <a:solidFill>
              <a:srgbClr val="DADDE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91540" y="6050800"/>
            <a:ext cx="10408920" cy="200000"/>
          </a:xfrm>
          <a:prstGeom prst="rect">
            <a:avLst/>
          </a:prstGeom>
          <a:noFill/>
        </p:spPr>
        <p:txBody>
          <a:bodyPr wrap="square" anchor="t">
            <a:spAutoFit/>
          </a:bodyPr>
          <a:lstStyle/>
          <a:p>
            <a:pPr algn="l"/>
            <a:r>
              <a:rPr sz="800" b="0" i="1">
                <a:solidFill>
                  <a:srgbClr val="4A5568"/>
                </a:solidFill>
                <a:latin typeface="Inter"/>
              </a:rPr>
              <a:t>Source: Internal performance metrics</a:t>
            </a:r>
          </a:p>
        </p:txBody>
      </p:sp>
      <p:sp>
        <p:nvSpPr>
          <p:cNvPr id="34" name="Rectangle 33"/>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36" name="TextBox 35"/>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3352800" y="2429000"/>
            <a:ext cx="54864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2629000"/>
            <a:ext cx="10820400" cy="400000"/>
          </a:xfrm>
          <a:prstGeom prst="rect">
            <a:avLst/>
          </a:prstGeom>
          <a:noFill/>
        </p:spPr>
        <p:txBody>
          <a:bodyPr wrap="square" anchor="t">
            <a:spAutoFit/>
          </a:bodyPr>
          <a:lstStyle/>
          <a:p>
            <a:pPr algn="ctr"/>
            <a:r>
              <a:rPr sz="1300" b="0" i="0">
                <a:solidFill>
                  <a:srgbClr val="9B2335"/>
                </a:solidFill>
                <a:latin typeface="Inter"/>
              </a:rPr>
              <a:t>Section 05</a:t>
            </a:r>
          </a:p>
        </p:txBody>
      </p:sp>
      <p:sp>
        <p:nvSpPr>
          <p:cNvPr id="5" name="TextBox 4"/>
          <p:cNvSpPr txBox="1"/>
          <p:nvPr/>
        </p:nvSpPr>
        <p:spPr>
          <a:xfrm>
            <a:off x="1185800" y="3129000"/>
            <a:ext cx="9820400" cy="700000"/>
          </a:xfrm>
          <a:prstGeom prst="rect">
            <a:avLst/>
          </a:prstGeom>
          <a:noFill/>
        </p:spPr>
        <p:txBody>
          <a:bodyPr wrap="square" anchor="t">
            <a:spAutoFit/>
          </a:bodyPr>
          <a:lstStyle/>
          <a:p>
            <a:pPr algn="ctr"/>
            <a:r>
              <a:rPr sz="3600" b="1" i="0">
                <a:solidFill>
                  <a:srgbClr val="1E3A5F"/>
                </a:solidFill>
                <a:latin typeface="Inter"/>
              </a:rPr>
              <a:t>Planning</a:t>
            </a:r>
          </a:p>
        </p:txBody>
      </p:sp>
      <p:cxnSp>
        <p:nvCxnSpPr>
          <p:cNvPr id="6" name="Connector 5"/>
          <p:cNvCxnSpPr/>
          <p:nvPr/>
        </p:nvCxnSpPr>
        <p:spPr>
          <a:xfrm>
            <a:off x="3352800" y="4029000"/>
            <a:ext cx="54864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685800" y="4279000"/>
            <a:ext cx="8820400" cy="350000"/>
          </a:xfrm>
          <a:prstGeom prst="rect">
            <a:avLst/>
          </a:prstGeom>
          <a:noFill/>
        </p:spPr>
        <p:txBody>
          <a:bodyPr wrap="square" anchor="t">
            <a:spAutoFit/>
          </a:bodyPr>
          <a:lstStyle/>
          <a:p>
            <a:pPr algn="ctr"/>
            <a:r>
              <a:rPr sz="1300" b="0" i="0">
                <a:solidFill>
                  <a:srgbClr val="4A5568"/>
                </a:solidFill>
                <a:latin typeface="Inter"/>
              </a:rPr>
              <a:t>Roadmap, milestones, and risk management</a:t>
            </a:r>
          </a:p>
        </p:txBody>
      </p:sp>
      <p:sp>
        <p:nvSpPr>
          <p:cNvPr id="8" name="Rectangle 7"/>
          <p:cNvSpPr/>
          <p:nvPr/>
        </p:nvSpPr>
        <p:spPr>
          <a:xfrm>
            <a:off x="0" y="6400800"/>
            <a:ext cx="12192000" cy="457200"/>
          </a:xfrm>
          <a:prstGeom prst="rect">
            <a:avLst/>
          </a:prstGeom>
          <a:solidFill>
            <a:srgbClr val="18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1540" y="6500800"/>
            <a:ext cx="3000000" cy="260000"/>
          </a:xfrm>
          <a:prstGeom prst="rect">
            <a:avLst/>
          </a:prstGeom>
          <a:noFill/>
        </p:spPr>
        <p:txBody>
          <a:bodyPr wrap="square" anchor="t">
            <a:spAutoFit/>
          </a:bodyPr>
          <a:lstStyle/>
          <a:p>
            <a:pPr algn="l"/>
            <a:r>
              <a:rPr sz="1200" b="0" i="0">
                <a:solidFill>
                  <a:srgbClr val="8E9CAF"/>
                </a:solidFill>
                <a:latin typeface="Inter"/>
              </a:rPr>
              <a:t>University</a:t>
            </a:r>
          </a:p>
        </p:txBody>
      </p:sp>
      <p:sp>
        <p:nvSpPr>
          <p:cNvPr id="10" name="TextBox 9"/>
          <p:cNvSpPr txBox="1"/>
          <p:nvPr/>
        </p:nvSpPr>
        <p:spPr>
          <a:xfrm>
            <a:off x="11106200" y="6500800"/>
            <a:ext cx="400000" cy="260000"/>
          </a:xfrm>
          <a:prstGeom prst="rect">
            <a:avLst/>
          </a:prstGeom>
          <a:noFill/>
        </p:spPr>
        <p:txBody>
          <a:bodyPr wrap="square" anchor="t">
            <a:spAutoFit/>
          </a:bodyPr>
          <a:lstStyle/>
          <a:p>
            <a:pPr algn="r"/>
            <a:r>
              <a:rPr sz="900" b="0" i="0">
                <a:solidFill>
                  <a:srgbClr val="8E9CAF"/>
                </a:solidFill>
                <a:latin typeface="Inter"/>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Project Milestones</a:t>
            </a:r>
          </a:p>
        </p:txBody>
      </p:sp>
      <p:cxnSp>
        <p:nvCxnSpPr>
          <p:cNvPr id="3" name="Connector 2"/>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758950" y="2971600"/>
            <a:ext cx="8674100" cy="0"/>
          </a:xfrm>
          <a:prstGeom prst="line">
            <a:avLst/>
          </a:prstGeom>
          <a:ln w="9525">
            <a:solidFill>
              <a:srgbClr val="B6BBC2"/>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668950" y="2881600"/>
            <a:ext cx="180000" cy="180000"/>
          </a:xfrm>
          <a:prstGeom prst="ellipse">
            <a:avLst/>
          </a:prstGeom>
          <a:solidFill>
            <a:srgbClr val="FFFFFF"/>
          </a:solidFill>
          <a:ln w="12700">
            <a:solidFill>
              <a:srgbClr val="9B2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8950" y="2881600"/>
            <a:ext cx="180000" cy="180000"/>
          </a:xfrm>
          <a:prstGeom prst="rect">
            <a:avLst/>
          </a:prstGeom>
          <a:noFill/>
        </p:spPr>
        <p:txBody>
          <a:bodyPr wrap="square" anchor="ctr">
            <a:spAutoFit/>
          </a:bodyPr>
          <a:lstStyle/>
          <a:p>
            <a:pPr algn="ctr"/>
            <a:r>
              <a:rPr sz="1100" b="1" i="0">
                <a:solidFill>
                  <a:srgbClr val="9B2335"/>
                </a:solidFill>
                <a:latin typeface="Inter"/>
              </a:rPr>
              <a:t>1</a:t>
            </a:r>
          </a:p>
        </p:txBody>
      </p:sp>
      <p:sp>
        <p:nvSpPr>
          <p:cNvPr id="7" name="TextBox 6"/>
          <p:cNvSpPr txBox="1"/>
          <p:nvPr/>
        </p:nvSpPr>
        <p:spPr>
          <a:xfrm>
            <a:off x="911540" y="2501600"/>
            <a:ext cx="1694820" cy="250000"/>
          </a:xfrm>
          <a:prstGeom prst="rect">
            <a:avLst/>
          </a:prstGeom>
          <a:noFill/>
        </p:spPr>
        <p:txBody>
          <a:bodyPr wrap="square" anchor="t">
            <a:spAutoFit/>
          </a:bodyPr>
          <a:lstStyle/>
          <a:p>
            <a:pPr algn="ctr"/>
            <a:r>
              <a:rPr sz="900" b="0" i="0">
                <a:solidFill>
                  <a:srgbClr val="4A5568"/>
                </a:solidFill>
                <a:latin typeface="Inter"/>
              </a:rPr>
              <a:t>Jan 2026</a:t>
            </a:r>
          </a:p>
        </p:txBody>
      </p:sp>
      <p:sp>
        <p:nvSpPr>
          <p:cNvPr id="8" name="TextBox 7"/>
          <p:cNvSpPr txBox="1"/>
          <p:nvPr/>
        </p:nvSpPr>
        <p:spPr>
          <a:xfrm>
            <a:off x="911540" y="3241600"/>
            <a:ext cx="1694820" cy="300000"/>
          </a:xfrm>
          <a:prstGeom prst="rect">
            <a:avLst/>
          </a:prstGeom>
          <a:noFill/>
        </p:spPr>
        <p:txBody>
          <a:bodyPr wrap="square" anchor="t">
            <a:spAutoFit/>
          </a:bodyPr>
          <a:lstStyle/>
          <a:p>
            <a:pPr algn="ctr"/>
            <a:r>
              <a:rPr sz="1200" b="1" i="0">
                <a:solidFill>
                  <a:srgbClr val="1E3A5F"/>
                </a:solidFill>
                <a:latin typeface="Inter"/>
              </a:rPr>
              <a:t>Project Kickoff</a:t>
            </a:r>
          </a:p>
        </p:txBody>
      </p:sp>
      <p:sp>
        <p:nvSpPr>
          <p:cNvPr id="9" name="TextBox 8"/>
          <p:cNvSpPr txBox="1"/>
          <p:nvPr/>
        </p:nvSpPr>
        <p:spPr>
          <a:xfrm>
            <a:off x="911540" y="3561600"/>
            <a:ext cx="1694820" cy="350000"/>
          </a:xfrm>
          <a:prstGeom prst="rect">
            <a:avLst/>
          </a:prstGeom>
          <a:noFill/>
        </p:spPr>
        <p:txBody>
          <a:bodyPr wrap="square" anchor="t">
            <a:spAutoFit/>
          </a:bodyPr>
          <a:lstStyle/>
          <a:p>
            <a:pPr algn="ctr"/>
            <a:r>
              <a:rPr sz="1000" b="0" i="0">
                <a:solidFill>
                  <a:srgbClr val="4A5568"/>
                </a:solidFill>
                <a:latin typeface="Inter"/>
              </a:rPr>
              <a:t>Assemble team and define scope</a:t>
            </a:r>
          </a:p>
        </p:txBody>
      </p:sp>
      <p:sp>
        <p:nvSpPr>
          <p:cNvPr id="10" name="Oval 9"/>
          <p:cNvSpPr/>
          <p:nvPr/>
        </p:nvSpPr>
        <p:spPr>
          <a:xfrm>
            <a:off x="3403770" y="2881600"/>
            <a:ext cx="180000" cy="180000"/>
          </a:xfrm>
          <a:prstGeom prst="ellipse">
            <a:avLst/>
          </a:prstGeom>
          <a:solidFill>
            <a:srgbClr val="FFFFFF"/>
          </a:solidFill>
          <a:ln w="12700">
            <a:solidFill>
              <a:srgbClr val="9B2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03770" y="2881600"/>
            <a:ext cx="180000" cy="180000"/>
          </a:xfrm>
          <a:prstGeom prst="rect">
            <a:avLst/>
          </a:prstGeom>
          <a:noFill/>
        </p:spPr>
        <p:txBody>
          <a:bodyPr wrap="square" anchor="ctr">
            <a:spAutoFit/>
          </a:bodyPr>
          <a:lstStyle/>
          <a:p>
            <a:pPr algn="ctr"/>
            <a:r>
              <a:rPr sz="1100" b="1" i="0">
                <a:solidFill>
                  <a:srgbClr val="9B2335"/>
                </a:solidFill>
                <a:latin typeface="Inter"/>
              </a:rPr>
              <a:t>2</a:t>
            </a:r>
          </a:p>
        </p:txBody>
      </p:sp>
      <p:sp>
        <p:nvSpPr>
          <p:cNvPr id="12" name="TextBox 11"/>
          <p:cNvSpPr txBox="1"/>
          <p:nvPr/>
        </p:nvSpPr>
        <p:spPr>
          <a:xfrm>
            <a:off x="2646360" y="2501600"/>
            <a:ext cx="1694820" cy="250000"/>
          </a:xfrm>
          <a:prstGeom prst="rect">
            <a:avLst/>
          </a:prstGeom>
          <a:noFill/>
        </p:spPr>
        <p:txBody>
          <a:bodyPr wrap="square" anchor="t">
            <a:spAutoFit/>
          </a:bodyPr>
          <a:lstStyle/>
          <a:p>
            <a:pPr algn="ctr"/>
            <a:r>
              <a:rPr sz="900" b="0" i="0">
                <a:solidFill>
                  <a:srgbClr val="4A5568"/>
                </a:solidFill>
                <a:latin typeface="Inter"/>
              </a:rPr>
              <a:t>Mar 2026</a:t>
            </a:r>
          </a:p>
        </p:txBody>
      </p:sp>
      <p:sp>
        <p:nvSpPr>
          <p:cNvPr id="13" name="TextBox 12"/>
          <p:cNvSpPr txBox="1"/>
          <p:nvPr/>
        </p:nvSpPr>
        <p:spPr>
          <a:xfrm>
            <a:off x="2646360" y="3241600"/>
            <a:ext cx="1694820" cy="300000"/>
          </a:xfrm>
          <a:prstGeom prst="rect">
            <a:avLst/>
          </a:prstGeom>
          <a:noFill/>
        </p:spPr>
        <p:txBody>
          <a:bodyPr wrap="square" anchor="t">
            <a:spAutoFit/>
          </a:bodyPr>
          <a:lstStyle/>
          <a:p>
            <a:pPr algn="ctr"/>
            <a:r>
              <a:rPr sz="1200" b="1" i="0">
                <a:solidFill>
                  <a:srgbClr val="1E3A5F"/>
                </a:solidFill>
                <a:latin typeface="Inter"/>
              </a:rPr>
              <a:t>Alpha Release</a:t>
            </a:r>
          </a:p>
        </p:txBody>
      </p:sp>
      <p:sp>
        <p:nvSpPr>
          <p:cNvPr id="14" name="TextBox 13"/>
          <p:cNvSpPr txBox="1"/>
          <p:nvPr/>
        </p:nvSpPr>
        <p:spPr>
          <a:xfrm>
            <a:off x="2646360" y="3561600"/>
            <a:ext cx="1694820" cy="350000"/>
          </a:xfrm>
          <a:prstGeom prst="rect">
            <a:avLst/>
          </a:prstGeom>
          <a:noFill/>
        </p:spPr>
        <p:txBody>
          <a:bodyPr wrap="square" anchor="t">
            <a:spAutoFit/>
          </a:bodyPr>
          <a:lstStyle/>
          <a:p>
            <a:pPr algn="ctr"/>
            <a:r>
              <a:rPr sz="1000" b="0" i="0">
                <a:solidFill>
                  <a:srgbClr val="4A5568"/>
                </a:solidFill>
                <a:latin typeface="Inter"/>
              </a:rPr>
              <a:t>Core features complete</a:t>
            </a:r>
          </a:p>
        </p:txBody>
      </p:sp>
      <p:sp>
        <p:nvSpPr>
          <p:cNvPr id="15" name="Oval 14"/>
          <p:cNvSpPr/>
          <p:nvPr/>
        </p:nvSpPr>
        <p:spPr>
          <a:xfrm>
            <a:off x="5138590" y="2881600"/>
            <a:ext cx="180000" cy="180000"/>
          </a:xfrm>
          <a:prstGeom prst="ellipse">
            <a:avLst/>
          </a:prstGeom>
          <a:solidFill>
            <a:srgbClr val="FFFFFF"/>
          </a:solidFill>
          <a:ln w="12700">
            <a:solidFill>
              <a:srgbClr val="9B2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590" y="2881600"/>
            <a:ext cx="180000" cy="180000"/>
          </a:xfrm>
          <a:prstGeom prst="rect">
            <a:avLst/>
          </a:prstGeom>
          <a:noFill/>
        </p:spPr>
        <p:txBody>
          <a:bodyPr wrap="square" anchor="ctr">
            <a:spAutoFit/>
          </a:bodyPr>
          <a:lstStyle/>
          <a:p>
            <a:pPr algn="ctr"/>
            <a:r>
              <a:rPr sz="1100" b="1" i="0">
                <a:solidFill>
                  <a:srgbClr val="9B2335"/>
                </a:solidFill>
                <a:latin typeface="Inter"/>
              </a:rPr>
              <a:t>3</a:t>
            </a:r>
          </a:p>
        </p:txBody>
      </p:sp>
      <p:sp>
        <p:nvSpPr>
          <p:cNvPr id="17" name="TextBox 16"/>
          <p:cNvSpPr txBox="1"/>
          <p:nvPr/>
        </p:nvSpPr>
        <p:spPr>
          <a:xfrm>
            <a:off x="4381180" y="2501600"/>
            <a:ext cx="1694820" cy="250000"/>
          </a:xfrm>
          <a:prstGeom prst="rect">
            <a:avLst/>
          </a:prstGeom>
          <a:noFill/>
        </p:spPr>
        <p:txBody>
          <a:bodyPr wrap="square" anchor="t">
            <a:spAutoFit/>
          </a:bodyPr>
          <a:lstStyle/>
          <a:p>
            <a:pPr algn="ctr"/>
            <a:r>
              <a:rPr sz="900" b="0" i="0">
                <a:solidFill>
                  <a:srgbClr val="4A5568"/>
                </a:solidFill>
                <a:latin typeface="Inter"/>
              </a:rPr>
              <a:t>May 2026</a:t>
            </a:r>
          </a:p>
        </p:txBody>
      </p:sp>
      <p:sp>
        <p:nvSpPr>
          <p:cNvPr id="18" name="TextBox 17"/>
          <p:cNvSpPr txBox="1"/>
          <p:nvPr/>
        </p:nvSpPr>
        <p:spPr>
          <a:xfrm>
            <a:off x="4381180" y="3241600"/>
            <a:ext cx="1694820" cy="300000"/>
          </a:xfrm>
          <a:prstGeom prst="rect">
            <a:avLst/>
          </a:prstGeom>
          <a:noFill/>
        </p:spPr>
        <p:txBody>
          <a:bodyPr wrap="square" anchor="t">
            <a:spAutoFit/>
          </a:bodyPr>
          <a:lstStyle/>
          <a:p>
            <a:pPr algn="ctr"/>
            <a:r>
              <a:rPr sz="1200" b="1" i="0">
                <a:solidFill>
                  <a:srgbClr val="1E3A5F"/>
                </a:solidFill>
                <a:latin typeface="Inter"/>
              </a:rPr>
              <a:t>Beta Testing</a:t>
            </a:r>
          </a:p>
        </p:txBody>
      </p:sp>
      <p:sp>
        <p:nvSpPr>
          <p:cNvPr id="19" name="TextBox 18"/>
          <p:cNvSpPr txBox="1"/>
          <p:nvPr/>
        </p:nvSpPr>
        <p:spPr>
          <a:xfrm>
            <a:off x="4381180" y="3561600"/>
            <a:ext cx="1694820" cy="350000"/>
          </a:xfrm>
          <a:prstGeom prst="rect">
            <a:avLst/>
          </a:prstGeom>
          <a:noFill/>
        </p:spPr>
        <p:txBody>
          <a:bodyPr wrap="square" anchor="t">
            <a:spAutoFit/>
          </a:bodyPr>
          <a:lstStyle/>
          <a:p>
            <a:pPr algn="ctr"/>
            <a:r>
              <a:rPr sz="1000" b="0" i="0">
                <a:solidFill>
                  <a:srgbClr val="4A5568"/>
                </a:solidFill>
                <a:latin typeface="Inter"/>
              </a:rPr>
              <a:t>User acceptance testing</a:t>
            </a:r>
          </a:p>
        </p:txBody>
      </p:sp>
      <p:sp>
        <p:nvSpPr>
          <p:cNvPr id="20" name="Oval 19"/>
          <p:cNvSpPr/>
          <p:nvPr/>
        </p:nvSpPr>
        <p:spPr>
          <a:xfrm>
            <a:off x="6873410" y="2881600"/>
            <a:ext cx="180000" cy="180000"/>
          </a:xfrm>
          <a:prstGeom prst="ellipse">
            <a:avLst/>
          </a:prstGeom>
          <a:solidFill>
            <a:srgbClr val="FFFFFF"/>
          </a:solidFill>
          <a:ln w="12700">
            <a:solidFill>
              <a:srgbClr val="9B2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73410" y="2881600"/>
            <a:ext cx="180000" cy="180000"/>
          </a:xfrm>
          <a:prstGeom prst="rect">
            <a:avLst/>
          </a:prstGeom>
          <a:noFill/>
        </p:spPr>
        <p:txBody>
          <a:bodyPr wrap="square" anchor="ctr">
            <a:spAutoFit/>
          </a:bodyPr>
          <a:lstStyle/>
          <a:p>
            <a:pPr algn="ctr"/>
            <a:r>
              <a:rPr sz="1100" b="1" i="0">
                <a:solidFill>
                  <a:srgbClr val="9B2335"/>
                </a:solidFill>
                <a:latin typeface="Inter"/>
              </a:rPr>
              <a:t>4</a:t>
            </a:r>
          </a:p>
        </p:txBody>
      </p:sp>
      <p:sp>
        <p:nvSpPr>
          <p:cNvPr id="22" name="TextBox 21"/>
          <p:cNvSpPr txBox="1"/>
          <p:nvPr/>
        </p:nvSpPr>
        <p:spPr>
          <a:xfrm>
            <a:off x="6116000" y="2501600"/>
            <a:ext cx="1694820" cy="250000"/>
          </a:xfrm>
          <a:prstGeom prst="rect">
            <a:avLst/>
          </a:prstGeom>
          <a:noFill/>
        </p:spPr>
        <p:txBody>
          <a:bodyPr wrap="square" anchor="t">
            <a:spAutoFit/>
          </a:bodyPr>
          <a:lstStyle/>
          <a:p>
            <a:pPr algn="ctr"/>
            <a:r>
              <a:rPr sz="900" b="0" i="0">
                <a:solidFill>
                  <a:srgbClr val="4A5568"/>
                </a:solidFill>
                <a:latin typeface="Inter"/>
              </a:rPr>
              <a:t>Jul 2026</a:t>
            </a:r>
          </a:p>
        </p:txBody>
      </p:sp>
      <p:sp>
        <p:nvSpPr>
          <p:cNvPr id="23" name="TextBox 22"/>
          <p:cNvSpPr txBox="1"/>
          <p:nvPr/>
        </p:nvSpPr>
        <p:spPr>
          <a:xfrm>
            <a:off x="6116000" y="3241600"/>
            <a:ext cx="1694820" cy="300000"/>
          </a:xfrm>
          <a:prstGeom prst="rect">
            <a:avLst/>
          </a:prstGeom>
          <a:noFill/>
        </p:spPr>
        <p:txBody>
          <a:bodyPr wrap="square" anchor="t">
            <a:spAutoFit/>
          </a:bodyPr>
          <a:lstStyle/>
          <a:p>
            <a:pPr algn="ctr"/>
            <a:r>
              <a:rPr sz="1200" b="1" i="0">
                <a:solidFill>
                  <a:srgbClr val="1E3A5F"/>
                </a:solidFill>
                <a:latin typeface="Inter"/>
              </a:rPr>
              <a:t>Launch</a:t>
            </a:r>
          </a:p>
        </p:txBody>
      </p:sp>
      <p:sp>
        <p:nvSpPr>
          <p:cNvPr id="24" name="TextBox 23"/>
          <p:cNvSpPr txBox="1"/>
          <p:nvPr/>
        </p:nvSpPr>
        <p:spPr>
          <a:xfrm>
            <a:off x="6116000" y="3561600"/>
            <a:ext cx="1694820" cy="350000"/>
          </a:xfrm>
          <a:prstGeom prst="rect">
            <a:avLst/>
          </a:prstGeom>
          <a:noFill/>
        </p:spPr>
        <p:txBody>
          <a:bodyPr wrap="square" anchor="t">
            <a:spAutoFit/>
          </a:bodyPr>
          <a:lstStyle/>
          <a:p>
            <a:pPr algn="ctr"/>
            <a:r>
              <a:rPr sz="1000" b="0" i="0">
                <a:solidFill>
                  <a:srgbClr val="4A5568"/>
                </a:solidFill>
                <a:latin typeface="Inter"/>
              </a:rPr>
              <a:t>Public release and marketing</a:t>
            </a:r>
          </a:p>
        </p:txBody>
      </p:sp>
      <p:sp>
        <p:nvSpPr>
          <p:cNvPr id="25" name="Oval 24"/>
          <p:cNvSpPr/>
          <p:nvPr/>
        </p:nvSpPr>
        <p:spPr>
          <a:xfrm>
            <a:off x="8608230" y="2881600"/>
            <a:ext cx="180000" cy="180000"/>
          </a:xfrm>
          <a:prstGeom prst="ellipse">
            <a:avLst/>
          </a:prstGeom>
          <a:solidFill>
            <a:srgbClr val="FFFFFF"/>
          </a:solidFill>
          <a:ln w="12700">
            <a:solidFill>
              <a:srgbClr val="9B2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08230" y="2881600"/>
            <a:ext cx="180000" cy="180000"/>
          </a:xfrm>
          <a:prstGeom prst="rect">
            <a:avLst/>
          </a:prstGeom>
          <a:noFill/>
        </p:spPr>
        <p:txBody>
          <a:bodyPr wrap="square" anchor="ctr">
            <a:spAutoFit/>
          </a:bodyPr>
          <a:lstStyle/>
          <a:p>
            <a:pPr algn="ctr"/>
            <a:r>
              <a:rPr sz="1100" b="1" i="0">
                <a:solidFill>
                  <a:srgbClr val="9B2335"/>
                </a:solidFill>
                <a:latin typeface="Inter"/>
              </a:rPr>
              <a:t>5</a:t>
            </a:r>
          </a:p>
        </p:txBody>
      </p:sp>
      <p:sp>
        <p:nvSpPr>
          <p:cNvPr id="27" name="TextBox 26"/>
          <p:cNvSpPr txBox="1"/>
          <p:nvPr/>
        </p:nvSpPr>
        <p:spPr>
          <a:xfrm>
            <a:off x="7850820" y="2501600"/>
            <a:ext cx="1694820" cy="250000"/>
          </a:xfrm>
          <a:prstGeom prst="rect">
            <a:avLst/>
          </a:prstGeom>
          <a:noFill/>
        </p:spPr>
        <p:txBody>
          <a:bodyPr wrap="square" anchor="t">
            <a:spAutoFit/>
          </a:bodyPr>
          <a:lstStyle/>
          <a:p>
            <a:pPr algn="ctr"/>
            <a:r>
              <a:rPr sz="900" b="0" i="0">
                <a:solidFill>
                  <a:srgbClr val="4A5568"/>
                </a:solidFill>
                <a:latin typeface="Inter"/>
              </a:rPr>
              <a:t>Sep 2026</a:t>
            </a:r>
          </a:p>
        </p:txBody>
      </p:sp>
      <p:sp>
        <p:nvSpPr>
          <p:cNvPr id="28" name="TextBox 27"/>
          <p:cNvSpPr txBox="1"/>
          <p:nvPr/>
        </p:nvSpPr>
        <p:spPr>
          <a:xfrm>
            <a:off x="7850820" y="3241600"/>
            <a:ext cx="1694820" cy="300000"/>
          </a:xfrm>
          <a:prstGeom prst="rect">
            <a:avLst/>
          </a:prstGeom>
          <a:noFill/>
        </p:spPr>
        <p:txBody>
          <a:bodyPr wrap="square" anchor="t">
            <a:spAutoFit/>
          </a:bodyPr>
          <a:lstStyle/>
          <a:p>
            <a:pPr algn="ctr"/>
            <a:r>
              <a:rPr sz="1200" b="1" i="0">
                <a:solidFill>
                  <a:srgbClr val="1E3A5F"/>
                </a:solidFill>
                <a:latin typeface="Inter"/>
              </a:rPr>
              <a:t>Scale</a:t>
            </a:r>
          </a:p>
        </p:txBody>
      </p:sp>
      <p:sp>
        <p:nvSpPr>
          <p:cNvPr id="29" name="TextBox 28"/>
          <p:cNvSpPr txBox="1"/>
          <p:nvPr/>
        </p:nvSpPr>
        <p:spPr>
          <a:xfrm>
            <a:off x="7850820" y="3561600"/>
            <a:ext cx="1694820" cy="350000"/>
          </a:xfrm>
          <a:prstGeom prst="rect">
            <a:avLst/>
          </a:prstGeom>
          <a:noFill/>
        </p:spPr>
        <p:txBody>
          <a:bodyPr wrap="square" anchor="t">
            <a:spAutoFit/>
          </a:bodyPr>
          <a:lstStyle/>
          <a:p>
            <a:pPr algn="ctr"/>
            <a:r>
              <a:rPr sz="1000" b="0" i="0">
                <a:solidFill>
                  <a:srgbClr val="4A5568"/>
                </a:solidFill>
                <a:latin typeface="Inter"/>
              </a:rPr>
              <a:t>Performance optimization</a:t>
            </a:r>
          </a:p>
        </p:txBody>
      </p:sp>
      <p:sp>
        <p:nvSpPr>
          <p:cNvPr id="30" name="Oval 29"/>
          <p:cNvSpPr/>
          <p:nvPr/>
        </p:nvSpPr>
        <p:spPr>
          <a:xfrm>
            <a:off x="10343050" y="2881600"/>
            <a:ext cx="180000" cy="180000"/>
          </a:xfrm>
          <a:prstGeom prst="ellipse">
            <a:avLst/>
          </a:prstGeom>
          <a:solidFill>
            <a:srgbClr val="FFFFFF"/>
          </a:solidFill>
          <a:ln w="12700">
            <a:solidFill>
              <a:srgbClr val="9B2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43050" y="2881600"/>
            <a:ext cx="180000" cy="180000"/>
          </a:xfrm>
          <a:prstGeom prst="rect">
            <a:avLst/>
          </a:prstGeom>
          <a:noFill/>
        </p:spPr>
        <p:txBody>
          <a:bodyPr wrap="square" anchor="ctr">
            <a:spAutoFit/>
          </a:bodyPr>
          <a:lstStyle/>
          <a:p>
            <a:pPr algn="ctr"/>
            <a:r>
              <a:rPr sz="1100" b="1" i="0">
                <a:solidFill>
                  <a:srgbClr val="9B2335"/>
                </a:solidFill>
                <a:latin typeface="Inter"/>
              </a:rPr>
              <a:t>6</a:t>
            </a:r>
          </a:p>
        </p:txBody>
      </p:sp>
      <p:sp>
        <p:nvSpPr>
          <p:cNvPr id="32" name="TextBox 31"/>
          <p:cNvSpPr txBox="1"/>
          <p:nvPr/>
        </p:nvSpPr>
        <p:spPr>
          <a:xfrm>
            <a:off x="9585640" y="2501600"/>
            <a:ext cx="1694820" cy="250000"/>
          </a:xfrm>
          <a:prstGeom prst="rect">
            <a:avLst/>
          </a:prstGeom>
          <a:noFill/>
        </p:spPr>
        <p:txBody>
          <a:bodyPr wrap="square" anchor="t">
            <a:spAutoFit/>
          </a:bodyPr>
          <a:lstStyle/>
          <a:p>
            <a:pPr algn="ctr"/>
            <a:r>
              <a:rPr sz="900" b="0" i="0">
                <a:solidFill>
                  <a:srgbClr val="4A5568"/>
                </a:solidFill>
                <a:latin typeface="Inter"/>
              </a:rPr>
              <a:t>Nov 2026</a:t>
            </a:r>
          </a:p>
        </p:txBody>
      </p:sp>
      <p:sp>
        <p:nvSpPr>
          <p:cNvPr id="33" name="TextBox 32"/>
          <p:cNvSpPr txBox="1"/>
          <p:nvPr/>
        </p:nvSpPr>
        <p:spPr>
          <a:xfrm>
            <a:off x="9585640" y="3241600"/>
            <a:ext cx="1694820" cy="300000"/>
          </a:xfrm>
          <a:prstGeom prst="rect">
            <a:avLst/>
          </a:prstGeom>
          <a:noFill/>
        </p:spPr>
        <p:txBody>
          <a:bodyPr wrap="square" anchor="t">
            <a:spAutoFit/>
          </a:bodyPr>
          <a:lstStyle/>
          <a:p>
            <a:pPr algn="ctr"/>
            <a:r>
              <a:rPr sz="1200" b="1" i="0">
                <a:solidFill>
                  <a:srgbClr val="1E3A5F"/>
                </a:solidFill>
                <a:latin typeface="Inter"/>
              </a:rPr>
              <a:t>Review</a:t>
            </a:r>
          </a:p>
        </p:txBody>
      </p:sp>
      <p:sp>
        <p:nvSpPr>
          <p:cNvPr id="34" name="TextBox 33"/>
          <p:cNvSpPr txBox="1"/>
          <p:nvPr/>
        </p:nvSpPr>
        <p:spPr>
          <a:xfrm>
            <a:off x="9585640" y="3561600"/>
            <a:ext cx="1694820" cy="350000"/>
          </a:xfrm>
          <a:prstGeom prst="rect">
            <a:avLst/>
          </a:prstGeom>
          <a:noFill/>
        </p:spPr>
        <p:txBody>
          <a:bodyPr wrap="square" anchor="t">
            <a:spAutoFit/>
          </a:bodyPr>
          <a:lstStyle/>
          <a:p>
            <a:pPr algn="ctr"/>
            <a:r>
              <a:rPr sz="1000" b="0" i="0">
                <a:solidFill>
                  <a:srgbClr val="4A5568"/>
                </a:solidFill>
                <a:latin typeface="Inter"/>
              </a:rPr>
              <a:t>Post-launch assessment</a:t>
            </a:r>
          </a:p>
        </p:txBody>
      </p:sp>
      <p:sp>
        <p:nvSpPr>
          <p:cNvPr id="35" name="TextBox 34"/>
          <p:cNvSpPr txBox="1"/>
          <p:nvPr/>
        </p:nvSpPr>
        <p:spPr>
          <a:xfrm>
            <a:off x="891540" y="6000800"/>
            <a:ext cx="10408920" cy="250000"/>
          </a:xfrm>
          <a:prstGeom prst="rect">
            <a:avLst/>
          </a:prstGeom>
          <a:noFill/>
        </p:spPr>
        <p:txBody>
          <a:bodyPr wrap="square" anchor="t">
            <a:spAutoFit/>
          </a:bodyPr>
          <a:lstStyle/>
          <a:p>
            <a:pPr algn="ctr"/>
            <a:r>
              <a:rPr sz="900" b="0" i="1">
                <a:solidFill>
                  <a:srgbClr val="4A5568"/>
                </a:solidFill>
                <a:latin typeface="Inter"/>
              </a:rPr>
              <a:t>Figure. Project milestone timeline (6 phases)</a:t>
            </a:r>
          </a:p>
        </p:txBody>
      </p:sp>
      <p:cxnSp>
        <p:nvCxnSpPr>
          <p:cNvPr id="36" name="Connector 35"/>
          <p:cNvCxnSpPr/>
          <p:nvPr/>
        </p:nvCxnSpPr>
        <p:spPr>
          <a:xfrm>
            <a:off x="3493770" y="5920800"/>
            <a:ext cx="520446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39" name="TextBox 38"/>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Project Board</a:t>
            </a:r>
          </a:p>
        </p:txBody>
      </p:sp>
      <p:cxnSp>
        <p:nvCxnSpPr>
          <p:cNvPr id="3" name="Connector 2"/>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91540" y="1571600"/>
            <a:ext cx="1040892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91540" y="1571600"/>
            <a:ext cx="300000" cy="0"/>
          </a:xfrm>
          <a:prstGeom prst="line">
            <a:avLst/>
          </a:prstGeom>
          <a:ln w="19050">
            <a:solidFill>
              <a:srgbClr val="9B2335"/>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31540" y="1671600"/>
            <a:ext cx="200000" cy="280000"/>
          </a:xfrm>
          <a:prstGeom prst="rect">
            <a:avLst/>
          </a:prstGeom>
          <a:noFill/>
        </p:spPr>
        <p:txBody>
          <a:bodyPr wrap="square" anchor="t">
            <a:spAutoFit/>
          </a:bodyPr>
          <a:lstStyle/>
          <a:p>
            <a:pPr algn="l"/>
            <a:r>
              <a:rPr sz="900" b="0" i="1">
                <a:solidFill>
                  <a:srgbClr val="9B2335"/>
                </a:solidFill>
                <a:latin typeface="Inter"/>
              </a:rPr>
              <a:t>Fig. 1.</a:t>
            </a:r>
          </a:p>
        </p:txBody>
      </p:sp>
      <p:sp>
        <p:nvSpPr>
          <p:cNvPr id="7" name="TextBox 6"/>
          <p:cNvSpPr txBox="1"/>
          <p:nvPr/>
        </p:nvSpPr>
        <p:spPr>
          <a:xfrm>
            <a:off x="1131540" y="1671600"/>
            <a:ext cx="3169640" cy="280000"/>
          </a:xfrm>
          <a:prstGeom prst="rect">
            <a:avLst/>
          </a:prstGeom>
          <a:noFill/>
        </p:spPr>
        <p:txBody>
          <a:bodyPr wrap="square" anchor="t">
            <a:spAutoFit/>
          </a:bodyPr>
          <a:lstStyle/>
          <a:p>
            <a:pPr algn="l"/>
            <a:r>
              <a:rPr sz="1200" b="1" i="0">
                <a:solidFill>
                  <a:srgbClr val="1E3A5F"/>
                </a:solidFill>
                <a:latin typeface="Inter"/>
              </a:rPr>
              <a:t>To Do</a:t>
            </a:r>
          </a:p>
        </p:txBody>
      </p:sp>
      <p:cxnSp>
        <p:nvCxnSpPr>
          <p:cNvPr id="8" name="Connector 7"/>
          <p:cNvCxnSpPr/>
          <p:nvPr/>
        </p:nvCxnSpPr>
        <p:spPr>
          <a:xfrm>
            <a:off x="931540" y="1991600"/>
            <a:ext cx="338964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31540" y="2141600"/>
            <a:ext cx="200000" cy="250000"/>
          </a:xfrm>
          <a:prstGeom prst="rect">
            <a:avLst/>
          </a:prstGeom>
          <a:noFill/>
        </p:spPr>
        <p:txBody>
          <a:bodyPr wrap="square" anchor="t">
            <a:spAutoFit/>
          </a:bodyPr>
          <a:lstStyle/>
          <a:p>
            <a:pPr algn="l"/>
            <a:r>
              <a:rPr sz="900" b="0" i="0">
                <a:solidFill>
                  <a:srgbClr val="9B2335"/>
                </a:solidFill>
                <a:latin typeface="Inter"/>
              </a:rPr>
              <a:t>1.1</a:t>
            </a:r>
          </a:p>
        </p:txBody>
      </p:sp>
      <p:sp>
        <p:nvSpPr>
          <p:cNvPr id="10" name="TextBox 9"/>
          <p:cNvSpPr txBox="1"/>
          <p:nvPr/>
        </p:nvSpPr>
        <p:spPr>
          <a:xfrm>
            <a:off x="1141540" y="2141600"/>
            <a:ext cx="3169640" cy="250000"/>
          </a:xfrm>
          <a:prstGeom prst="rect">
            <a:avLst/>
          </a:prstGeom>
          <a:noFill/>
        </p:spPr>
        <p:txBody>
          <a:bodyPr wrap="square" anchor="t">
            <a:spAutoFit/>
          </a:bodyPr>
          <a:lstStyle/>
          <a:p>
            <a:pPr algn="l"/>
            <a:r>
              <a:rPr sz="1100" b="0" i="0">
                <a:solidFill>
                  <a:srgbClr val="1E3A5F"/>
                </a:solidFill>
                <a:latin typeface="Inter"/>
              </a:rPr>
              <a:t>Define requirements</a:t>
            </a:r>
          </a:p>
        </p:txBody>
      </p:sp>
      <p:cxnSp>
        <p:nvCxnSpPr>
          <p:cNvPr id="11" name="Connector 10"/>
          <p:cNvCxnSpPr/>
          <p:nvPr/>
        </p:nvCxnSpPr>
        <p:spPr>
          <a:xfrm>
            <a:off x="931540" y="2431600"/>
            <a:ext cx="3389640" cy="0"/>
          </a:xfrm>
          <a:prstGeom prst="line">
            <a:avLst/>
          </a:prstGeom>
          <a:ln w="3175">
            <a:solidFill>
              <a:srgbClr val="E9EAE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31540" y="2481600"/>
            <a:ext cx="200000" cy="250000"/>
          </a:xfrm>
          <a:prstGeom prst="rect">
            <a:avLst/>
          </a:prstGeom>
          <a:noFill/>
        </p:spPr>
        <p:txBody>
          <a:bodyPr wrap="square" anchor="t">
            <a:spAutoFit/>
          </a:bodyPr>
          <a:lstStyle/>
          <a:p>
            <a:pPr algn="l"/>
            <a:r>
              <a:rPr sz="900" b="0" i="0">
                <a:solidFill>
                  <a:srgbClr val="9B2335"/>
                </a:solidFill>
                <a:latin typeface="Inter"/>
              </a:rPr>
              <a:t>1.2</a:t>
            </a:r>
          </a:p>
        </p:txBody>
      </p:sp>
      <p:sp>
        <p:nvSpPr>
          <p:cNvPr id="13" name="TextBox 12"/>
          <p:cNvSpPr txBox="1"/>
          <p:nvPr/>
        </p:nvSpPr>
        <p:spPr>
          <a:xfrm>
            <a:off x="1141540" y="2481600"/>
            <a:ext cx="3169640" cy="250000"/>
          </a:xfrm>
          <a:prstGeom prst="rect">
            <a:avLst/>
          </a:prstGeom>
          <a:noFill/>
        </p:spPr>
        <p:txBody>
          <a:bodyPr wrap="square" anchor="t">
            <a:spAutoFit/>
          </a:bodyPr>
          <a:lstStyle/>
          <a:p>
            <a:pPr algn="l"/>
            <a:r>
              <a:rPr sz="1100" b="0" i="0">
                <a:solidFill>
                  <a:srgbClr val="1E3A5F"/>
                </a:solidFill>
                <a:latin typeface="Inter"/>
              </a:rPr>
              <a:t>Design wireframes</a:t>
            </a:r>
          </a:p>
        </p:txBody>
      </p:sp>
      <p:cxnSp>
        <p:nvCxnSpPr>
          <p:cNvPr id="14" name="Connector 13"/>
          <p:cNvCxnSpPr/>
          <p:nvPr/>
        </p:nvCxnSpPr>
        <p:spPr>
          <a:xfrm>
            <a:off x="931540" y="2771600"/>
            <a:ext cx="3389640" cy="0"/>
          </a:xfrm>
          <a:prstGeom prst="line">
            <a:avLst/>
          </a:prstGeom>
          <a:ln w="3175">
            <a:solidFill>
              <a:srgbClr val="E9EAE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31540" y="2821600"/>
            <a:ext cx="200000" cy="250000"/>
          </a:xfrm>
          <a:prstGeom prst="rect">
            <a:avLst/>
          </a:prstGeom>
          <a:noFill/>
        </p:spPr>
        <p:txBody>
          <a:bodyPr wrap="square" anchor="t">
            <a:spAutoFit/>
          </a:bodyPr>
          <a:lstStyle/>
          <a:p>
            <a:pPr algn="l"/>
            <a:r>
              <a:rPr sz="900" b="0" i="0">
                <a:solidFill>
                  <a:srgbClr val="9B2335"/>
                </a:solidFill>
                <a:latin typeface="Inter"/>
              </a:rPr>
              <a:t>1.3</a:t>
            </a:r>
          </a:p>
        </p:txBody>
      </p:sp>
      <p:sp>
        <p:nvSpPr>
          <p:cNvPr id="16" name="TextBox 15"/>
          <p:cNvSpPr txBox="1"/>
          <p:nvPr/>
        </p:nvSpPr>
        <p:spPr>
          <a:xfrm>
            <a:off x="1141540" y="2821600"/>
            <a:ext cx="3169640" cy="250000"/>
          </a:xfrm>
          <a:prstGeom prst="rect">
            <a:avLst/>
          </a:prstGeom>
          <a:noFill/>
        </p:spPr>
        <p:txBody>
          <a:bodyPr wrap="square" anchor="t">
            <a:spAutoFit/>
          </a:bodyPr>
          <a:lstStyle/>
          <a:p>
            <a:pPr algn="l"/>
            <a:r>
              <a:rPr sz="1100" b="0" i="0">
                <a:solidFill>
                  <a:srgbClr val="1E3A5F"/>
                </a:solidFill>
                <a:latin typeface="Inter"/>
              </a:rPr>
              <a:t>Set up CI/CD</a:t>
            </a:r>
          </a:p>
        </p:txBody>
      </p:sp>
      <p:cxnSp>
        <p:nvCxnSpPr>
          <p:cNvPr id="17" name="Connector 16"/>
          <p:cNvCxnSpPr/>
          <p:nvPr/>
        </p:nvCxnSpPr>
        <p:spPr>
          <a:xfrm>
            <a:off x="4361180" y="1571600"/>
            <a:ext cx="0" cy="4329200"/>
          </a:xfrm>
          <a:prstGeom prst="line">
            <a:avLst/>
          </a:prstGeom>
          <a:ln w="6350">
            <a:solidFill>
              <a:srgbClr val="D1D4D9"/>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401180" y="1671600"/>
            <a:ext cx="200000" cy="280000"/>
          </a:xfrm>
          <a:prstGeom prst="rect">
            <a:avLst/>
          </a:prstGeom>
          <a:noFill/>
        </p:spPr>
        <p:txBody>
          <a:bodyPr wrap="square" anchor="t">
            <a:spAutoFit/>
          </a:bodyPr>
          <a:lstStyle/>
          <a:p>
            <a:pPr algn="l"/>
            <a:r>
              <a:rPr sz="900" b="0" i="1">
                <a:solidFill>
                  <a:srgbClr val="9B2335"/>
                </a:solidFill>
                <a:latin typeface="Inter"/>
              </a:rPr>
              <a:t>Fig. 2.</a:t>
            </a:r>
          </a:p>
        </p:txBody>
      </p:sp>
      <p:sp>
        <p:nvSpPr>
          <p:cNvPr id="19" name="TextBox 18"/>
          <p:cNvSpPr txBox="1"/>
          <p:nvPr/>
        </p:nvSpPr>
        <p:spPr>
          <a:xfrm>
            <a:off x="4601180" y="1671600"/>
            <a:ext cx="3169640" cy="280000"/>
          </a:xfrm>
          <a:prstGeom prst="rect">
            <a:avLst/>
          </a:prstGeom>
          <a:noFill/>
        </p:spPr>
        <p:txBody>
          <a:bodyPr wrap="square" anchor="t">
            <a:spAutoFit/>
          </a:bodyPr>
          <a:lstStyle/>
          <a:p>
            <a:pPr algn="l"/>
            <a:r>
              <a:rPr sz="1200" b="1" i="0">
                <a:solidFill>
                  <a:srgbClr val="1E3A5F"/>
                </a:solidFill>
                <a:latin typeface="Inter"/>
              </a:rPr>
              <a:t>In Progress</a:t>
            </a:r>
          </a:p>
        </p:txBody>
      </p:sp>
      <p:cxnSp>
        <p:nvCxnSpPr>
          <p:cNvPr id="20" name="Connector 19"/>
          <p:cNvCxnSpPr/>
          <p:nvPr/>
        </p:nvCxnSpPr>
        <p:spPr>
          <a:xfrm>
            <a:off x="4401180" y="1991600"/>
            <a:ext cx="338964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401180" y="2141600"/>
            <a:ext cx="200000" cy="250000"/>
          </a:xfrm>
          <a:prstGeom prst="rect">
            <a:avLst/>
          </a:prstGeom>
          <a:noFill/>
        </p:spPr>
        <p:txBody>
          <a:bodyPr wrap="square" anchor="t">
            <a:spAutoFit/>
          </a:bodyPr>
          <a:lstStyle/>
          <a:p>
            <a:pPr algn="l"/>
            <a:r>
              <a:rPr sz="900" b="0" i="0">
                <a:solidFill>
                  <a:srgbClr val="9B2335"/>
                </a:solidFill>
                <a:latin typeface="Inter"/>
              </a:rPr>
              <a:t>2.1</a:t>
            </a:r>
          </a:p>
        </p:txBody>
      </p:sp>
      <p:sp>
        <p:nvSpPr>
          <p:cNvPr id="22" name="TextBox 21"/>
          <p:cNvSpPr txBox="1"/>
          <p:nvPr/>
        </p:nvSpPr>
        <p:spPr>
          <a:xfrm>
            <a:off x="4611180" y="2141600"/>
            <a:ext cx="3169640" cy="250000"/>
          </a:xfrm>
          <a:prstGeom prst="rect">
            <a:avLst/>
          </a:prstGeom>
          <a:noFill/>
        </p:spPr>
        <p:txBody>
          <a:bodyPr wrap="square" anchor="t">
            <a:spAutoFit/>
          </a:bodyPr>
          <a:lstStyle/>
          <a:p>
            <a:pPr algn="l"/>
            <a:r>
              <a:rPr sz="1100" b="0" i="0">
                <a:solidFill>
                  <a:srgbClr val="1E3A5F"/>
                </a:solidFill>
                <a:latin typeface="Inter"/>
              </a:rPr>
              <a:t>API development</a:t>
            </a:r>
          </a:p>
        </p:txBody>
      </p:sp>
      <p:cxnSp>
        <p:nvCxnSpPr>
          <p:cNvPr id="23" name="Connector 22"/>
          <p:cNvCxnSpPr/>
          <p:nvPr/>
        </p:nvCxnSpPr>
        <p:spPr>
          <a:xfrm>
            <a:off x="4401180" y="2431600"/>
            <a:ext cx="3389640" cy="0"/>
          </a:xfrm>
          <a:prstGeom prst="line">
            <a:avLst/>
          </a:prstGeom>
          <a:ln w="3175">
            <a:solidFill>
              <a:srgbClr val="E9EAEC"/>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01180" y="2481600"/>
            <a:ext cx="200000" cy="250000"/>
          </a:xfrm>
          <a:prstGeom prst="rect">
            <a:avLst/>
          </a:prstGeom>
          <a:noFill/>
        </p:spPr>
        <p:txBody>
          <a:bodyPr wrap="square" anchor="t">
            <a:spAutoFit/>
          </a:bodyPr>
          <a:lstStyle/>
          <a:p>
            <a:pPr algn="l"/>
            <a:r>
              <a:rPr sz="900" b="0" i="0">
                <a:solidFill>
                  <a:srgbClr val="9B2335"/>
                </a:solidFill>
                <a:latin typeface="Inter"/>
              </a:rPr>
              <a:t>2.2</a:t>
            </a:r>
          </a:p>
        </p:txBody>
      </p:sp>
      <p:sp>
        <p:nvSpPr>
          <p:cNvPr id="25" name="TextBox 24"/>
          <p:cNvSpPr txBox="1"/>
          <p:nvPr/>
        </p:nvSpPr>
        <p:spPr>
          <a:xfrm>
            <a:off x="4611180" y="2481600"/>
            <a:ext cx="3169640" cy="250000"/>
          </a:xfrm>
          <a:prstGeom prst="rect">
            <a:avLst/>
          </a:prstGeom>
          <a:noFill/>
        </p:spPr>
        <p:txBody>
          <a:bodyPr wrap="square" anchor="t">
            <a:spAutoFit/>
          </a:bodyPr>
          <a:lstStyle/>
          <a:p>
            <a:pPr algn="l"/>
            <a:r>
              <a:rPr sz="1100" b="0" i="0">
                <a:solidFill>
                  <a:srgbClr val="1E3A5F"/>
                </a:solidFill>
                <a:latin typeface="Inter"/>
              </a:rPr>
              <a:t>Frontend build</a:t>
            </a:r>
          </a:p>
        </p:txBody>
      </p:sp>
      <p:cxnSp>
        <p:nvCxnSpPr>
          <p:cNvPr id="26" name="Connector 25"/>
          <p:cNvCxnSpPr/>
          <p:nvPr/>
        </p:nvCxnSpPr>
        <p:spPr>
          <a:xfrm>
            <a:off x="7830820" y="1571600"/>
            <a:ext cx="0" cy="4329200"/>
          </a:xfrm>
          <a:prstGeom prst="line">
            <a:avLst/>
          </a:prstGeom>
          <a:ln w="6350">
            <a:solidFill>
              <a:srgbClr val="D1D4D9"/>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870820" y="1671600"/>
            <a:ext cx="200000" cy="280000"/>
          </a:xfrm>
          <a:prstGeom prst="rect">
            <a:avLst/>
          </a:prstGeom>
          <a:noFill/>
        </p:spPr>
        <p:txBody>
          <a:bodyPr wrap="square" anchor="t">
            <a:spAutoFit/>
          </a:bodyPr>
          <a:lstStyle/>
          <a:p>
            <a:pPr algn="l"/>
            <a:r>
              <a:rPr sz="900" b="0" i="1">
                <a:solidFill>
                  <a:srgbClr val="9B2335"/>
                </a:solidFill>
                <a:latin typeface="Inter"/>
              </a:rPr>
              <a:t>Fig. 3.</a:t>
            </a:r>
          </a:p>
        </p:txBody>
      </p:sp>
      <p:sp>
        <p:nvSpPr>
          <p:cNvPr id="28" name="TextBox 27"/>
          <p:cNvSpPr txBox="1"/>
          <p:nvPr/>
        </p:nvSpPr>
        <p:spPr>
          <a:xfrm>
            <a:off x="8070820" y="1671600"/>
            <a:ext cx="3169640" cy="280000"/>
          </a:xfrm>
          <a:prstGeom prst="rect">
            <a:avLst/>
          </a:prstGeom>
          <a:noFill/>
        </p:spPr>
        <p:txBody>
          <a:bodyPr wrap="square" anchor="t">
            <a:spAutoFit/>
          </a:bodyPr>
          <a:lstStyle/>
          <a:p>
            <a:pPr algn="l"/>
            <a:r>
              <a:rPr sz="1200" b="1" i="0">
                <a:solidFill>
                  <a:srgbClr val="1E3A5F"/>
                </a:solidFill>
                <a:latin typeface="Inter"/>
              </a:rPr>
              <a:t>Done</a:t>
            </a:r>
          </a:p>
        </p:txBody>
      </p:sp>
      <p:cxnSp>
        <p:nvCxnSpPr>
          <p:cNvPr id="29" name="Connector 28"/>
          <p:cNvCxnSpPr/>
          <p:nvPr/>
        </p:nvCxnSpPr>
        <p:spPr>
          <a:xfrm>
            <a:off x="7870820" y="1991600"/>
            <a:ext cx="338964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870820" y="2141600"/>
            <a:ext cx="200000" cy="250000"/>
          </a:xfrm>
          <a:prstGeom prst="rect">
            <a:avLst/>
          </a:prstGeom>
          <a:noFill/>
        </p:spPr>
        <p:txBody>
          <a:bodyPr wrap="square" anchor="t">
            <a:spAutoFit/>
          </a:bodyPr>
          <a:lstStyle/>
          <a:p>
            <a:pPr algn="l"/>
            <a:r>
              <a:rPr sz="900" b="0" i="0">
                <a:solidFill>
                  <a:srgbClr val="9B2335"/>
                </a:solidFill>
                <a:latin typeface="Inter"/>
              </a:rPr>
              <a:t>3.1</a:t>
            </a:r>
          </a:p>
        </p:txBody>
      </p:sp>
      <p:sp>
        <p:nvSpPr>
          <p:cNvPr id="31" name="TextBox 30"/>
          <p:cNvSpPr txBox="1"/>
          <p:nvPr/>
        </p:nvSpPr>
        <p:spPr>
          <a:xfrm>
            <a:off x="8080820" y="2141600"/>
            <a:ext cx="3169640" cy="250000"/>
          </a:xfrm>
          <a:prstGeom prst="rect">
            <a:avLst/>
          </a:prstGeom>
          <a:noFill/>
        </p:spPr>
        <p:txBody>
          <a:bodyPr wrap="square" anchor="t">
            <a:spAutoFit/>
          </a:bodyPr>
          <a:lstStyle/>
          <a:p>
            <a:pPr algn="l"/>
            <a:r>
              <a:rPr sz="1100" b="0" i="0">
                <a:solidFill>
                  <a:srgbClr val="1E3A5F"/>
                </a:solidFill>
                <a:latin typeface="Inter"/>
              </a:rPr>
              <a:t>Project charter</a:t>
            </a:r>
          </a:p>
        </p:txBody>
      </p:sp>
      <p:cxnSp>
        <p:nvCxnSpPr>
          <p:cNvPr id="32" name="Connector 31"/>
          <p:cNvCxnSpPr/>
          <p:nvPr/>
        </p:nvCxnSpPr>
        <p:spPr>
          <a:xfrm>
            <a:off x="7870820" y="2431600"/>
            <a:ext cx="3389640" cy="0"/>
          </a:xfrm>
          <a:prstGeom prst="line">
            <a:avLst/>
          </a:prstGeom>
          <a:ln w="3175">
            <a:solidFill>
              <a:srgbClr val="E9EAEC"/>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870820" y="2481600"/>
            <a:ext cx="200000" cy="250000"/>
          </a:xfrm>
          <a:prstGeom prst="rect">
            <a:avLst/>
          </a:prstGeom>
          <a:noFill/>
        </p:spPr>
        <p:txBody>
          <a:bodyPr wrap="square" anchor="t">
            <a:spAutoFit/>
          </a:bodyPr>
          <a:lstStyle/>
          <a:p>
            <a:pPr algn="l"/>
            <a:r>
              <a:rPr sz="900" b="0" i="0">
                <a:solidFill>
                  <a:srgbClr val="9B2335"/>
                </a:solidFill>
                <a:latin typeface="Inter"/>
              </a:rPr>
              <a:t>3.2</a:t>
            </a:r>
          </a:p>
        </p:txBody>
      </p:sp>
      <p:sp>
        <p:nvSpPr>
          <p:cNvPr id="34" name="TextBox 33"/>
          <p:cNvSpPr txBox="1"/>
          <p:nvPr/>
        </p:nvSpPr>
        <p:spPr>
          <a:xfrm>
            <a:off x="8080820" y="2481600"/>
            <a:ext cx="3169640" cy="250000"/>
          </a:xfrm>
          <a:prstGeom prst="rect">
            <a:avLst/>
          </a:prstGeom>
          <a:noFill/>
        </p:spPr>
        <p:txBody>
          <a:bodyPr wrap="square" anchor="t">
            <a:spAutoFit/>
          </a:bodyPr>
          <a:lstStyle/>
          <a:p>
            <a:pPr algn="l"/>
            <a:r>
              <a:rPr sz="1100" b="0" i="0">
                <a:solidFill>
                  <a:srgbClr val="1E3A5F"/>
                </a:solidFill>
                <a:latin typeface="Inter"/>
              </a:rPr>
              <a:t>Team onboarding</a:t>
            </a:r>
          </a:p>
        </p:txBody>
      </p:sp>
      <p:cxnSp>
        <p:nvCxnSpPr>
          <p:cNvPr id="35" name="Connector 34"/>
          <p:cNvCxnSpPr/>
          <p:nvPr/>
        </p:nvCxnSpPr>
        <p:spPr>
          <a:xfrm>
            <a:off x="7870820" y="2771600"/>
            <a:ext cx="3389640" cy="0"/>
          </a:xfrm>
          <a:prstGeom prst="line">
            <a:avLst/>
          </a:prstGeom>
          <a:ln w="3175">
            <a:solidFill>
              <a:srgbClr val="E9EAEC"/>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870820" y="2821600"/>
            <a:ext cx="200000" cy="250000"/>
          </a:xfrm>
          <a:prstGeom prst="rect">
            <a:avLst/>
          </a:prstGeom>
          <a:noFill/>
        </p:spPr>
        <p:txBody>
          <a:bodyPr wrap="square" anchor="t">
            <a:spAutoFit/>
          </a:bodyPr>
          <a:lstStyle/>
          <a:p>
            <a:pPr algn="l"/>
            <a:r>
              <a:rPr sz="900" b="0" i="0">
                <a:solidFill>
                  <a:srgbClr val="9B2335"/>
                </a:solidFill>
                <a:latin typeface="Inter"/>
              </a:rPr>
              <a:t>3.3</a:t>
            </a:r>
          </a:p>
        </p:txBody>
      </p:sp>
      <p:sp>
        <p:nvSpPr>
          <p:cNvPr id="37" name="TextBox 36"/>
          <p:cNvSpPr txBox="1"/>
          <p:nvPr/>
        </p:nvSpPr>
        <p:spPr>
          <a:xfrm>
            <a:off x="8080820" y="2821600"/>
            <a:ext cx="3169640" cy="250000"/>
          </a:xfrm>
          <a:prstGeom prst="rect">
            <a:avLst/>
          </a:prstGeom>
          <a:noFill/>
        </p:spPr>
        <p:txBody>
          <a:bodyPr wrap="square" anchor="t">
            <a:spAutoFit/>
          </a:bodyPr>
          <a:lstStyle/>
          <a:p>
            <a:pPr algn="l"/>
            <a:r>
              <a:rPr sz="1100" b="0" i="0">
                <a:solidFill>
                  <a:srgbClr val="1E3A5F"/>
                </a:solidFill>
                <a:latin typeface="Inter"/>
              </a:rPr>
              <a:t>Architecture review</a:t>
            </a:r>
          </a:p>
        </p:txBody>
      </p:sp>
      <p:cxnSp>
        <p:nvCxnSpPr>
          <p:cNvPr id="38" name="Connector 37"/>
          <p:cNvCxnSpPr/>
          <p:nvPr/>
        </p:nvCxnSpPr>
        <p:spPr>
          <a:xfrm>
            <a:off x="891540" y="5950800"/>
            <a:ext cx="1040892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91540" y="5980800"/>
            <a:ext cx="10408920" cy="250000"/>
          </a:xfrm>
          <a:prstGeom prst="rect">
            <a:avLst/>
          </a:prstGeom>
          <a:noFill/>
        </p:spPr>
        <p:txBody>
          <a:bodyPr wrap="square" anchor="t">
            <a:spAutoFit/>
          </a:bodyPr>
          <a:lstStyle/>
          <a:p>
            <a:pPr algn="l"/>
            <a:r>
              <a:rPr sz="900" b="0" i="1">
                <a:solidFill>
                  <a:srgbClr val="4A5568"/>
                </a:solidFill>
                <a:latin typeface="Inter"/>
              </a:rPr>
              <a:t>Figure: Project status board — 3 workflow stages</a:t>
            </a:r>
          </a:p>
        </p:txBody>
      </p:sp>
      <p:sp>
        <p:nvSpPr>
          <p:cNvPr id="40" name="Rectangle 39"/>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42" name="TextBox 41"/>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Risk Assessment Matrix</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91540" y="1471600"/>
            <a:ext cx="700000" cy="250000"/>
          </a:xfrm>
          <a:prstGeom prst="rect">
            <a:avLst/>
          </a:prstGeom>
          <a:noFill/>
        </p:spPr>
        <p:txBody>
          <a:bodyPr wrap="square" anchor="t">
            <a:spAutoFit/>
          </a:bodyPr>
          <a:lstStyle/>
          <a:p>
            <a:pPr algn="l"/>
            <a:r>
              <a:rPr sz="1000" b="1" i="0">
                <a:solidFill>
                  <a:srgbClr val="1E3A5F"/>
                </a:solidFill>
                <a:latin typeface="Inter"/>
              </a:rPr>
              <a:t>Figure 1.</a:t>
            </a:r>
          </a:p>
        </p:txBody>
      </p:sp>
      <p:sp>
        <p:nvSpPr>
          <p:cNvPr id="6" name="TextBox 5"/>
          <p:cNvSpPr txBox="1"/>
          <p:nvPr/>
        </p:nvSpPr>
        <p:spPr>
          <a:xfrm>
            <a:off x="1591540" y="1471600"/>
            <a:ext cx="5000000" cy="250000"/>
          </a:xfrm>
          <a:prstGeom prst="rect">
            <a:avLst/>
          </a:prstGeom>
          <a:noFill/>
        </p:spPr>
        <p:txBody>
          <a:bodyPr wrap="square" anchor="t">
            <a:spAutoFit/>
          </a:bodyPr>
          <a:lstStyle/>
          <a:p>
            <a:pPr algn="l"/>
            <a:r>
              <a:rPr sz="1000" b="0" i="1">
                <a:solidFill>
                  <a:srgbClr val="4A5568"/>
                </a:solidFill>
                <a:latin typeface="Inter"/>
              </a:rPr>
              <a:t>Risk probability-impact assessment matrix</a:t>
            </a:r>
          </a:p>
        </p:txBody>
      </p:sp>
      <p:cxnSp>
        <p:nvCxnSpPr>
          <p:cNvPr id="7" name="Connector 6"/>
          <p:cNvCxnSpPr/>
          <p:nvPr/>
        </p:nvCxnSpPr>
        <p:spPr>
          <a:xfrm>
            <a:off x="891540" y="1751600"/>
            <a:ext cx="400000" cy="0"/>
          </a:xfrm>
          <a:prstGeom prst="line">
            <a:avLst/>
          </a:prstGeom>
          <a:ln w="12700">
            <a:solidFill>
              <a:srgbClr val="9B233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91540" y="1871600"/>
            <a:ext cx="5000000" cy="0"/>
          </a:xfrm>
          <a:prstGeom prst="line">
            <a:avLst/>
          </a:prstGeom>
          <a:ln w="12700">
            <a:solidFill>
              <a:srgbClr val="C8CCD1"/>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491540" y="3004933"/>
            <a:ext cx="500000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491540" y="4138266"/>
            <a:ext cx="500000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491540" y="5271599"/>
            <a:ext cx="5000000" cy="0"/>
          </a:xfrm>
          <a:prstGeom prst="line">
            <a:avLst/>
          </a:prstGeom>
          <a:ln w="12700">
            <a:solidFill>
              <a:srgbClr val="C8CCD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491540" y="1871600"/>
            <a:ext cx="0" cy="3400000"/>
          </a:xfrm>
          <a:prstGeom prst="line">
            <a:avLst/>
          </a:prstGeom>
          <a:ln w="12700">
            <a:solidFill>
              <a:srgbClr val="C8CCD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158206" y="1871600"/>
            <a:ext cx="0" cy="340000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824872" y="1871600"/>
            <a:ext cx="0" cy="340000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91538" y="1871600"/>
            <a:ext cx="0" cy="3400000"/>
          </a:xfrm>
          <a:prstGeom prst="line">
            <a:avLst/>
          </a:prstGeom>
          <a:ln w="12700">
            <a:solidFill>
              <a:srgbClr val="C8CCD1"/>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1496540" y="1876600"/>
            <a:ext cx="1656666" cy="1123333"/>
          </a:xfrm>
          <a:prstGeom prst="rect">
            <a:avLst/>
          </a:prstGeom>
          <a:solidFill>
            <a:srgbClr val="DB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63206" y="1876600"/>
            <a:ext cx="1656666" cy="1123333"/>
          </a:xfrm>
          <a:prstGeom prst="rect">
            <a:avLst/>
          </a:prstGeom>
          <a:solidFill>
            <a:srgbClr val="FDF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29872" y="1876600"/>
            <a:ext cx="1656666" cy="1123333"/>
          </a:xfrm>
          <a:prstGeom prst="rect">
            <a:avLst/>
          </a:prstGeom>
          <a:solidFill>
            <a:srgbClr val="FC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496540" y="3009933"/>
            <a:ext cx="1656666" cy="1123333"/>
          </a:xfrm>
          <a:prstGeom prst="rect">
            <a:avLst/>
          </a:prstGeom>
          <a:solidFill>
            <a:srgbClr val="F1F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163206" y="3009933"/>
            <a:ext cx="1656666" cy="1123333"/>
          </a:xfrm>
          <a:prstGeom prst="rect">
            <a:avLst/>
          </a:prstGeom>
          <a:solidFill>
            <a:srgbClr val="FEF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9872" y="3009933"/>
            <a:ext cx="1656666" cy="1123333"/>
          </a:xfrm>
          <a:prstGeom prst="rect">
            <a:avLst/>
          </a:prstGeom>
          <a:solidFill>
            <a:srgbClr val="FDF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496540" y="4143266"/>
            <a:ext cx="1656666" cy="1123333"/>
          </a:xfrm>
          <a:prstGeom prst="rect">
            <a:avLst/>
          </a:prstGeom>
          <a:solidFill>
            <a:srgbClr val="F8F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63206" y="4143266"/>
            <a:ext cx="1656666" cy="1123333"/>
          </a:xfrm>
          <a:prstGeom prst="rect">
            <a:avLst/>
          </a:prstGeom>
          <a:solidFill>
            <a:srgbClr val="F1F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829872" y="4143266"/>
            <a:ext cx="1656666" cy="1123333"/>
          </a:xfrm>
          <a:prstGeom prst="rect">
            <a:avLst/>
          </a:prstGeom>
          <a:solidFill>
            <a:srgbClr val="FEF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924872" y="1971600"/>
            <a:ext cx="200000" cy="200000"/>
          </a:xfrm>
          <a:prstGeom prst="ellipse">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24872" y="1971600"/>
            <a:ext cx="200000" cy="200000"/>
          </a:xfrm>
          <a:prstGeom prst="rect">
            <a:avLst/>
          </a:prstGeom>
          <a:noFill/>
        </p:spPr>
        <p:txBody>
          <a:bodyPr wrap="square" anchor="ctr">
            <a:spAutoFit/>
          </a:bodyPr>
          <a:lstStyle/>
          <a:p>
            <a:pPr algn="ctr"/>
            <a:r>
              <a:rPr sz="1000" b="1" i="0">
                <a:solidFill>
                  <a:srgbClr val="FFFFFF"/>
                </a:solidFill>
                <a:latin typeface="Inter"/>
              </a:rPr>
              <a:t>1</a:t>
            </a:r>
          </a:p>
        </p:txBody>
      </p:sp>
      <p:sp>
        <p:nvSpPr>
          <p:cNvPr id="27" name="TextBox 26"/>
          <p:cNvSpPr txBox="1"/>
          <p:nvPr/>
        </p:nvSpPr>
        <p:spPr>
          <a:xfrm>
            <a:off x="5154872" y="2011600"/>
            <a:ext cx="1286666" cy="200000"/>
          </a:xfrm>
          <a:prstGeom prst="rect">
            <a:avLst/>
          </a:prstGeom>
          <a:noFill/>
        </p:spPr>
        <p:txBody>
          <a:bodyPr wrap="square" anchor="t">
            <a:spAutoFit/>
          </a:bodyPr>
          <a:lstStyle/>
          <a:p>
            <a:pPr algn="l"/>
            <a:r>
              <a:rPr sz="900" b="0" i="0">
                <a:solidFill>
                  <a:srgbClr val="1E3A5F"/>
                </a:solidFill>
                <a:latin typeface="Inter"/>
              </a:rPr>
              <a:t>Data Breach</a:t>
            </a:r>
          </a:p>
        </p:txBody>
      </p:sp>
      <p:sp>
        <p:nvSpPr>
          <p:cNvPr id="28" name="Oval 27"/>
          <p:cNvSpPr/>
          <p:nvPr/>
        </p:nvSpPr>
        <p:spPr>
          <a:xfrm>
            <a:off x="4924872" y="3104933"/>
            <a:ext cx="200000" cy="20000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24872" y="3104933"/>
            <a:ext cx="200000" cy="200000"/>
          </a:xfrm>
          <a:prstGeom prst="rect">
            <a:avLst/>
          </a:prstGeom>
          <a:noFill/>
        </p:spPr>
        <p:txBody>
          <a:bodyPr wrap="square" anchor="ctr">
            <a:spAutoFit/>
          </a:bodyPr>
          <a:lstStyle/>
          <a:p>
            <a:pPr algn="ctr"/>
            <a:r>
              <a:rPr sz="1000" b="1" i="0">
                <a:solidFill>
                  <a:srgbClr val="FFFFFF"/>
                </a:solidFill>
                <a:latin typeface="Inter"/>
              </a:rPr>
              <a:t>2</a:t>
            </a:r>
          </a:p>
        </p:txBody>
      </p:sp>
      <p:sp>
        <p:nvSpPr>
          <p:cNvPr id="30" name="TextBox 29"/>
          <p:cNvSpPr txBox="1"/>
          <p:nvPr/>
        </p:nvSpPr>
        <p:spPr>
          <a:xfrm>
            <a:off x="5154872" y="3144933"/>
            <a:ext cx="1286666" cy="200000"/>
          </a:xfrm>
          <a:prstGeom prst="rect">
            <a:avLst/>
          </a:prstGeom>
          <a:noFill/>
        </p:spPr>
        <p:txBody>
          <a:bodyPr wrap="square" anchor="t">
            <a:spAutoFit/>
          </a:bodyPr>
          <a:lstStyle/>
          <a:p>
            <a:pPr algn="l"/>
            <a:r>
              <a:rPr sz="900" b="0" i="0">
                <a:solidFill>
                  <a:srgbClr val="1E3A5F"/>
                </a:solidFill>
                <a:latin typeface="Inter"/>
              </a:rPr>
              <a:t>Supply Chain</a:t>
            </a:r>
          </a:p>
        </p:txBody>
      </p:sp>
      <p:sp>
        <p:nvSpPr>
          <p:cNvPr id="31" name="Oval 30"/>
          <p:cNvSpPr/>
          <p:nvPr/>
        </p:nvSpPr>
        <p:spPr>
          <a:xfrm>
            <a:off x="3258206" y="3104933"/>
            <a:ext cx="200000" cy="2000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58206" y="3104933"/>
            <a:ext cx="200000" cy="200000"/>
          </a:xfrm>
          <a:prstGeom prst="rect">
            <a:avLst/>
          </a:prstGeom>
          <a:noFill/>
        </p:spPr>
        <p:txBody>
          <a:bodyPr wrap="square" anchor="ctr">
            <a:spAutoFit/>
          </a:bodyPr>
          <a:lstStyle/>
          <a:p>
            <a:pPr algn="ctr"/>
            <a:r>
              <a:rPr sz="1000" b="1" i="0">
                <a:solidFill>
                  <a:srgbClr val="FFFFFF"/>
                </a:solidFill>
                <a:latin typeface="Inter"/>
              </a:rPr>
              <a:t>3</a:t>
            </a:r>
          </a:p>
        </p:txBody>
      </p:sp>
      <p:sp>
        <p:nvSpPr>
          <p:cNvPr id="33" name="TextBox 32"/>
          <p:cNvSpPr txBox="1"/>
          <p:nvPr/>
        </p:nvSpPr>
        <p:spPr>
          <a:xfrm>
            <a:off x="3488206" y="3144933"/>
            <a:ext cx="1286666" cy="200000"/>
          </a:xfrm>
          <a:prstGeom prst="rect">
            <a:avLst/>
          </a:prstGeom>
          <a:noFill/>
        </p:spPr>
        <p:txBody>
          <a:bodyPr wrap="square" anchor="t">
            <a:spAutoFit/>
          </a:bodyPr>
          <a:lstStyle/>
          <a:p>
            <a:pPr algn="l"/>
            <a:r>
              <a:rPr sz="900" b="0" i="0">
                <a:solidFill>
                  <a:srgbClr val="1E3A5F"/>
                </a:solidFill>
                <a:latin typeface="Inter"/>
              </a:rPr>
              <a:t>Compliance</a:t>
            </a:r>
          </a:p>
        </p:txBody>
      </p:sp>
      <p:sp>
        <p:nvSpPr>
          <p:cNvPr id="34" name="Oval 33"/>
          <p:cNvSpPr/>
          <p:nvPr/>
        </p:nvSpPr>
        <p:spPr>
          <a:xfrm>
            <a:off x="4924872" y="3104933"/>
            <a:ext cx="200000" cy="2000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24872" y="3104933"/>
            <a:ext cx="200000" cy="200000"/>
          </a:xfrm>
          <a:prstGeom prst="rect">
            <a:avLst/>
          </a:prstGeom>
          <a:noFill/>
        </p:spPr>
        <p:txBody>
          <a:bodyPr wrap="square" anchor="ctr">
            <a:spAutoFit/>
          </a:bodyPr>
          <a:lstStyle/>
          <a:p>
            <a:pPr algn="ctr"/>
            <a:r>
              <a:rPr sz="1000" b="1" i="0">
                <a:solidFill>
                  <a:srgbClr val="FFFFFF"/>
                </a:solidFill>
                <a:latin typeface="Inter"/>
              </a:rPr>
              <a:t>4</a:t>
            </a:r>
          </a:p>
        </p:txBody>
      </p:sp>
      <p:sp>
        <p:nvSpPr>
          <p:cNvPr id="36" name="TextBox 35"/>
          <p:cNvSpPr txBox="1"/>
          <p:nvPr/>
        </p:nvSpPr>
        <p:spPr>
          <a:xfrm>
            <a:off x="5154872" y="3144933"/>
            <a:ext cx="1286666" cy="200000"/>
          </a:xfrm>
          <a:prstGeom prst="rect">
            <a:avLst/>
          </a:prstGeom>
          <a:noFill/>
        </p:spPr>
        <p:txBody>
          <a:bodyPr wrap="square" anchor="t">
            <a:spAutoFit/>
          </a:bodyPr>
          <a:lstStyle/>
          <a:p>
            <a:pPr algn="l"/>
            <a:r>
              <a:rPr sz="900" b="0" i="0">
                <a:solidFill>
                  <a:srgbClr val="1E3A5F"/>
                </a:solidFill>
                <a:latin typeface="Inter"/>
              </a:rPr>
              <a:t>Talent</a:t>
            </a:r>
          </a:p>
        </p:txBody>
      </p:sp>
      <p:sp>
        <p:nvSpPr>
          <p:cNvPr id="37" name="Oval 36"/>
          <p:cNvSpPr/>
          <p:nvPr/>
        </p:nvSpPr>
        <p:spPr>
          <a:xfrm>
            <a:off x="4924872" y="3104933"/>
            <a:ext cx="200000" cy="20000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24872" y="3104933"/>
            <a:ext cx="200000" cy="200000"/>
          </a:xfrm>
          <a:prstGeom prst="rect">
            <a:avLst/>
          </a:prstGeom>
          <a:noFill/>
        </p:spPr>
        <p:txBody>
          <a:bodyPr wrap="square" anchor="ctr">
            <a:spAutoFit/>
          </a:bodyPr>
          <a:lstStyle/>
          <a:p>
            <a:pPr algn="ctr"/>
            <a:r>
              <a:rPr sz="1000" b="1" i="0">
                <a:solidFill>
                  <a:srgbClr val="FFFFFF"/>
                </a:solidFill>
                <a:latin typeface="Inter"/>
              </a:rPr>
              <a:t>5</a:t>
            </a:r>
          </a:p>
        </p:txBody>
      </p:sp>
      <p:sp>
        <p:nvSpPr>
          <p:cNvPr id="39" name="TextBox 38"/>
          <p:cNvSpPr txBox="1"/>
          <p:nvPr/>
        </p:nvSpPr>
        <p:spPr>
          <a:xfrm>
            <a:off x="5154872" y="3144933"/>
            <a:ext cx="1286666" cy="200000"/>
          </a:xfrm>
          <a:prstGeom prst="rect">
            <a:avLst/>
          </a:prstGeom>
          <a:noFill/>
        </p:spPr>
        <p:txBody>
          <a:bodyPr wrap="square" anchor="t">
            <a:spAutoFit/>
          </a:bodyPr>
          <a:lstStyle/>
          <a:p>
            <a:pPr algn="l"/>
            <a:r>
              <a:rPr sz="900" b="0" i="0">
                <a:solidFill>
                  <a:srgbClr val="1E3A5F"/>
                </a:solidFill>
                <a:latin typeface="Inter"/>
              </a:rPr>
              <a:t>Market Shift</a:t>
            </a:r>
          </a:p>
        </p:txBody>
      </p:sp>
      <p:sp>
        <p:nvSpPr>
          <p:cNvPr id="40" name="Oval 39"/>
          <p:cNvSpPr/>
          <p:nvPr/>
        </p:nvSpPr>
        <p:spPr>
          <a:xfrm>
            <a:off x="1591540" y="4238266"/>
            <a:ext cx="200000" cy="2000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91540" y="4238266"/>
            <a:ext cx="200000" cy="200000"/>
          </a:xfrm>
          <a:prstGeom prst="rect">
            <a:avLst/>
          </a:prstGeom>
          <a:noFill/>
        </p:spPr>
        <p:txBody>
          <a:bodyPr wrap="square" anchor="ctr">
            <a:spAutoFit/>
          </a:bodyPr>
          <a:lstStyle/>
          <a:p>
            <a:pPr algn="ctr"/>
            <a:r>
              <a:rPr sz="1000" b="1" i="0">
                <a:solidFill>
                  <a:srgbClr val="FFFFFF"/>
                </a:solidFill>
                <a:latin typeface="Inter"/>
              </a:rPr>
              <a:t>6</a:t>
            </a:r>
          </a:p>
        </p:txBody>
      </p:sp>
      <p:sp>
        <p:nvSpPr>
          <p:cNvPr id="42" name="TextBox 41"/>
          <p:cNvSpPr txBox="1"/>
          <p:nvPr/>
        </p:nvSpPr>
        <p:spPr>
          <a:xfrm>
            <a:off x="1821540" y="4278266"/>
            <a:ext cx="1286666" cy="200000"/>
          </a:xfrm>
          <a:prstGeom prst="rect">
            <a:avLst/>
          </a:prstGeom>
          <a:noFill/>
        </p:spPr>
        <p:txBody>
          <a:bodyPr wrap="square" anchor="t">
            <a:spAutoFit/>
          </a:bodyPr>
          <a:lstStyle/>
          <a:p>
            <a:pPr algn="l"/>
            <a:r>
              <a:rPr sz="900" b="0" i="0">
                <a:solidFill>
                  <a:srgbClr val="1E3A5F"/>
                </a:solidFill>
                <a:latin typeface="Inter"/>
              </a:rPr>
              <a:t>Technology</a:t>
            </a:r>
          </a:p>
        </p:txBody>
      </p:sp>
      <p:sp>
        <p:nvSpPr>
          <p:cNvPr id="43" name="TextBox 42"/>
          <p:cNvSpPr txBox="1"/>
          <p:nvPr/>
        </p:nvSpPr>
        <p:spPr>
          <a:xfrm>
            <a:off x="3391540" y="5351600"/>
            <a:ext cx="1200000" cy="250000"/>
          </a:xfrm>
          <a:prstGeom prst="rect">
            <a:avLst/>
          </a:prstGeom>
          <a:noFill/>
        </p:spPr>
        <p:txBody>
          <a:bodyPr wrap="square" anchor="t">
            <a:spAutoFit/>
          </a:bodyPr>
          <a:lstStyle/>
          <a:p>
            <a:pPr algn="ctr"/>
            <a:r>
              <a:rPr sz="1000" b="0" i="1">
                <a:solidFill>
                  <a:srgbClr val="4A5568"/>
                </a:solidFill>
                <a:latin typeface="Inter"/>
              </a:rPr>
              <a:t>Likelihood</a:t>
            </a:r>
          </a:p>
        </p:txBody>
      </p:sp>
      <p:sp>
        <p:nvSpPr>
          <p:cNvPr id="44" name="TextBox 43"/>
          <p:cNvSpPr txBox="1"/>
          <p:nvPr/>
        </p:nvSpPr>
        <p:spPr>
          <a:xfrm>
            <a:off x="971540" y="3446600"/>
            <a:ext cx="470000" cy="250000"/>
          </a:xfrm>
          <a:prstGeom prst="rect">
            <a:avLst/>
          </a:prstGeom>
          <a:noFill/>
        </p:spPr>
        <p:txBody>
          <a:bodyPr wrap="square" anchor="t">
            <a:spAutoFit/>
          </a:bodyPr>
          <a:lstStyle/>
          <a:p>
            <a:pPr algn="ctr"/>
            <a:r>
              <a:rPr sz="1000" b="0" i="1">
                <a:solidFill>
                  <a:srgbClr val="4A5568"/>
                </a:solidFill>
                <a:latin typeface="Inter"/>
              </a:rPr>
              <a:t>Impact</a:t>
            </a:r>
          </a:p>
        </p:txBody>
      </p:sp>
      <p:sp>
        <p:nvSpPr>
          <p:cNvPr id="45" name="TextBox 44"/>
          <p:cNvSpPr txBox="1"/>
          <p:nvPr/>
        </p:nvSpPr>
        <p:spPr>
          <a:xfrm>
            <a:off x="6991540" y="1921600"/>
            <a:ext cx="4308920" cy="250000"/>
          </a:xfrm>
          <a:prstGeom prst="rect">
            <a:avLst/>
          </a:prstGeom>
          <a:noFill/>
        </p:spPr>
        <p:txBody>
          <a:bodyPr wrap="square" anchor="t">
            <a:spAutoFit/>
          </a:bodyPr>
          <a:lstStyle/>
          <a:p>
            <a:pPr algn="l"/>
            <a:r>
              <a:rPr sz="1000" b="1" i="0">
                <a:solidFill>
                  <a:srgbClr val="1E3A5F"/>
                </a:solidFill>
                <a:latin typeface="Inter"/>
              </a:rPr>
              <a:t>Risk Items</a:t>
            </a:r>
          </a:p>
        </p:txBody>
      </p:sp>
      <p:cxnSp>
        <p:nvCxnSpPr>
          <p:cNvPr id="46" name="Connector 45"/>
          <p:cNvCxnSpPr/>
          <p:nvPr/>
        </p:nvCxnSpPr>
        <p:spPr>
          <a:xfrm>
            <a:off x="6991540" y="2181600"/>
            <a:ext cx="430892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991540" y="2271600"/>
            <a:ext cx="200000" cy="200000"/>
          </a:xfrm>
          <a:prstGeom prst="rect">
            <a:avLst/>
          </a:prstGeom>
          <a:noFill/>
        </p:spPr>
        <p:txBody>
          <a:bodyPr wrap="square" anchor="t">
            <a:spAutoFit/>
          </a:bodyPr>
          <a:lstStyle/>
          <a:p>
            <a:pPr algn="l"/>
            <a:r>
              <a:rPr sz="900" b="1" i="0">
                <a:solidFill>
                  <a:srgbClr val="991B1B"/>
                </a:solidFill>
                <a:latin typeface="Inter"/>
              </a:rPr>
              <a:t>1.</a:t>
            </a:r>
          </a:p>
        </p:txBody>
      </p:sp>
      <p:sp>
        <p:nvSpPr>
          <p:cNvPr id="48" name="TextBox 47"/>
          <p:cNvSpPr txBox="1"/>
          <p:nvPr/>
        </p:nvSpPr>
        <p:spPr>
          <a:xfrm>
            <a:off x="7191540" y="2271600"/>
            <a:ext cx="4108920" cy="200000"/>
          </a:xfrm>
          <a:prstGeom prst="rect">
            <a:avLst/>
          </a:prstGeom>
          <a:noFill/>
        </p:spPr>
        <p:txBody>
          <a:bodyPr wrap="square" anchor="t">
            <a:spAutoFit/>
          </a:bodyPr>
          <a:lstStyle/>
          <a:p>
            <a:pPr algn="l"/>
            <a:r>
              <a:rPr sz="900" b="1" i="0">
                <a:solidFill>
                  <a:srgbClr val="1E3A5F"/>
                </a:solidFill>
                <a:latin typeface="Inter"/>
              </a:rPr>
              <a:t>Data Breach</a:t>
            </a:r>
          </a:p>
        </p:txBody>
      </p:sp>
      <p:sp>
        <p:nvSpPr>
          <p:cNvPr id="49" name="TextBox 48"/>
          <p:cNvSpPr txBox="1"/>
          <p:nvPr/>
        </p:nvSpPr>
        <p:spPr>
          <a:xfrm>
            <a:off x="7191540" y="2471600"/>
            <a:ext cx="4108920" cy="200000"/>
          </a:xfrm>
          <a:prstGeom prst="rect">
            <a:avLst/>
          </a:prstGeom>
          <a:noFill/>
        </p:spPr>
        <p:txBody>
          <a:bodyPr wrap="square" anchor="t">
            <a:spAutoFit/>
          </a:bodyPr>
          <a:lstStyle/>
          <a:p>
            <a:pPr algn="l"/>
            <a:r>
              <a:rPr sz="800" b="0" i="0">
                <a:solidFill>
                  <a:srgbClr val="4A5568"/>
                </a:solidFill>
                <a:latin typeface="Inter"/>
              </a:rPr>
              <a:t>Unauthorized access to sensitive data</a:t>
            </a:r>
          </a:p>
        </p:txBody>
      </p:sp>
      <p:sp>
        <p:nvSpPr>
          <p:cNvPr id="50" name="TextBox 49"/>
          <p:cNvSpPr txBox="1"/>
          <p:nvPr/>
        </p:nvSpPr>
        <p:spPr>
          <a:xfrm>
            <a:off x="6991540" y="2791600"/>
            <a:ext cx="200000" cy="200000"/>
          </a:xfrm>
          <a:prstGeom prst="rect">
            <a:avLst/>
          </a:prstGeom>
          <a:noFill/>
        </p:spPr>
        <p:txBody>
          <a:bodyPr wrap="square" anchor="t">
            <a:spAutoFit/>
          </a:bodyPr>
          <a:lstStyle/>
          <a:p>
            <a:pPr algn="l"/>
            <a:r>
              <a:rPr sz="900" b="1" i="0">
                <a:solidFill>
                  <a:srgbClr val="EF4444"/>
                </a:solidFill>
                <a:latin typeface="Inter"/>
              </a:rPr>
              <a:t>2.</a:t>
            </a:r>
          </a:p>
        </p:txBody>
      </p:sp>
      <p:sp>
        <p:nvSpPr>
          <p:cNvPr id="51" name="TextBox 50"/>
          <p:cNvSpPr txBox="1"/>
          <p:nvPr/>
        </p:nvSpPr>
        <p:spPr>
          <a:xfrm>
            <a:off x="7191540" y="2791600"/>
            <a:ext cx="4108920" cy="200000"/>
          </a:xfrm>
          <a:prstGeom prst="rect">
            <a:avLst/>
          </a:prstGeom>
          <a:noFill/>
        </p:spPr>
        <p:txBody>
          <a:bodyPr wrap="square" anchor="t">
            <a:spAutoFit/>
          </a:bodyPr>
          <a:lstStyle/>
          <a:p>
            <a:pPr algn="l"/>
            <a:r>
              <a:rPr sz="900" b="1" i="0">
                <a:solidFill>
                  <a:srgbClr val="1E3A5F"/>
                </a:solidFill>
                <a:latin typeface="Inter"/>
              </a:rPr>
              <a:t>Supply Chain</a:t>
            </a:r>
          </a:p>
        </p:txBody>
      </p:sp>
      <p:sp>
        <p:nvSpPr>
          <p:cNvPr id="52" name="TextBox 51"/>
          <p:cNvSpPr txBox="1"/>
          <p:nvPr/>
        </p:nvSpPr>
        <p:spPr>
          <a:xfrm>
            <a:off x="7191540" y="2991600"/>
            <a:ext cx="4108920" cy="200000"/>
          </a:xfrm>
          <a:prstGeom prst="rect">
            <a:avLst/>
          </a:prstGeom>
          <a:noFill/>
        </p:spPr>
        <p:txBody>
          <a:bodyPr wrap="square" anchor="t">
            <a:spAutoFit/>
          </a:bodyPr>
          <a:lstStyle/>
          <a:p>
            <a:pPr algn="l"/>
            <a:r>
              <a:rPr sz="800" b="0" i="0">
                <a:solidFill>
                  <a:srgbClr val="4A5568"/>
                </a:solidFill>
                <a:latin typeface="Inter"/>
              </a:rPr>
              <a:t>Key vendor disruption risk</a:t>
            </a:r>
          </a:p>
        </p:txBody>
      </p:sp>
      <p:sp>
        <p:nvSpPr>
          <p:cNvPr id="53" name="TextBox 52"/>
          <p:cNvSpPr txBox="1"/>
          <p:nvPr/>
        </p:nvSpPr>
        <p:spPr>
          <a:xfrm>
            <a:off x="6991540" y="3311600"/>
            <a:ext cx="200000" cy="200000"/>
          </a:xfrm>
          <a:prstGeom prst="rect">
            <a:avLst/>
          </a:prstGeom>
          <a:noFill/>
        </p:spPr>
        <p:txBody>
          <a:bodyPr wrap="square" anchor="t">
            <a:spAutoFit/>
          </a:bodyPr>
          <a:lstStyle/>
          <a:p>
            <a:pPr algn="l"/>
            <a:r>
              <a:rPr sz="900" b="1" i="0">
                <a:solidFill>
                  <a:srgbClr val="F59E0B"/>
                </a:solidFill>
                <a:latin typeface="Inter"/>
              </a:rPr>
              <a:t>3.</a:t>
            </a:r>
          </a:p>
        </p:txBody>
      </p:sp>
      <p:sp>
        <p:nvSpPr>
          <p:cNvPr id="54" name="TextBox 53"/>
          <p:cNvSpPr txBox="1"/>
          <p:nvPr/>
        </p:nvSpPr>
        <p:spPr>
          <a:xfrm>
            <a:off x="7191540" y="3311600"/>
            <a:ext cx="4108920" cy="200000"/>
          </a:xfrm>
          <a:prstGeom prst="rect">
            <a:avLst/>
          </a:prstGeom>
          <a:noFill/>
        </p:spPr>
        <p:txBody>
          <a:bodyPr wrap="square" anchor="t">
            <a:spAutoFit/>
          </a:bodyPr>
          <a:lstStyle/>
          <a:p>
            <a:pPr algn="l"/>
            <a:r>
              <a:rPr sz="900" b="1" i="0">
                <a:solidFill>
                  <a:srgbClr val="1E3A5F"/>
                </a:solidFill>
                <a:latin typeface="Inter"/>
              </a:rPr>
              <a:t>Compliance</a:t>
            </a:r>
          </a:p>
        </p:txBody>
      </p:sp>
      <p:sp>
        <p:nvSpPr>
          <p:cNvPr id="55" name="TextBox 54"/>
          <p:cNvSpPr txBox="1"/>
          <p:nvPr/>
        </p:nvSpPr>
        <p:spPr>
          <a:xfrm>
            <a:off x="7191540" y="3511600"/>
            <a:ext cx="4108920" cy="200000"/>
          </a:xfrm>
          <a:prstGeom prst="rect">
            <a:avLst/>
          </a:prstGeom>
          <a:noFill/>
        </p:spPr>
        <p:txBody>
          <a:bodyPr wrap="square" anchor="t">
            <a:spAutoFit/>
          </a:bodyPr>
          <a:lstStyle/>
          <a:p>
            <a:pPr algn="l"/>
            <a:r>
              <a:rPr sz="800" b="0" i="0">
                <a:solidFill>
                  <a:srgbClr val="4A5568"/>
                </a:solidFill>
                <a:latin typeface="Inter"/>
              </a:rPr>
              <a:t>Regulatory non-compliance</a:t>
            </a:r>
          </a:p>
        </p:txBody>
      </p:sp>
      <p:sp>
        <p:nvSpPr>
          <p:cNvPr id="56" name="TextBox 55"/>
          <p:cNvSpPr txBox="1"/>
          <p:nvPr/>
        </p:nvSpPr>
        <p:spPr>
          <a:xfrm>
            <a:off x="6991540" y="3831600"/>
            <a:ext cx="200000" cy="200000"/>
          </a:xfrm>
          <a:prstGeom prst="rect">
            <a:avLst/>
          </a:prstGeom>
          <a:noFill/>
        </p:spPr>
        <p:txBody>
          <a:bodyPr wrap="square" anchor="t">
            <a:spAutoFit/>
          </a:bodyPr>
          <a:lstStyle/>
          <a:p>
            <a:pPr algn="l"/>
            <a:r>
              <a:rPr sz="900" b="1" i="0">
                <a:solidFill>
                  <a:srgbClr val="F59E0B"/>
                </a:solidFill>
                <a:latin typeface="Inter"/>
              </a:rPr>
              <a:t>4.</a:t>
            </a:r>
          </a:p>
        </p:txBody>
      </p:sp>
      <p:sp>
        <p:nvSpPr>
          <p:cNvPr id="57" name="TextBox 56"/>
          <p:cNvSpPr txBox="1"/>
          <p:nvPr/>
        </p:nvSpPr>
        <p:spPr>
          <a:xfrm>
            <a:off x="7191540" y="3831600"/>
            <a:ext cx="4108920" cy="200000"/>
          </a:xfrm>
          <a:prstGeom prst="rect">
            <a:avLst/>
          </a:prstGeom>
          <a:noFill/>
        </p:spPr>
        <p:txBody>
          <a:bodyPr wrap="square" anchor="t">
            <a:spAutoFit/>
          </a:bodyPr>
          <a:lstStyle/>
          <a:p>
            <a:pPr algn="l"/>
            <a:r>
              <a:rPr sz="900" b="1" i="0">
                <a:solidFill>
                  <a:srgbClr val="1E3A5F"/>
                </a:solidFill>
                <a:latin typeface="Inter"/>
              </a:rPr>
              <a:t>Talent</a:t>
            </a:r>
          </a:p>
        </p:txBody>
      </p:sp>
      <p:sp>
        <p:nvSpPr>
          <p:cNvPr id="58" name="TextBox 57"/>
          <p:cNvSpPr txBox="1"/>
          <p:nvPr/>
        </p:nvSpPr>
        <p:spPr>
          <a:xfrm>
            <a:off x="7191540" y="4031600"/>
            <a:ext cx="4108920" cy="200000"/>
          </a:xfrm>
          <a:prstGeom prst="rect">
            <a:avLst/>
          </a:prstGeom>
          <a:noFill/>
        </p:spPr>
        <p:txBody>
          <a:bodyPr wrap="square" anchor="t">
            <a:spAutoFit/>
          </a:bodyPr>
          <a:lstStyle/>
          <a:p>
            <a:pPr algn="l"/>
            <a:r>
              <a:rPr sz="800" b="0" i="0">
                <a:solidFill>
                  <a:srgbClr val="4A5568"/>
                </a:solidFill>
                <a:latin typeface="Inter"/>
              </a:rPr>
              <a:t>Key personnel retention</a:t>
            </a:r>
          </a:p>
        </p:txBody>
      </p:sp>
      <p:sp>
        <p:nvSpPr>
          <p:cNvPr id="59" name="TextBox 58"/>
          <p:cNvSpPr txBox="1"/>
          <p:nvPr/>
        </p:nvSpPr>
        <p:spPr>
          <a:xfrm>
            <a:off x="6991540" y="4351600"/>
            <a:ext cx="200000" cy="200000"/>
          </a:xfrm>
          <a:prstGeom prst="rect">
            <a:avLst/>
          </a:prstGeom>
          <a:noFill/>
        </p:spPr>
        <p:txBody>
          <a:bodyPr wrap="square" anchor="t">
            <a:spAutoFit/>
          </a:bodyPr>
          <a:lstStyle/>
          <a:p>
            <a:pPr algn="l"/>
            <a:r>
              <a:rPr sz="900" b="1" i="0">
                <a:solidFill>
                  <a:srgbClr val="EF4444"/>
                </a:solidFill>
                <a:latin typeface="Inter"/>
              </a:rPr>
              <a:t>5.</a:t>
            </a:r>
          </a:p>
        </p:txBody>
      </p:sp>
      <p:sp>
        <p:nvSpPr>
          <p:cNvPr id="60" name="TextBox 59"/>
          <p:cNvSpPr txBox="1"/>
          <p:nvPr/>
        </p:nvSpPr>
        <p:spPr>
          <a:xfrm>
            <a:off x="7191540" y="4351600"/>
            <a:ext cx="4108920" cy="200000"/>
          </a:xfrm>
          <a:prstGeom prst="rect">
            <a:avLst/>
          </a:prstGeom>
          <a:noFill/>
        </p:spPr>
        <p:txBody>
          <a:bodyPr wrap="square" anchor="t">
            <a:spAutoFit/>
          </a:bodyPr>
          <a:lstStyle/>
          <a:p>
            <a:pPr algn="l"/>
            <a:r>
              <a:rPr sz="900" b="1" i="0">
                <a:solidFill>
                  <a:srgbClr val="1E3A5F"/>
                </a:solidFill>
                <a:latin typeface="Inter"/>
              </a:rPr>
              <a:t>Market Shift</a:t>
            </a:r>
          </a:p>
        </p:txBody>
      </p:sp>
      <p:sp>
        <p:nvSpPr>
          <p:cNvPr id="61" name="TextBox 60"/>
          <p:cNvSpPr txBox="1"/>
          <p:nvPr/>
        </p:nvSpPr>
        <p:spPr>
          <a:xfrm>
            <a:off x="7191540" y="4551600"/>
            <a:ext cx="4108920" cy="200000"/>
          </a:xfrm>
          <a:prstGeom prst="rect">
            <a:avLst/>
          </a:prstGeom>
          <a:noFill/>
        </p:spPr>
        <p:txBody>
          <a:bodyPr wrap="square" anchor="t">
            <a:spAutoFit/>
          </a:bodyPr>
          <a:lstStyle/>
          <a:p>
            <a:pPr algn="l"/>
            <a:r>
              <a:rPr sz="800" b="0" i="0">
                <a:solidFill>
                  <a:srgbClr val="4A5568"/>
                </a:solidFill>
                <a:latin typeface="Inter"/>
              </a:rPr>
              <a:t>Competitive landscape change</a:t>
            </a:r>
          </a:p>
        </p:txBody>
      </p:sp>
      <p:sp>
        <p:nvSpPr>
          <p:cNvPr id="62" name="TextBox 61"/>
          <p:cNvSpPr txBox="1"/>
          <p:nvPr/>
        </p:nvSpPr>
        <p:spPr>
          <a:xfrm>
            <a:off x="6991540" y="4871600"/>
            <a:ext cx="200000" cy="200000"/>
          </a:xfrm>
          <a:prstGeom prst="rect">
            <a:avLst/>
          </a:prstGeom>
          <a:noFill/>
        </p:spPr>
        <p:txBody>
          <a:bodyPr wrap="square" anchor="t">
            <a:spAutoFit/>
          </a:bodyPr>
          <a:lstStyle/>
          <a:p>
            <a:pPr algn="l"/>
            <a:r>
              <a:rPr sz="900" b="1" i="0">
                <a:solidFill>
                  <a:srgbClr val="10B981"/>
                </a:solidFill>
                <a:latin typeface="Inter"/>
              </a:rPr>
              <a:t>6.</a:t>
            </a:r>
          </a:p>
        </p:txBody>
      </p:sp>
      <p:sp>
        <p:nvSpPr>
          <p:cNvPr id="63" name="TextBox 62"/>
          <p:cNvSpPr txBox="1"/>
          <p:nvPr/>
        </p:nvSpPr>
        <p:spPr>
          <a:xfrm>
            <a:off x="7191540" y="4871600"/>
            <a:ext cx="4108920" cy="200000"/>
          </a:xfrm>
          <a:prstGeom prst="rect">
            <a:avLst/>
          </a:prstGeom>
          <a:noFill/>
        </p:spPr>
        <p:txBody>
          <a:bodyPr wrap="square" anchor="t">
            <a:spAutoFit/>
          </a:bodyPr>
          <a:lstStyle/>
          <a:p>
            <a:pPr algn="l"/>
            <a:r>
              <a:rPr sz="900" b="1" i="0">
                <a:solidFill>
                  <a:srgbClr val="1E3A5F"/>
                </a:solidFill>
                <a:latin typeface="Inter"/>
              </a:rPr>
              <a:t>Technology</a:t>
            </a:r>
          </a:p>
        </p:txBody>
      </p:sp>
      <p:sp>
        <p:nvSpPr>
          <p:cNvPr id="64" name="TextBox 63"/>
          <p:cNvSpPr txBox="1"/>
          <p:nvPr/>
        </p:nvSpPr>
        <p:spPr>
          <a:xfrm>
            <a:off x="7191540" y="5071600"/>
            <a:ext cx="4108920" cy="200000"/>
          </a:xfrm>
          <a:prstGeom prst="rect">
            <a:avLst/>
          </a:prstGeom>
          <a:noFill/>
        </p:spPr>
        <p:txBody>
          <a:bodyPr wrap="square" anchor="t">
            <a:spAutoFit/>
          </a:bodyPr>
          <a:lstStyle/>
          <a:p>
            <a:pPr algn="l"/>
            <a:r>
              <a:rPr sz="800" b="0" i="0">
                <a:solidFill>
                  <a:srgbClr val="4A5568"/>
                </a:solidFill>
                <a:latin typeface="Inter"/>
              </a:rPr>
              <a:t>Legacy system failure</a:t>
            </a:r>
          </a:p>
        </p:txBody>
      </p:sp>
      <p:sp>
        <p:nvSpPr>
          <p:cNvPr id="65" name="Rectangle 64"/>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67" name="TextBox 66"/>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3352800" y="2429000"/>
            <a:ext cx="54864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2629000"/>
            <a:ext cx="10820400" cy="400000"/>
          </a:xfrm>
          <a:prstGeom prst="rect">
            <a:avLst/>
          </a:prstGeom>
          <a:noFill/>
        </p:spPr>
        <p:txBody>
          <a:bodyPr wrap="square" anchor="t">
            <a:spAutoFit/>
          </a:bodyPr>
          <a:lstStyle/>
          <a:p>
            <a:pPr algn="ctr"/>
            <a:r>
              <a:rPr sz="1300" b="0" i="0">
                <a:solidFill>
                  <a:srgbClr val="9B2335"/>
                </a:solidFill>
                <a:latin typeface="Inter"/>
              </a:rPr>
              <a:t>Section 06</a:t>
            </a:r>
          </a:p>
        </p:txBody>
      </p:sp>
      <p:sp>
        <p:nvSpPr>
          <p:cNvPr id="5" name="TextBox 4"/>
          <p:cNvSpPr txBox="1"/>
          <p:nvPr/>
        </p:nvSpPr>
        <p:spPr>
          <a:xfrm>
            <a:off x="1185800" y="3129000"/>
            <a:ext cx="9820400" cy="700000"/>
          </a:xfrm>
          <a:prstGeom prst="rect">
            <a:avLst/>
          </a:prstGeom>
          <a:noFill/>
        </p:spPr>
        <p:txBody>
          <a:bodyPr wrap="square" anchor="t">
            <a:spAutoFit/>
          </a:bodyPr>
          <a:lstStyle/>
          <a:p>
            <a:pPr algn="ctr"/>
            <a:r>
              <a:rPr sz="3600" b="1" i="0">
                <a:solidFill>
                  <a:srgbClr val="1E3A5F"/>
                </a:solidFill>
                <a:latin typeface="Inter"/>
              </a:rPr>
              <a:t>Deliverables</a:t>
            </a:r>
          </a:p>
        </p:txBody>
      </p:sp>
      <p:cxnSp>
        <p:nvCxnSpPr>
          <p:cNvPr id="6" name="Connector 5"/>
          <p:cNvCxnSpPr/>
          <p:nvPr/>
        </p:nvCxnSpPr>
        <p:spPr>
          <a:xfrm>
            <a:off x="3352800" y="4029000"/>
            <a:ext cx="54864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685800" y="4279000"/>
            <a:ext cx="8820400" cy="350000"/>
          </a:xfrm>
          <a:prstGeom prst="rect">
            <a:avLst/>
          </a:prstGeom>
          <a:noFill/>
        </p:spPr>
        <p:txBody>
          <a:bodyPr wrap="square" anchor="t">
            <a:spAutoFit/>
          </a:bodyPr>
          <a:lstStyle/>
          <a:p>
            <a:pPr algn="ctr"/>
            <a:r>
              <a:rPr sz="1300" b="0" i="0">
                <a:solidFill>
                  <a:srgbClr val="4A5568"/>
                </a:solidFill>
                <a:latin typeface="Inter"/>
              </a:rPr>
              <a:t>Tangible outcomes and milestones</a:t>
            </a:r>
          </a:p>
        </p:txBody>
      </p:sp>
      <p:sp>
        <p:nvSpPr>
          <p:cNvPr id="8" name="Rectangle 7"/>
          <p:cNvSpPr/>
          <p:nvPr/>
        </p:nvSpPr>
        <p:spPr>
          <a:xfrm>
            <a:off x="0" y="6400800"/>
            <a:ext cx="12192000" cy="457200"/>
          </a:xfrm>
          <a:prstGeom prst="rect">
            <a:avLst/>
          </a:prstGeom>
          <a:solidFill>
            <a:srgbClr val="18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1540" y="6500800"/>
            <a:ext cx="3000000" cy="260000"/>
          </a:xfrm>
          <a:prstGeom prst="rect">
            <a:avLst/>
          </a:prstGeom>
          <a:noFill/>
        </p:spPr>
        <p:txBody>
          <a:bodyPr wrap="square" anchor="t">
            <a:spAutoFit/>
          </a:bodyPr>
          <a:lstStyle/>
          <a:p>
            <a:pPr algn="l"/>
            <a:r>
              <a:rPr sz="1200" b="0" i="0">
                <a:solidFill>
                  <a:srgbClr val="8E9CAF"/>
                </a:solidFill>
                <a:latin typeface="Inter"/>
              </a:rPr>
              <a:t>University</a:t>
            </a:r>
          </a:p>
        </p:txBody>
      </p:sp>
      <p:sp>
        <p:nvSpPr>
          <p:cNvPr id="10" name="TextBox 9"/>
          <p:cNvSpPr txBox="1"/>
          <p:nvPr/>
        </p:nvSpPr>
        <p:spPr>
          <a:xfrm>
            <a:off x="11106200" y="6500800"/>
            <a:ext cx="400000" cy="260000"/>
          </a:xfrm>
          <a:prstGeom prst="rect">
            <a:avLst/>
          </a:prstGeom>
          <a:noFill/>
        </p:spPr>
        <p:txBody>
          <a:bodyPr wrap="square" anchor="t">
            <a:spAutoFit/>
          </a:bodyPr>
          <a:lstStyle/>
          <a:p>
            <a:pPr algn="r"/>
            <a:r>
              <a:rPr sz="900" b="0" i="0">
                <a:solidFill>
                  <a:srgbClr val="8E9CAF"/>
                </a:solidFill>
                <a:latin typeface="Inter"/>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Strategic Priorities</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1471600"/>
            <a:ext cx="5210200" cy="450000"/>
          </a:xfrm>
          <a:prstGeom prst="rect">
            <a:avLst/>
          </a:prstGeom>
          <a:noFill/>
        </p:spPr>
        <p:txBody>
          <a:bodyPr wrap="square" anchor="t">
            <a:spAutoFit/>
          </a:bodyPr>
          <a:lstStyle/>
          <a:p>
            <a:pPr algn="ctr"/>
            <a:r>
              <a:rPr sz="1800" b="1" i="0">
                <a:solidFill>
                  <a:srgbClr val="1E3A5F"/>
                </a:solidFill>
                <a:latin typeface="Inter"/>
              </a:rPr>
              <a:t>Short-Term Goals</a:t>
            </a:r>
          </a:p>
        </p:txBody>
      </p:sp>
      <p:sp>
        <p:nvSpPr>
          <p:cNvPr id="6" name="TextBox 5"/>
          <p:cNvSpPr txBox="1"/>
          <p:nvPr/>
        </p:nvSpPr>
        <p:spPr>
          <a:xfrm>
            <a:off x="785800" y="2021600"/>
            <a:ext cx="5010200" cy="3650000"/>
          </a:xfrm>
          <a:prstGeom prst="rect">
            <a:avLst/>
          </a:prstGeom>
          <a:noFill/>
        </p:spPr>
        <p:txBody>
          <a:bodyPr wrap="square">
            <a:spAutoFit/>
          </a:bodyPr>
          <a:lstStyle/>
          <a:p>
            <a:pPr>
              <a:spcBef>
                <a:spcPts val="1000"/>
              </a:spcBef>
              <a:spcAft>
                <a:spcPts val="500"/>
              </a:spcAft>
              <a:buFont typeface="Inter"/>
              <a:buChar char="•"/>
              <a:buClr>
                <a:srgbClr val="4A5568"/>
              </a:buClr>
            </a:pPr>
            <a:r>
              <a:rPr sz="1400">
                <a:solidFill>
                  <a:srgbClr val="1E3A5F"/>
                </a:solidFill>
                <a:latin typeface="Inter"/>
              </a:rPr>
              <a:t>Launch Phase 2 platform by Q2 2026</a:t>
            </a:r>
          </a:p>
          <a:p>
            <a:pPr>
              <a:spcBef>
                <a:spcPts val="1000"/>
              </a:spcBef>
              <a:spcAft>
                <a:spcPts val="500"/>
              </a:spcAft>
              <a:buFont typeface="Inter"/>
              <a:buChar char="•"/>
              <a:buClr>
                <a:srgbClr val="4A5568"/>
              </a:buClr>
            </a:pPr>
            <a:r>
              <a:rPr sz="1400">
                <a:solidFill>
                  <a:srgbClr val="1E3A5F"/>
                </a:solidFill>
                <a:latin typeface="Inter"/>
              </a:rPr>
              <a:t>Achieve 15% market share in target segments</a:t>
            </a:r>
          </a:p>
          <a:p>
            <a:pPr>
              <a:spcBef>
                <a:spcPts val="1000"/>
              </a:spcBef>
              <a:spcAft>
                <a:spcPts val="500"/>
              </a:spcAft>
              <a:buFont typeface="Inter"/>
              <a:buChar char="•"/>
              <a:buClr>
                <a:srgbClr val="4A5568"/>
              </a:buClr>
            </a:pPr>
            <a:r>
              <a:rPr sz="1400">
                <a:solidFill>
                  <a:srgbClr val="1E3A5F"/>
                </a:solidFill>
                <a:latin typeface="Inter"/>
              </a:rPr>
              <a:t>Reduce operational costs by 12%</a:t>
            </a:r>
          </a:p>
          <a:p>
            <a:pPr>
              <a:spcBef>
                <a:spcPts val="1000"/>
              </a:spcBef>
              <a:spcAft>
                <a:spcPts val="500"/>
              </a:spcAft>
              <a:buFont typeface="Inter"/>
              <a:buChar char="•"/>
              <a:buClr>
                <a:srgbClr val="4A5568"/>
              </a:buClr>
            </a:pPr>
            <a:r>
              <a:rPr sz="1400">
                <a:solidFill>
                  <a:srgbClr val="1E3A5F"/>
                </a:solidFill>
                <a:latin typeface="Inter"/>
              </a:rPr>
              <a:t>Complete digital transformation initiative</a:t>
            </a:r>
          </a:p>
        </p:txBody>
      </p:sp>
      <p:sp>
        <p:nvSpPr>
          <p:cNvPr id="7" name="TextBox 6"/>
          <p:cNvSpPr txBox="1"/>
          <p:nvPr/>
        </p:nvSpPr>
        <p:spPr>
          <a:xfrm>
            <a:off x="6296000" y="1471600"/>
            <a:ext cx="5210200" cy="450000"/>
          </a:xfrm>
          <a:prstGeom prst="rect">
            <a:avLst/>
          </a:prstGeom>
          <a:noFill/>
        </p:spPr>
        <p:txBody>
          <a:bodyPr wrap="square" anchor="t">
            <a:spAutoFit/>
          </a:bodyPr>
          <a:lstStyle/>
          <a:p>
            <a:pPr algn="ctr"/>
            <a:r>
              <a:rPr sz="1800" b="1" i="0">
                <a:solidFill>
                  <a:srgbClr val="1E3A5F"/>
                </a:solidFill>
                <a:latin typeface="Inter"/>
              </a:rPr>
              <a:t>Long-Term Vision</a:t>
            </a:r>
          </a:p>
        </p:txBody>
      </p:sp>
      <p:sp>
        <p:nvSpPr>
          <p:cNvPr id="8" name="TextBox 7"/>
          <p:cNvSpPr txBox="1"/>
          <p:nvPr/>
        </p:nvSpPr>
        <p:spPr>
          <a:xfrm>
            <a:off x="6396000" y="2021600"/>
            <a:ext cx="5010200" cy="3650000"/>
          </a:xfrm>
          <a:prstGeom prst="rect">
            <a:avLst/>
          </a:prstGeom>
          <a:noFill/>
        </p:spPr>
        <p:txBody>
          <a:bodyPr wrap="square">
            <a:spAutoFit/>
          </a:bodyPr>
          <a:lstStyle/>
          <a:p>
            <a:pPr>
              <a:spcBef>
                <a:spcPts val="1000"/>
              </a:spcBef>
              <a:spcAft>
                <a:spcPts val="500"/>
              </a:spcAft>
              <a:buFont typeface="Inter"/>
              <a:buChar char="•"/>
              <a:buClr>
                <a:srgbClr val="4A5568"/>
              </a:buClr>
            </a:pPr>
            <a:r>
              <a:rPr sz="1400">
                <a:solidFill>
                  <a:srgbClr val="1E3A5F"/>
                </a:solidFill>
                <a:latin typeface="Inter"/>
              </a:rPr>
              <a:t>Establish market leadership in 3 regions</a:t>
            </a:r>
          </a:p>
          <a:p>
            <a:pPr>
              <a:spcBef>
                <a:spcPts val="1000"/>
              </a:spcBef>
              <a:spcAft>
                <a:spcPts val="500"/>
              </a:spcAft>
              <a:buFont typeface="Inter"/>
              <a:buChar char="•"/>
              <a:buClr>
                <a:srgbClr val="4A5568"/>
              </a:buClr>
            </a:pPr>
            <a:r>
              <a:rPr sz="1400">
                <a:solidFill>
                  <a:srgbClr val="1E3A5F"/>
                </a:solidFill>
                <a:latin typeface="Inter"/>
              </a:rPr>
              <a:t>Build sustainable competitive moat</a:t>
            </a:r>
          </a:p>
          <a:p>
            <a:pPr>
              <a:spcBef>
                <a:spcPts val="1000"/>
              </a:spcBef>
              <a:spcAft>
                <a:spcPts val="500"/>
              </a:spcAft>
              <a:buFont typeface="Inter"/>
              <a:buChar char="•"/>
              <a:buClr>
                <a:srgbClr val="4A5568"/>
              </a:buClr>
            </a:pPr>
            <a:r>
              <a:rPr sz="1400">
                <a:solidFill>
                  <a:srgbClr val="1E3A5F"/>
                </a:solidFill>
                <a:latin typeface="Inter"/>
              </a:rPr>
              <a:t>Achieve $1B revenue milestone by 2028</a:t>
            </a:r>
          </a:p>
          <a:p>
            <a:pPr>
              <a:spcBef>
                <a:spcPts val="1000"/>
              </a:spcBef>
              <a:spcAft>
                <a:spcPts val="500"/>
              </a:spcAft>
              <a:buFont typeface="Inter"/>
              <a:buChar char="•"/>
              <a:buClr>
                <a:srgbClr val="4A5568"/>
              </a:buClr>
            </a:pPr>
            <a:r>
              <a:rPr sz="1400">
                <a:solidFill>
                  <a:srgbClr val="1E3A5F"/>
                </a:solidFill>
                <a:latin typeface="Inter"/>
              </a:rPr>
              <a:t>Develop AI-powered service offerings</a:t>
            </a:r>
          </a:p>
        </p:txBody>
      </p:sp>
      <p:cxnSp>
        <p:nvCxnSpPr>
          <p:cNvPr id="9" name="Connector 8"/>
          <p:cNvCxnSpPr/>
          <p:nvPr/>
        </p:nvCxnSpPr>
        <p:spPr>
          <a:xfrm>
            <a:off x="6096000" y="1471600"/>
            <a:ext cx="0" cy="420000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12" name="TextBox 11"/>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Key Focus Areas</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1471600"/>
            <a:ext cx="3340133" cy="400000"/>
          </a:xfrm>
          <a:prstGeom prst="rect">
            <a:avLst/>
          </a:prstGeom>
          <a:noFill/>
        </p:spPr>
        <p:txBody>
          <a:bodyPr wrap="square" anchor="t">
            <a:spAutoFit/>
          </a:bodyPr>
          <a:lstStyle/>
          <a:p>
            <a:pPr algn="ctr"/>
            <a:r>
              <a:rPr sz="1800" b="1" i="0">
                <a:solidFill>
                  <a:srgbClr val="1E3A5F"/>
                </a:solidFill>
                <a:latin typeface="Inter"/>
              </a:rPr>
              <a:t>Research</a:t>
            </a:r>
          </a:p>
        </p:txBody>
      </p:sp>
      <p:sp>
        <p:nvSpPr>
          <p:cNvPr id="6" name="TextBox 5"/>
          <p:cNvSpPr txBox="1"/>
          <p:nvPr/>
        </p:nvSpPr>
        <p:spPr>
          <a:xfrm>
            <a:off x="765800" y="1971600"/>
            <a:ext cx="3180133" cy="3400000"/>
          </a:xfrm>
          <a:prstGeom prst="rect">
            <a:avLst/>
          </a:prstGeom>
          <a:noFill/>
        </p:spPr>
        <p:txBody>
          <a:bodyPr wrap="square" anchor="t">
            <a:spAutoFit/>
          </a:bodyPr>
          <a:lstStyle/>
          <a:p>
            <a:pPr algn="ctr"/>
            <a:r>
              <a:rPr sz="1300" b="0" i="0">
                <a:solidFill>
                  <a:srgbClr val="4A5568"/>
                </a:solidFill>
                <a:latin typeface="Inter"/>
              </a:rPr>
              <a:t>Pioneering discoveries across natural sciences, humanities, and engineering.</a:t>
            </a:r>
          </a:p>
        </p:txBody>
      </p:sp>
      <p:sp>
        <p:nvSpPr>
          <p:cNvPr id="7" name="TextBox 6"/>
          <p:cNvSpPr txBox="1"/>
          <p:nvPr/>
        </p:nvSpPr>
        <p:spPr>
          <a:xfrm>
            <a:off x="4425933" y="1471600"/>
            <a:ext cx="3340133" cy="400000"/>
          </a:xfrm>
          <a:prstGeom prst="rect">
            <a:avLst/>
          </a:prstGeom>
          <a:noFill/>
        </p:spPr>
        <p:txBody>
          <a:bodyPr wrap="square" anchor="t">
            <a:spAutoFit/>
          </a:bodyPr>
          <a:lstStyle/>
          <a:p>
            <a:pPr algn="ctr"/>
            <a:r>
              <a:rPr sz="1800" b="1" i="0">
                <a:solidFill>
                  <a:srgbClr val="1E3A5F"/>
                </a:solidFill>
                <a:latin typeface="Inter"/>
              </a:rPr>
              <a:t>Teaching</a:t>
            </a:r>
          </a:p>
        </p:txBody>
      </p:sp>
      <p:sp>
        <p:nvSpPr>
          <p:cNvPr id="8" name="TextBox 7"/>
          <p:cNvSpPr txBox="1"/>
          <p:nvPr/>
        </p:nvSpPr>
        <p:spPr>
          <a:xfrm>
            <a:off x="4505933" y="1971600"/>
            <a:ext cx="3180133" cy="3400000"/>
          </a:xfrm>
          <a:prstGeom prst="rect">
            <a:avLst/>
          </a:prstGeom>
          <a:noFill/>
        </p:spPr>
        <p:txBody>
          <a:bodyPr wrap="square" anchor="t">
            <a:spAutoFit/>
          </a:bodyPr>
          <a:lstStyle/>
          <a:p>
            <a:pPr algn="ctr"/>
            <a:r>
              <a:rPr sz="1300" b="0" i="0">
                <a:solidFill>
                  <a:srgbClr val="4A5568"/>
                </a:solidFill>
                <a:latin typeface="Inter"/>
              </a:rPr>
              <a:t>Student-centered learning with world-renowned faculty and mentorship.</a:t>
            </a:r>
          </a:p>
        </p:txBody>
      </p:sp>
      <p:sp>
        <p:nvSpPr>
          <p:cNvPr id="9" name="TextBox 8"/>
          <p:cNvSpPr txBox="1"/>
          <p:nvPr/>
        </p:nvSpPr>
        <p:spPr>
          <a:xfrm>
            <a:off x="8166066" y="1471600"/>
            <a:ext cx="3340133" cy="400000"/>
          </a:xfrm>
          <a:prstGeom prst="rect">
            <a:avLst/>
          </a:prstGeom>
          <a:noFill/>
        </p:spPr>
        <p:txBody>
          <a:bodyPr wrap="square" anchor="t">
            <a:spAutoFit/>
          </a:bodyPr>
          <a:lstStyle/>
          <a:p>
            <a:pPr algn="ctr"/>
            <a:r>
              <a:rPr sz="1800" b="1" i="0">
                <a:solidFill>
                  <a:srgbClr val="1E3A5F"/>
                </a:solidFill>
                <a:latin typeface="Inter"/>
              </a:rPr>
              <a:t>Community</a:t>
            </a:r>
          </a:p>
        </p:txBody>
      </p:sp>
      <p:sp>
        <p:nvSpPr>
          <p:cNvPr id="10" name="TextBox 9"/>
          <p:cNvSpPr txBox="1"/>
          <p:nvPr/>
        </p:nvSpPr>
        <p:spPr>
          <a:xfrm>
            <a:off x="8246066" y="1971600"/>
            <a:ext cx="3180133" cy="3400000"/>
          </a:xfrm>
          <a:prstGeom prst="rect">
            <a:avLst/>
          </a:prstGeom>
          <a:noFill/>
        </p:spPr>
        <p:txBody>
          <a:bodyPr wrap="square" anchor="t">
            <a:spAutoFit/>
          </a:bodyPr>
          <a:lstStyle/>
          <a:p>
            <a:pPr algn="ctr"/>
            <a:r>
              <a:rPr sz="1300" b="0" i="0">
                <a:solidFill>
                  <a:srgbClr val="4A5568"/>
                </a:solidFill>
                <a:latin typeface="Inter"/>
              </a:rPr>
              <a:t>Engagement and outreach that extend our impact beyond campus walls.</a:t>
            </a:r>
          </a:p>
        </p:txBody>
      </p:sp>
      <p:cxnSp>
        <p:nvCxnSpPr>
          <p:cNvPr id="11" name="Connector 10"/>
          <p:cNvCxnSpPr/>
          <p:nvPr/>
        </p:nvCxnSpPr>
        <p:spPr>
          <a:xfrm>
            <a:off x="4225933" y="1471600"/>
            <a:ext cx="0" cy="400000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966066" y="1471600"/>
            <a:ext cx="0" cy="400000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15" name="TextBox 14"/>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2438400" y="1929000"/>
            <a:ext cx="731520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438400" y="2229000"/>
            <a:ext cx="7315200" cy="2000000"/>
          </a:xfrm>
          <a:prstGeom prst="rect">
            <a:avLst/>
          </a:prstGeom>
          <a:noFill/>
        </p:spPr>
        <p:txBody>
          <a:bodyPr wrap="square" anchor="t">
            <a:spAutoFit/>
          </a:bodyPr>
          <a:lstStyle/>
          <a:p>
            <a:pPr algn="ctr"/>
            <a:r>
              <a:rPr sz="2400" b="0" i="1">
                <a:solidFill>
                  <a:srgbClr val="1E3A5F"/>
                </a:solidFill>
                <a:latin typeface="Inter"/>
              </a:rPr>
              <a:t>Education is not the filling of a pail, but the lighting of a fire. Our mission is to ignite curiosity and empower the next generation of thinkers.</a:t>
            </a:r>
          </a:p>
        </p:txBody>
      </p:sp>
      <p:cxnSp>
        <p:nvCxnSpPr>
          <p:cNvPr id="5" name="Connector 4"/>
          <p:cNvCxnSpPr/>
          <p:nvPr/>
        </p:nvCxnSpPr>
        <p:spPr>
          <a:xfrm>
            <a:off x="2438400" y="4329000"/>
            <a:ext cx="731520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438400" y="4579000"/>
            <a:ext cx="7315200" cy="400000"/>
          </a:xfrm>
          <a:prstGeom prst="rect">
            <a:avLst/>
          </a:prstGeom>
          <a:noFill/>
        </p:spPr>
        <p:txBody>
          <a:bodyPr wrap="square" anchor="t">
            <a:spAutoFit/>
          </a:bodyPr>
          <a:lstStyle/>
          <a:p>
            <a:pPr algn="ctr"/>
            <a:r>
              <a:rPr sz="1400" b="0" i="1">
                <a:solidFill>
                  <a:srgbClr val="1E3A5F"/>
                </a:solidFill>
                <a:latin typeface="Inter"/>
              </a:rPr>
              <a:t>—President, University</a:t>
            </a:r>
          </a:p>
        </p:txBody>
      </p:sp>
      <p:sp>
        <p:nvSpPr>
          <p:cNvPr id="7" name="TextBox 6"/>
          <p:cNvSpPr txBox="1"/>
          <p:nvPr/>
        </p:nvSpPr>
        <p:spPr>
          <a:xfrm>
            <a:off x="2438400" y="4929000"/>
            <a:ext cx="7315200" cy="300000"/>
          </a:xfrm>
          <a:prstGeom prst="rect">
            <a:avLst/>
          </a:prstGeom>
          <a:noFill/>
        </p:spPr>
        <p:txBody>
          <a:bodyPr wrap="square" anchor="t">
            <a:spAutoFit/>
          </a:bodyPr>
          <a:lstStyle/>
          <a:p>
            <a:pPr algn="ctr"/>
            <a:r>
              <a:rPr sz="1100" b="0" i="1">
                <a:solidFill>
                  <a:srgbClr val="4A5568"/>
                </a:solidFill>
                <a:latin typeface="Inter"/>
              </a:rPr>
              <a:t>Annual Convocation Address, 2025</a:t>
            </a:r>
          </a:p>
        </p:txBody>
      </p:sp>
      <p:sp>
        <p:nvSpPr>
          <p:cNvPr id="8" name="Rectangle 7"/>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10" name="TextBox 9"/>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Performance Dashboard</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85800" y="1471600"/>
            <a:ext cx="1082040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1671600"/>
            <a:ext cx="3406800" cy="600000"/>
          </a:xfrm>
          <a:prstGeom prst="rect">
            <a:avLst/>
          </a:prstGeom>
          <a:noFill/>
        </p:spPr>
        <p:txBody>
          <a:bodyPr wrap="square" anchor="t">
            <a:spAutoFit/>
          </a:bodyPr>
          <a:lstStyle/>
          <a:p>
            <a:pPr algn="ctr"/>
            <a:r>
              <a:rPr sz="3600" b="1" i="0">
                <a:solidFill>
                  <a:srgbClr val="1E3A5F"/>
                </a:solidFill>
                <a:latin typeface="Inter"/>
              </a:rPr>
              <a:t>$850M</a:t>
            </a:r>
          </a:p>
        </p:txBody>
      </p:sp>
      <p:sp>
        <p:nvSpPr>
          <p:cNvPr id="7" name="TextBox 6"/>
          <p:cNvSpPr txBox="1"/>
          <p:nvPr/>
        </p:nvSpPr>
        <p:spPr>
          <a:xfrm>
            <a:off x="685800" y="2271600"/>
            <a:ext cx="3406800" cy="300000"/>
          </a:xfrm>
          <a:prstGeom prst="rect">
            <a:avLst/>
          </a:prstGeom>
          <a:noFill/>
        </p:spPr>
        <p:txBody>
          <a:bodyPr wrap="square" anchor="t">
            <a:spAutoFit/>
          </a:bodyPr>
          <a:lstStyle/>
          <a:p>
            <a:pPr algn="ctr"/>
            <a:r>
              <a:rPr sz="1200" b="0" i="0">
                <a:solidFill>
                  <a:srgbClr val="4A5568"/>
                </a:solidFill>
                <a:latin typeface="Inter"/>
              </a:rPr>
              <a:t>Revenue</a:t>
            </a:r>
          </a:p>
        </p:txBody>
      </p:sp>
      <p:sp>
        <p:nvSpPr>
          <p:cNvPr id="8" name="TextBox 7"/>
          <p:cNvSpPr txBox="1"/>
          <p:nvPr/>
        </p:nvSpPr>
        <p:spPr>
          <a:xfrm>
            <a:off x="4392600" y="1671600"/>
            <a:ext cx="3406800" cy="600000"/>
          </a:xfrm>
          <a:prstGeom prst="rect">
            <a:avLst/>
          </a:prstGeom>
          <a:noFill/>
        </p:spPr>
        <p:txBody>
          <a:bodyPr wrap="square" anchor="t">
            <a:spAutoFit/>
          </a:bodyPr>
          <a:lstStyle/>
          <a:p>
            <a:pPr algn="ctr"/>
            <a:r>
              <a:rPr sz="3600" b="1" i="0">
                <a:solidFill>
                  <a:srgbClr val="1E3A5F"/>
                </a:solidFill>
                <a:latin typeface="Inter"/>
              </a:rPr>
              <a:t>2,500</a:t>
            </a:r>
          </a:p>
        </p:txBody>
      </p:sp>
      <p:sp>
        <p:nvSpPr>
          <p:cNvPr id="9" name="TextBox 8"/>
          <p:cNvSpPr txBox="1"/>
          <p:nvPr/>
        </p:nvSpPr>
        <p:spPr>
          <a:xfrm>
            <a:off x="4392600" y="2271600"/>
            <a:ext cx="3406800" cy="300000"/>
          </a:xfrm>
          <a:prstGeom prst="rect">
            <a:avLst/>
          </a:prstGeom>
          <a:noFill/>
        </p:spPr>
        <p:txBody>
          <a:bodyPr wrap="square" anchor="t">
            <a:spAutoFit/>
          </a:bodyPr>
          <a:lstStyle/>
          <a:p>
            <a:pPr algn="ctr"/>
            <a:r>
              <a:rPr sz="1200" b="0" i="0">
                <a:solidFill>
                  <a:srgbClr val="4A5568"/>
                </a:solidFill>
                <a:latin typeface="Inter"/>
              </a:rPr>
              <a:t>Employees</a:t>
            </a:r>
          </a:p>
        </p:txBody>
      </p:sp>
      <p:sp>
        <p:nvSpPr>
          <p:cNvPr id="10" name="TextBox 9"/>
          <p:cNvSpPr txBox="1"/>
          <p:nvPr/>
        </p:nvSpPr>
        <p:spPr>
          <a:xfrm>
            <a:off x="8099400" y="1671600"/>
            <a:ext cx="3406800" cy="600000"/>
          </a:xfrm>
          <a:prstGeom prst="rect">
            <a:avLst/>
          </a:prstGeom>
          <a:noFill/>
        </p:spPr>
        <p:txBody>
          <a:bodyPr wrap="square" anchor="t">
            <a:spAutoFit/>
          </a:bodyPr>
          <a:lstStyle/>
          <a:p>
            <a:pPr algn="ctr"/>
            <a:r>
              <a:rPr sz="3600" b="1" i="0">
                <a:solidFill>
                  <a:srgbClr val="1E3A5F"/>
                </a:solidFill>
                <a:latin typeface="Inter"/>
              </a:rPr>
              <a:t>98%</a:t>
            </a:r>
          </a:p>
        </p:txBody>
      </p:sp>
      <p:sp>
        <p:nvSpPr>
          <p:cNvPr id="11" name="TextBox 10"/>
          <p:cNvSpPr txBox="1"/>
          <p:nvPr/>
        </p:nvSpPr>
        <p:spPr>
          <a:xfrm>
            <a:off x="8099400" y="2271600"/>
            <a:ext cx="3406800" cy="300000"/>
          </a:xfrm>
          <a:prstGeom prst="rect">
            <a:avLst/>
          </a:prstGeom>
          <a:noFill/>
        </p:spPr>
        <p:txBody>
          <a:bodyPr wrap="square" anchor="t">
            <a:spAutoFit/>
          </a:bodyPr>
          <a:lstStyle/>
          <a:p>
            <a:pPr algn="ctr"/>
            <a:r>
              <a:rPr sz="1200" b="0" i="0">
                <a:solidFill>
                  <a:srgbClr val="4A5568"/>
                </a:solidFill>
                <a:latin typeface="Inter"/>
              </a:rPr>
              <a:t>Satisfaction</a:t>
            </a:r>
          </a:p>
        </p:txBody>
      </p:sp>
      <p:cxnSp>
        <p:nvCxnSpPr>
          <p:cNvPr id="12" name="Connector 11"/>
          <p:cNvCxnSpPr/>
          <p:nvPr/>
        </p:nvCxnSpPr>
        <p:spPr>
          <a:xfrm>
            <a:off x="3390900" y="2721600"/>
            <a:ext cx="541020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308860" y="2971600"/>
            <a:ext cx="7574279" cy="220000"/>
          </a:xfrm>
          <a:prstGeom prst="rect">
            <a:avLst/>
          </a:prstGeom>
          <a:noFill/>
        </p:spPr>
        <p:txBody>
          <a:bodyPr wrap="square" anchor="t">
            <a:spAutoFit/>
          </a:bodyPr>
          <a:lstStyle/>
          <a:p>
            <a:pPr algn="l"/>
            <a:r>
              <a:rPr sz="1100" b="0" i="0">
                <a:solidFill>
                  <a:srgbClr val="1E3A5F"/>
                </a:solidFill>
                <a:latin typeface="Inter"/>
              </a:rPr>
              <a:t>Phase 1: Discovery  (100%)</a:t>
            </a:r>
          </a:p>
        </p:txBody>
      </p:sp>
      <p:sp>
        <p:nvSpPr>
          <p:cNvPr id="14" name="Rounded Rectangle 13"/>
          <p:cNvSpPr/>
          <p:nvPr/>
        </p:nvSpPr>
        <p:spPr>
          <a:xfrm>
            <a:off x="2308860" y="3221600"/>
            <a:ext cx="7574279" cy="60000"/>
          </a:xfrm>
          <a:prstGeom prst="roundRect">
            <a:avLst>
              <a:gd name="adj" fmla="val 396"/>
            </a:avLst>
          </a:prstGeom>
          <a:solidFill>
            <a:srgbClr val="E3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308860" y="3221600"/>
            <a:ext cx="7574279" cy="60000"/>
          </a:xfrm>
          <a:prstGeom prst="roundRect">
            <a:avLst>
              <a:gd name="adj" fmla="val 396"/>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08860" y="3521600"/>
            <a:ext cx="7574279" cy="220000"/>
          </a:xfrm>
          <a:prstGeom prst="rect">
            <a:avLst/>
          </a:prstGeom>
          <a:noFill/>
        </p:spPr>
        <p:txBody>
          <a:bodyPr wrap="square" anchor="t">
            <a:spAutoFit/>
          </a:bodyPr>
          <a:lstStyle/>
          <a:p>
            <a:pPr algn="l"/>
            <a:r>
              <a:rPr sz="1100" b="0" i="0">
                <a:solidFill>
                  <a:srgbClr val="1E3A5F"/>
                </a:solidFill>
                <a:latin typeface="Inter"/>
              </a:rPr>
              <a:t>Phase 2: Development  (75%)</a:t>
            </a:r>
          </a:p>
        </p:txBody>
      </p:sp>
      <p:sp>
        <p:nvSpPr>
          <p:cNvPr id="17" name="Rounded Rectangle 16"/>
          <p:cNvSpPr/>
          <p:nvPr/>
        </p:nvSpPr>
        <p:spPr>
          <a:xfrm>
            <a:off x="2308860" y="3771600"/>
            <a:ext cx="7574279" cy="60000"/>
          </a:xfrm>
          <a:prstGeom prst="roundRect">
            <a:avLst>
              <a:gd name="adj" fmla="val 396"/>
            </a:avLst>
          </a:prstGeom>
          <a:solidFill>
            <a:srgbClr val="E3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308860" y="3771600"/>
            <a:ext cx="5680709" cy="60000"/>
          </a:xfrm>
          <a:prstGeom prst="roundRect">
            <a:avLst>
              <a:gd name="adj" fmla="val 528"/>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08860" y="4071600"/>
            <a:ext cx="7574279" cy="220000"/>
          </a:xfrm>
          <a:prstGeom prst="rect">
            <a:avLst/>
          </a:prstGeom>
          <a:noFill/>
        </p:spPr>
        <p:txBody>
          <a:bodyPr wrap="square" anchor="t">
            <a:spAutoFit/>
          </a:bodyPr>
          <a:lstStyle/>
          <a:p>
            <a:pPr algn="l"/>
            <a:r>
              <a:rPr sz="1100" b="0" i="0">
                <a:solidFill>
                  <a:srgbClr val="1E3A5F"/>
                </a:solidFill>
                <a:latin typeface="Inter"/>
              </a:rPr>
              <a:t>Phase 3: Testing  (45%)</a:t>
            </a:r>
          </a:p>
        </p:txBody>
      </p:sp>
      <p:sp>
        <p:nvSpPr>
          <p:cNvPr id="20" name="Rounded Rectangle 19"/>
          <p:cNvSpPr/>
          <p:nvPr/>
        </p:nvSpPr>
        <p:spPr>
          <a:xfrm>
            <a:off x="2308860" y="4321600"/>
            <a:ext cx="7574279" cy="60000"/>
          </a:xfrm>
          <a:prstGeom prst="roundRect">
            <a:avLst>
              <a:gd name="adj" fmla="val 396"/>
            </a:avLst>
          </a:prstGeom>
          <a:solidFill>
            <a:srgbClr val="E3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308860" y="4321600"/>
            <a:ext cx="3408425" cy="60000"/>
          </a:xfrm>
          <a:prstGeom prst="roundRect">
            <a:avLst>
              <a:gd name="adj" fmla="val 88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08860" y="4621600"/>
            <a:ext cx="7574279" cy="220000"/>
          </a:xfrm>
          <a:prstGeom prst="rect">
            <a:avLst/>
          </a:prstGeom>
          <a:noFill/>
        </p:spPr>
        <p:txBody>
          <a:bodyPr wrap="square" anchor="t">
            <a:spAutoFit/>
          </a:bodyPr>
          <a:lstStyle/>
          <a:p>
            <a:pPr algn="l"/>
            <a:r>
              <a:rPr sz="1100" b="0" i="0">
                <a:solidFill>
                  <a:srgbClr val="1E3A5F"/>
                </a:solidFill>
                <a:latin typeface="Inter"/>
              </a:rPr>
              <a:t>Phase 4: Deployment  (15%)</a:t>
            </a:r>
          </a:p>
        </p:txBody>
      </p:sp>
      <p:sp>
        <p:nvSpPr>
          <p:cNvPr id="23" name="Rounded Rectangle 22"/>
          <p:cNvSpPr/>
          <p:nvPr/>
        </p:nvSpPr>
        <p:spPr>
          <a:xfrm>
            <a:off x="2308860" y="4871600"/>
            <a:ext cx="7574279" cy="60000"/>
          </a:xfrm>
          <a:prstGeom prst="roundRect">
            <a:avLst>
              <a:gd name="adj" fmla="val 396"/>
            </a:avLst>
          </a:prstGeom>
          <a:solidFill>
            <a:srgbClr val="E3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308860" y="4871600"/>
            <a:ext cx="1136141" cy="60000"/>
          </a:xfrm>
          <a:prstGeom prst="roundRect">
            <a:avLst>
              <a:gd name="adj" fmla="val 2640"/>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685800" y="6150800"/>
            <a:ext cx="1082040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85800" y="6210800"/>
            <a:ext cx="10820400" cy="250000"/>
          </a:xfrm>
          <a:prstGeom prst="rect">
            <a:avLst/>
          </a:prstGeom>
          <a:noFill/>
        </p:spPr>
        <p:txBody>
          <a:bodyPr wrap="square" anchor="t">
            <a:spAutoFit/>
          </a:bodyPr>
          <a:lstStyle/>
          <a:p>
            <a:pPr algn="ctr"/>
            <a:r>
              <a:rPr sz="1200" b="0" i="1">
                <a:solidFill>
                  <a:srgbClr val="4A5568"/>
                </a:solidFill>
                <a:latin typeface="Inter"/>
              </a:rPr>
              <a:t>Figure 1: Key Performance Indicators</a:t>
            </a:r>
          </a:p>
        </p:txBody>
      </p:sp>
      <p:sp>
        <p:nvSpPr>
          <p:cNvPr id="27" name="Rectangle 26"/>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29" name="TextBox 28"/>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Key Capabilities</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2426360" y="1671600"/>
            <a:ext cx="300000" cy="300000"/>
          </a:xfrm>
          <a:prstGeom prst="ellipse">
            <a:avLst/>
          </a:prstGeom>
          <a:solidFill>
            <a:srgbClr val="2563EB"/>
          </a:solidFill>
          <a:ln w="12700">
            <a:solidFill>
              <a:srgbClr val="1D4F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26360" y="1671600"/>
            <a:ext cx="300000" cy="300000"/>
          </a:xfrm>
          <a:prstGeom prst="rect">
            <a:avLst/>
          </a:prstGeom>
          <a:noFill/>
        </p:spPr>
        <p:txBody>
          <a:bodyPr wrap="square" anchor="ctr">
            <a:spAutoFit/>
          </a:bodyPr>
          <a:lstStyle/>
          <a:p>
            <a:pPr algn="ctr"/>
            <a:r>
              <a:rPr sz="1800" b="1" i="0">
                <a:solidFill>
                  <a:srgbClr val="FFFFFF"/>
                </a:solidFill>
                <a:latin typeface="Inter"/>
              </a:rPr>
              <a:t>1</a:t>
            </a:r>
          </a:p>
        </p:txBody>
      </p:sp>
      <p:sp>
        <p:nvSpPr>
          <p:cNvPr id="7" name="TextBox 6"/>
          <p:cNvSpPr txBox="1"/>
          <p:nvPr/>
        </p:nvSpPr>
        <p:spPr>
          <a:xfrm>
            <a:off x="891540" y="2051600"/>
            <a:ext cx="3369640" cy="280000"/>
          </a:xfrm>
          <a:prstGeom prst="rect">
            <a:avLst/>
          </a:prstGeom>
          <a:noFill/>
        </p:spPr>
        <p:txBody>
          <a:bodyPr wrap="square" anchor="t">
            <a:spAutoFit/>
          </a:bodyPr>
          <a:lstStyle/>
          <a:p>
            <a:pPr algn="ctr"/>
            <a:r>
              <a:rPr sz="1300" b="1" i="0">
                <a:solidFill>
                  <a:srgbClr val="1E3A5F"/>
                </a:solidFill>
                <a:latin typeface="Inter"/>
              </a:rPr>
              <a:t>Analytics</a:t>
            </a:r>
          </a:p>
        </p:txBody>
      </p:sp>
      <p:cxnSp>
        <p:nvCxnSpPr>
          <p:cNvPr id="8" name="Connector 7"/>
          <p:cNvCxnSpPr/>
          <p:nvPr/>
        </p:nvCxnSpPr>
        <p:spPr>
          <a:xfrm>
            <a:off x="951540" y="2371600"/>
            <a:ext cx="3249640" cy="0"/>
          </a:xfrm>
          <a:prstGeom prst="line">
            <a:avLst/>
          </a:prstGeom>
          <a:ln w="6350">
            <a:solidFill>
              <a:srgbClr val="D1D4D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31540" y="2431600"/>
            <a:ext cx="3289640" cy="1344600"/>
          </a:xfrm>
          <a:prstGeom prst="rect">
            <a:avLst/>
          </a:prstGeom>
          <a:noFill/>
        </p:spPr>
        <p:txBody>
          <a:bodyPr wrap="square" anchor="t">
            <a:spAutoFit/>
          </a:bodyPr>
          <a:lstStyle/>
          <a:p>
            <a:pPr algn="ctr"/>
            <a:r>
              <a:rPr sz="1000" b="0" i="1">
                <a:solidFill>
                  <a:srgbClr val="4A5568"/>
                </a:solidFill>
                <a:latin typeface="Inter"/>
              </a:rPr>
              <a:t>Real-time data insights and reporting</a:t>
            </a:r>
          </a:p>
        </p:txBody>
      </p:sp>
      <p:sp>
        <p:nvSpPr>
          <p:cNvPr id="10" name="Oval 9"/>
          <p:cNvSpPr/>
          <p:nvPr/>
        </p:nvSpPr>
        <p:spPr>
          <a:xfrm>
            <a:off x="5946000" y="1671600"/>
            <a:ext cx="300000" cy="300000"/>
          </a:xfrm>
          <a:prstGeom prst="ellipse">
            <a:avLst/>
          </a:prstGeom>
          <a:solidFill>
            <a:srgbClr val="E85D04"/>
          </a:solidFill>
          <a:ln w="12700">
            <a:solidFill>
              <a:srgbClr val="B94A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6000" y="1671600"/>
            <a:ext cx="300000" cy="300000"/>
          </a:xfrm>
          <a:prstGeom prst="rect">
            <a:avLst/>
          </a:prstGeom>
          <a:noFill/>
        </p:spPr>
        <p:txBody>
          <a:bodyPr wrap="square" anchor="ctr">
            <a:spAutoFit/>
          </a:bodyPr>
          <a:lstStyle/>
          <a:p>
            <a:pPr algn="ctr"/>
            <a:r>
              <a:rPr sz="1800" b="1" i="0">
                <a:solidFill>
                  <a:srgbClr val="FFFFFF"/>
                </a:solidFill>
                <a:latin typeface="Inter"/>
              </a:rPr>
              <a:t>2</a:t>
            </a:r>
          </a:p>
        </p:txBody>
      </p:sp>
      <p:sp>
        <p:nvSpPr>
          <p:cNvPr id="12" name="TextBox 11"/>
          <p:cNvSpPr txBox="1"/>
          <p:nvPr/>
        </p:nvSpPr>
        <p:spPr>
          <a:xfrm>
            <a:off x="4411180" y="2051600"/>
            <a:ext cx="3369640" cy="280000"/>
          </a:xfrm>
          <a:prstGeom prst="rect">
            <a:avLst/>
          </a:prstGeom>
          <a:noFill/>
        </p:spPr>
        <p:txBody>
          <a:bodyPr wrap="square" anchor="t">
            <a:spAutoFit/>
          </a:bodyPr>
          <a:lstStyle/>
          <a:p>
            <a:pPr algn="ctr"/>
            <a:r>
              <a:rPr sz="1300" b="1" i="0">
                <a:solidFill>
                  <a:srgbClr val="1E3A5F"/>
                </a:solidFill>
                <a:latin typeface="Inter"/>
              </a:rPr>
              <a:t>Security</a:t>
            </a:r>
          </a:p>
        </p:txBody>
      </p:sp>
      <p:cxnSp>
        <p:nvCxnSpPr>
          <p:cNvPr id="13" name="Connector 12"/>
          <p:cNvCxnSpPr/>
          <p:nvPr/>
        </p:nvCxnSpPr>
        <p:spPr>
          <a:xfrm>
            <a:off x="4471180" y="2371600"/>
            <a:ext cx="3249640" cy="0"/>
          </a:xfrm>
          <a:prstGeom prst="line">
            <a:avLst/>
          </a:prstGeom>
          <a:ln w="6350">
            <a:solidFill>
              <a:srgbClr val="D1D4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51180" y="2431600"/>
            <a:ext cx="3289640" cy="1344600"/>
          </a:xfrm>
          <a:prstGeom prst="rect">
            <a:avLst/>
          </a:prstGeom>
          <a:noFill/>
        </p:spPr>
        <p:txBody>
          <a:bodyPr wrap="square" anchor="t">
            <a:spAutoFit/>
          </a:bodyPr>
          <a:lstStyle/>
          <a:p>
            <a:pPr algn="ctr"/>
            <a:r>
              <a:rPr sz="1000" b="0" i="1">
                <a:solidFill>
                  <a:srgbClr val="4A5568"/>
                </a:solidFill>
                <a:latin typeface="Inter"/>
              </a:rPr>
              <a:t>Enterprise-grade protection</a:t>
            </a:r>
          </a:p>
        </p:txBody>
      </p:sp>
      <p:sp>
        <p:nvSpPr>
          <p:cNvPr id="15" name="Oval 14"/>
          <p:cNvSpPr/>
          <p:nvPr/>
        </p:nvSpPr>
        <p:spPr>
          <a:xfrm>
            <a:off x="9465640" y="1671600"/>
            <a:ext cx="300000" cy="300000"/>
          </a:xfrm>
          <a:prstGeom prst="ellipse">
            <a:avLst/>
          </a:prstGeom>
          <a:solidFill>
            <a:srgbClr val="2D6A4F"/>
          </a:solidFill>
          <a:ln w="12700">
            <a:solidFill>
              <a:srgbClr val="2454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65640" y="1671600"/>
            <a:ext cx="300000" cy="300000"/>
          </a:xfrm>
          <a:prstGeom prst="rect">
            <a:avLst/>
          </a:prstGeom>
          <a:noFill/>
        </p:spPr>
        <p:txBody>
          <a:bodyPr wrap="square" anchor="ctr">
            <a:spAutoFit/>
          </a:bodyPr>
          <a:lstStyle/>
          <a:p>
            <a:pPr algn="ctr"/>
            <a:r>
              <a:rPr sz="1800" b="1" i="0">
                <a:solidFill>
                  <a:srgbClr val="FFFFFF"/>
                </a:solidFill>
                <a:latin typeface="Inter"/>
              </a:rPr>
              <a:t>3</a:t>
            </a:r>
          </a:p>
        </p:txBody>
      </p:sp>
      <p:sp>
        <p:nvSpPr>
          <p:cNvPr id="17" name="TextBox 16"/>
          <p:cNvSpPr txBox="1"/>
          <p:nvPr/>
        </p:nvSpPr>
        <p:spPr>
          <a:xfrm>
            <a:off x="7930820" y="2051600"/>
            <a:ext cx="3369640" cy="280000"/>
          </a:xfrm>
          <a:prstGeom prst="rect">
            <a:avLst/>
          </a:prstGeom>
          <a:noFill/>
        </p:spPr>
        <p:txBody>
          <a:bodyPr wrap="square" anchor="t">
            <a:spAutoFit/>
          </a:bodyPr>
          <a:lstStyle/>
          <a:p>
            <a:pPr algn="ctr"/>
            <a:r>
              <a:rPr sz="1300" b="1" i="0">
                <a:solidFill>
                  <a:srgbClr val="1E3A5F"/>
                </a:solidFill>
                <a:latin typeface="Inter"/>
              </a:rPr>
              <a:t>Global Reach</a:t>
            </a:r>
          </a:p>
        </p:txBody>
      </p:sp>
      <p:cxnSp>
        <p:nvCxnSpPr>
          <p:cNvPr id="18" name="Connector 17"/>
          <p:cNvCxnSpPr/>
          <p:nvPr/>
        </p:nvCxnSpPr>
        <p:spPr>
          <a:xfrm>
            <a:off x="7990820" y="2371600"/>
            <a:ext cx="3249640" cy="0"/>
          </a:xfrm>
          <a:prstGeom prst="line">
            <a:avLst/>
          </a:prstGeom>
          <a:ln w="6350">
            <a:solidFill>
              <a:srgbClr val="D1D4D9"/>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970820" y="2431600"/>
            <a:ext cx="3289640" cy="1344600"/>
          </a:xfrm>
          <a:prstGeom prst="rect">
            <a:avLst/>
          </a:prstGeom>
          <a:noFill/>
        </p:spPr>
        <p:txBody>
          <a:bodyPr wrap="square" anchor="t">
            <a:spAutoFit/>
          </a:bodyPr>
          <a:lstStyle/>
          <a:p>
            <a:pPr algn="ctr"/>
            <a:r>
              <a:rPr sz="1000" b="0" i="1">
                <a:solidFill>
                  <a:srgbClr val="4A5568"/>
                </a:solidFill>
                <a:latin typeface="Inter"/>
              </a:rPr>
              <a:t>Operations in 40+ countries</a:t>
            </a:r>
          </a:p>
        </p:txBody>
      </p:sp>
      <p:sp>
        <p:nvSpPr>
          <p:cNvPr id="20" name="Oval 19"/>
          <p:cNvSpPr/>
          <p:nvPr/>
        </p:nvSpPr>
        <p:spPr>
          <a:xfrm>
            <a:off x="2426360" y="3986200"/>
            <a:ext cx="300000" cy="300000"/>
          </a:xfrm>
          <a:prstGeom prst="ellipse">
            <a:avLst/>
          </a:prstGeom>
          <a:solidFill>
            <a:srgbClr val="7C5CBF"/>
          </a:solidFill>
          <a:ln w="12700">
            <a:solidFill>
              <a:srgbClr val="6349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26360" y="3986200"/>
            <a:ext cx="300000" cy="300000"/>
          </a:xfrm>
          <a:prstGeom prst="rect">
            <a:avLst/>
          </a:prstGeom>
          <a:noFill/>
        </p:spPr>
        <p:txBody>
          <a:bodyPr wrap="square" anchor="ctr">
            <a:spAutoFit/>
          </a:bodyPr>
          <a:lstStyle/>
          <a:p>
            <a:pPr algn="ctr"/>
            <a:r>
              <a:rPr sz="1800" b="1" i="0">
                <a:solidFill>
                  <a:srgbClr val="FFFFFF"/>
                </a:solidFill>
                <a:latin typeface="Inter"/>
              </a:rPr>
              <a:t>4</a:t>
            </a:r>
          </a:p>
        </p:txBody>
      </p:sp>
      <p:sp>
        <p:nvSpPr>
          <p:cNvPr id="22" name="TextBox 21"/>
          <p:cNvSpPr txBox="1"/>
          <p:nvPr/>
        </p:nvSpPr>
        <p:spPr>
          <a:xfrm>
            <a:off x="891540" y="4366200"/>
            <a:ext cx="3369640" cy="280000"/>
          </a:xfrm>
          <a:prstGeom prst="rect">
            <a:avLst/>
          </a:prstGeom>
          <a:noFill/>
        </p:spPr>
        <p:txBody>
          <a:bodyPr wrap="square" anchor="t">
            <a:spAutoFit/>
          </a:bodyPr>
          <a:lstStyle/>
          <a:p>
            <a:pPr algn="ctr"/>
            <a:r>
              <a:rPr sz="1300" b="1" i="0">
                <a:solidFill>
                  <a:srgbClr val="1E3A5F"/>
                </a:solidFill>
                <a:latin typeface="Inter"/>
              </a:rPr>
              <a:t>Performance</a:t>
            </a:r>
          </a:p>
        </p:txBody>
      </p:sp>
      <p:cxnSp>
        <p:nvCxnSpPr>
          <p:cNvPr id="23" name="Connector 22"/>
          <p:cNvCxnSpPr/>
          <p:nvPr/>
        </p:nvCxnSpPr>
        <p:spPr>
          <a:xfrm>
            <a:off x="951540" y="4686200"/>
            <a:ext cx="3249640" cy="0"/>
          </a:xfrm>
          <a:prstGeom prst="line">
            <a:avLst/>
          </a:prstGeom>
          <a:ln w="6350">
            <a:solidFill>
              <a:srgbClr val="D1D4D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31540" y="4746200"/>
            <a:ext cx="3289640" cy="1344600"/>
          </a:xfrm>
          <a:prstGeom prst="rect">
            <a:avLst/>
          </a:prstGeom>
          <a:noFill/>
        </p:spPr>
        <p:txBody>
          <a:bodyPr wrap="square" anchor="t">
            <a:spAutoFit/>
          </a:bodyPr>
          <a:lstStyle/>
          <a:p>
            <a:pPr algn="ctr"/>
            <a:r>
              <a:rPr sz="1000" b="0" i="1">
                <a:solidFill>
                  <a:srgbClr val="4A5568"/>
                </a:solidFill>
                <a:latin typeface="Inter"/>
              </a:rPr>
              <a:t>Sub-50ms response times</a:t>
            </a:r>
          </a:p>
        </p:txBody>
      </p:sp>
      <p:sp>
        <p:nvSpPr>
          <p:cNvPr id="25" name="Oval 24"/>
          <p:cNvSpPr/>
          <p:nvPr/>
        </p:nvSpPr>
        <p:spPr>
          <a:xfrm>
            <a:off x="5946000" y="3986200"/>
            <a:ext cx="300000" cy="300000"/>
          </a:xfrm>
          <a:prstGeom prst="ellipse">
            <a:avLst/>
          </a:prstGeom>
          <a:solidFill>
            <a:srgbClr val="C27D38"/>
          </a:solidFill>
          <a:ln w="12700">
            <a:solidFill>
              <a:srgbClr val="9B64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6000" y="3986200"/>
            <a:ext cx="300000" cy="300000"/>
          </a:xfrm>
          <a:prstGeom prst="rect">
            <a:avLst/>
          </a:prstGeom>
          <a:noFill/>
        </p:spPr>
        <p:txBody>
          <a:bodyPr wrap="square" anchor="ctr">
            <a:spAutoFit/>
          </a:bodyPr>
          <a:lstStyle/>
          <a:p>
            <a:pPr algn="ctr"/>
            <a:r>
              <a:rPr sz="1800" b="1" i="0">
                <a:solidFill>
                  <a:srgbClr val="FFFFFF"/>
                </a:solidFill>
                <a:latin typeface="Inter"/>
              </a:rPr>
              <a:t>5</a:t>
            </a:r>
          </a:p>
        </p:txBody>
      </p:sp>
      <p:sp>
        <p:nvSpPr>
          <p:cNvPr id="27" name="TextBox 26"/>
          <p:cNvSpPr txBox="1"/>
          <p:nvPr/>
        </p:nvSpPr>
        <p:spPr>
          <a:xfrm>
            <a:off x="4411180" y="4366200"/>
            <a:ext cx="3369640" cy="280000"/>
          </a:xfrm>
          <a:prstGeom prst="rect">
            <a:avLst/>
          </a:prstGeom>
          <a:noFill/>
        </p:spPr>
        <p:txBody>
          <a:bodyPr wrap="square" anchor="t">
            <a:spAutoFit/>
          </a:bodyPr>
          <a:lstStyle/>
          <a:p>
            <a:pPr algn="ctr"/>
            <a:r>
              <a:rPr sz="1300" b="1" i="0">
                <a:solidFill>
                  <a:srgbClr val="1E3A5F"/>
                </a:solidFill>
                <a:latin typeface="Inter"/>
              </a:rPr>
              <a:t>Team</a:t>
            </a:r>
          </a:p>
        </p:txBody>
      </p:sp>
      <p:cxnSp>
        <p:nvCxnSpPr>
          <p:cNvPr id="28" name="Connector 27"/>
          <p:cNvCxnSpPr/>
          <p:nvPr/>
        </p:nvCxnSpPr>
        <p:spPr>
          <a:xfrm>
            <a:off x="4471180" y="4686200"/>
            <a:ext cx="3249640" cy="0"/>
          </a:xfrm>
          <a:prstGeom prst="line">
            <a:avLst/>
          </a:prstGeom>
          <a:ln w="6350">
            <a:solidFill>
              <a:srgbClr val="D1D4D9"/>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451180" y="4746200"/>
            <a:ext cx="3289640" cy="1344600"/>
          </a:xfrm>
          <a:prstGeom prst="rect">
            <a:avLst/>
          </a:prstGeom>
          <a:noFill/>
        </p:spPr>
        <p:txBody>
          <a:bodyPr wrap="square" anchor="t">
            <a:spAutoFit/>
          </a:bodyPr>
          <a:lstStyle/>
          <a:p>
            <a:pPr algn="ctr"/>
            <a:r>
              <a:rPr sz="1000" b="0" i="1">
                <a:solidFill>
                  <a:srgbClr val="4A5568"/>
                </a:solidFill>
                <a:latin typeface="Inter"/>
              </a:rPr>
              <a:t>2,500+ professionals worldwide</a:t>
            </a:r>
          </a:p>
        </p:txBody>
      </p:sp>
      <p:sp>
        <p:nvSpPr>
          <p:cNvPr id="30" name="Oval 29"/>
          <p:cNvSpPr/>
          <p:nvPr/>
        </p:nvSpPr>
        <p:spPr>
          <a:xfrm>
            <a:off x="9465640" y="3986200"/>
            <a:ext cx="300000" cy="300000"/>
          </a:xfrm>
          <a:prstGeom prst="ellipse">
            <a:avLst/>
          </a:prstGeom>
          <a:solidFill>
            <a:srgbClr val="DC2626"/>
          </a:solidFill>
          <a:ln w="12700">
            <a:solidFill>
              <a:srgbClr val="B0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65640" y="3986200"/>
            <a:ext cx="300000" cy="300000"/>
          </a:xfrm>
          <a:prstGeom prst="rect">
            <a:avLst/>
          </a:prstGeom>
          <a:noFill/>
        </p:spPr>
        <p:txBody>
          <a:bodyPr wrap="square" anchor="ctr">
            <a:spAutoFit/>
          </a:bodyPr>
          <a:lstStyle/>
          <a:p>
            <a:pPr algn="ctr"/>
            <a:r>
              <a:rPr sz="1800" b="1" i="0">
                <a:solidFill>
                  <a:srgbClr val="FFFFFF"/>
                </a:solidFill>
                <a:latin typeface="Inter"/>
              </a:rPr>
              <a:t>6</a:t>
            </a:r>
          </a:p>
        </p:txBody>
      </p:sp>
      <p:sp>
        <p:nvSpPr>
          <p:cNvPr id="32" name="TextBox 31"/>
          <p:cNvSpPr txBox="1"/>
          <p:nvPr/>
        </p:nvSpPr>
        <p:spPr>
          <a:xfrm>
            <a:off x="7930820" y="4366200"/>
            <a:ext cx="3369640" cy="280000"/>
          </a:xfrm>
          <a:prstGeom prst="rect">
            <a:avLst/>
          </a:prstGeom>
          <a:noFill/>
        </p:spPr>
        <p:txBody>
          <a:bodyPr wrap="square" anchor="t">
            <a:spAutoFit/>
          </a:bodyPr>
          <a:lstStyle/>
          <a:p>
            <a:pPr algn="ctr"/>
            <a:r>
              <a:rPr sz="1300" b="1" i="0">
                <a:solidFill>
                  <a:srgbClr val="1E3A5F"/>
                </a:solidFill>
                <a:latin typeface="Inter"/>
              </a:rPr>
              <a:t>Awards</a:t>
            </a:r>
          </a:p>
        </p:txBody>
      </p:sp>
      <p:cxnSp>
        <p:nvCxnSpPr>
          <p:cNvPr id="33" name="Connector 32"/>
          <p:cNvCxnSpPr/>
          <p:nvPr/>
        </p:nvCxnSpPr>
        <p:spPr>
          <a:xfrm>
            <a:off x="7990820" y="4686200"/>
            <a:ext cx="3249640" cy="0"/>
          </a:xfrm>
          <a:prstGeom prst="line">
            <a:avLst/>
          </a:prstGeom>
          <a:ln w="6350">
            <a:solidFill>
              <a:srgbClr val="D1D4D9"/>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970820" y="4746200"/>
            <a:ext cx="3289640" cy="1344600"/>
          </a:xfrm>
          <a:prstGeom prst="rect">
            <a:avLst/>
          </a:prstGeom>
          <a:noFill/>
        </p:spPr>
        <p:txBody>
          <a:bodyPr wrap="square" anchor="t">
            <a:spAutoFit/>
          </a:bodyPr>
          <a:lstStyle/>
          <a:p>
            <a:pPr algn="ctr"/>
            <a:r>
              <a:rPr sz="1000" b="0" i="1">
                <a:solidFill>
                  <a:srgbClr val="4A5568"/>
                </a:solidFill>
                <a:latin typeface="Inter"/>
              </a:rPr>
              <a:t>Industry recognition and accolades</a:t>
            </a:r>
          </a:p>
        </p:txBody>
      </p:sp>
      <p:sp>
        <p:nvSpPr>
          <p:cNvPr id="35" name="TextBox 34"/>
          <p:cNvSpPr txBox="1"/>
          <p:nvPr/>
        </p:nvSpPr>
        <p:spPr>
          <a:xfrm>
            <a:off x="891540" y="6050800"/>
            <a:ext cx="10408920" cy="250000"/>
          </a:xfrm>
          <a:prstGeom prst="rect">
            <a:avLst/>
          </a:prstGeom>
          <a:noFill/>
        </p:spPr>
        <p:txBody>
          <a:bodyPr wrap="square" anchor="t">
            <a:spAutoFit/>
          </a:bodyPr>
          <a:lstStyle/>
          <a:p>
            <a:pPr algn="l"/>
            <a:r>
              <a:rPr sz="900" b="0" i="1">
                <a:solidFill>
                  <a:srgbClr val="4A5568"/>
                </a:solidFill>
                <a:latin typeface="Inter"/>
              </a:rPr>
              <a:t>Fig. 5. Key Capabilities</a:t>
            </a:r>
          </a:p>
        </p:txBody>
      </p:sp>
      <p:sp>
        <p:nvSpPr>
          <p:cNvPr id="36" name="Rectangle 35"/>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38" name="TextBox 37"/>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1540" y="274320"/>
            <a:ext cx="10408920" cy="600000"/>
          </a:xfrm>
          <a:prstGeom prst="rect">
            <a:avLst/>
          </a:prstGeom>
          <a:noFill/>
        </p:spPr>
        <p:txBody>
          <a:bodyPr wrap="square" anchor="t">
            <a:spAutoFit/>
          </a:bodyPr>
          <a:lstStyle/>
          <a:p>
            <a:pPr algn="l"/>
            <a:r>
              <a:rPr sz="2600" b="1" i="0">
                <a:solidFill>
                  <a:srgbClr val="1E3A5F"/>
                </a:solidFill>
                <a:latin typeface="Inter"/>
              </a:rPr>
              <a:t>Recommendations</a:t>
            </a:r>
          </a:p>
        </p:txBody>
      </p:sp>
      <p:cxnSp>
        <p:nvCxnSpPr>
          <p:cNvPr id="4" name="Connector 3"/>
          <p:cNvCxnSpPr/>
          <p:nvPr/>
        </p:nvCxnSpPr>
        <p:spPr>
          <a:xfrm>
            <a:off x="891540" y="880000"/>
            <a:ext cx="400000" cy="0"/>
          </a:xfrm>
          <a:prstGeom prst="line">
            <a:avLst/>
          </a:prstGeom>
          <a:ln w="38100">
            <a:solidFill>
              <a:srgbClr val="9B233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85800" y="1571600"/>
            <a:ext cx="1082040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1671600"/>
            <a:ext cx="300000" cy="350000"/>
          </a:xfrm>
          <a:prstGeom prst="rect">
            <a:avLst/>
          </a:prstGeom>
          <a:noFill/>
        </p:spPr>
        <p:txBody>
          <a:bodyPr wrap="square" anchor="t">
            <a:spAutoFit/>
          </a:bodyPr>
          <a:lstStyle/>
          <a:p>
            <a:pPr algn="l"/>
            <a:r>
              <a:rPr sz="1800" b="1" i="0">
                <a:solidFill>
                  <a:srgbClr val="1E3A5F"/>
                </a:solidFill>
                <a:latin typeface="Inter"/>
              </a:rPr>
              <a:t>1.</a:t>
            </a:r>
          </a:p>
        </p:txBody>
      </p:sp>
      <p:sp>
        <p:nvSpPr>
          <p:cNvPr id="7" name="TextBox 6"/>
          <p:cNvSpPr txBox="1"/>
          <p:nvPr/>
        </p:nvSpPr>
        <p:spPr>
          <a:xfrm>
            <a:off x="1035800" y="1671600"/>
            <a:ext cx="7820400" cy="350000"/>
          </a:xfrm>
          <a:prstGeom prst="rect">
            <a:avLst/>
          </a:prstGeom>
          <a:noFill/>
        </p:spPr>
        <p:txBody>
          <a:bodyPr wrap="square" anchor="t">
            <a:spAutoFit/>
          </a:bodyPr>
          <a:lstStyle/>
          <a:p>
            <a:pPr algn="l"/>
            <a:r>
              <a:rPr sz="1800" b="1" i="0">
                <a:solidFill>
                  <a:srgbClr val="1E3A5F"/>
                </a:solidFill>
                <a:latin typeface="Inter"/>
              </a:rPr>
              <a:t>Finalize Strategy</a:t>
            </a:r>
          </a:p>
        </p:txBody>
      </p:sp>
      <p:sp>
        <p:nvSpPr>
          <p:cNvPr id="8" name="TextBox 7"/>
          <p:cNvSpPr txBox="1"/>
          <p:nvPr/>
        </p:nvSpPr>
        <p:spPr>
          <a:xfrm>
            <a:off x="1035800" y="1991600"/>
            <a:ext cx="7820400" cy="350000"/>
          </a:xfrm>
          <a:prstGeom prst="rect">
            <a:avLst/>
          </a:prstGeom>
          <a:noFill/>
        </p:spPr>
        <p:txBody>
          <a:bodyPr wrap="square" anchor="t">
            <a:spAutoFit/>
          </a:bodyPr>
          <a:lstStyle/>
          <a:p>
            <a:pPr algn="l"/>
            <a:r>
              <a:rPr sz="1200" b="0" i="0">
                <a:solidFill>
                  <a:srgbClr val="4A5568"/>
                </a:solidFill>
                <a:latin typeface="Inter"/>
              </a:rPr>
              <a:t>Complete strategic plan review and board approval</a:t>
            </a:r>
          </a:p>
        </p:txBody>
      </p:sp>
      <p:sp>
        <p:nvSpPr>
          <p:cNvPr id="9" name="TextBox 8"/>
          <p:cNvSpPr txBox="1"/>
          <p:nvPr/>
        </p:nvSpPr>
        <p:spPr>
          <a:xfrm>
            <a:off x="9006200" y="1671600"/>
            <a:ext cx="2500000" cy="300000"/>
          </a:xfrm>
          <a:prstGeom prst="rect">
            <a:avLst/>
          </a:prstGeom>
          <a:noFill/>
        </p:spPr>
        <p:txBody>
          <a:bodyPr wrap="square" anchor="t">
            <a:spAutoFit/>
          </a:bodyPr>
          <a:lstStyle/>
          <a:p>
            <a:pPr algn="r"/>
            <a:r>
              <a:rPr sz="1100" b="0" i="0">
                <a:solidFill>
                  <a:srgbClr val="1E3A5F"/>
                </a:solidFill>
                <a:latin typeface="Inter"/>
              </a:rPr>
              <a:t>Executive Team</a:t>
            </a:r>
          </a:p>
        </p:txBody>
      </p:sp>
      <p:sp>
        <p:nvSpPr>
          <p:cNvPr id="10" name="TextBox 9"/>
          <p:cNvSpPr txBox="1"/>
          <p:nvPr/>
        </p:nvSpPr>
        <p:spPr>
          <a:xfrm>
            <a:off x="9006200" y="1991600"/>
            <a:ext cx="2500000" cy="300000"/>
          </a:xfrm>
          <a:prstGeom prst="rect">
            <a:avLst/>
          </a:prstGeom>
          <a:noFill/>
        </p:spPr>
        <p:txBody>
          <a:bodyPr wrap="square" anchor="t">
            <a:spAutoFit/>
          </a:bodyPr>
          <a:lstStyle/>
          <a:p>
            <a:pPr algn="r"/>
            <a:r>
              <a:rPr sz="1000" b="0" i="0">
                <a:solidFill>
                  <a:srgbClr val="4A5568"/>
                </a:solidFill>
                <a:latin typeface="Inter"/>
              </a:rPr>
              <a:t>Mar 2026</a:t>
            </a:r>
          </a:p>
        </p:txBody>
      </p:sp>
      <p:cxnSp>
        <p:nvCxnSpPr>
          <p:cNvPr id="11" name="Connector 10"/>
          <p:cNvCxnSpPr/>
          <p:nvPr/>
        </p:nvCxnSpPr>
        <p:spPr>
          <a:xfrm>
            <a:off x="685800" y="2521600"/>
            <a:ext cx="1082040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621600"/>
            <a:ext cx="300000" cy="350000"/>
          </a:xfrm>
          <a:prstGeom prst="rect">
            <a:avLst/>
          </a:prstGeom>
          <a:noFill/>
        </p:spPr>
        <p:txBody>
          <a:bodyPr wrap="square" anchor="t">
            <a:spAutoFit/>
          </a:bodyPr>
          <a:lstStyle/>
          <a:p>
            <a:pPr algn="l"/>
            <a:r>
              <a:rPr sz="1800" b="1" i="0">
                <a:solidFill>
                  <a:srgbClr val="1E3A5F"/>
                </a:solidFill>
                <a:latin typeface="Inter"/>
              </a:rPr>
              <a:t>2.</a:t>
            </a:r>
          </a:p>
        </p:txBody>
      </p:sp>
      <p:sp>
        <p:nvSpPr>
          <p:cNvPr id="13" name="TextBox 12"/>
          <p:cNvSpPr txBox="1"/>
          <p:nvPr/>
        </p:nvSpPr>
        <p:spPr>
          <a:xfrm>
            <a:off x="1035800" y="2621600"/>
            <a:ext cx="7820400" cy="350000"/>
          </a:xfrm>
          <a:prstGeom prst="rect">
            <a:avLst/>
          </a:prstGeom>
          <a:noFill/>
        </p:spPr>
        <p:txBody>
          <a:bodyPr wrap="square" anchor="t">
            <a:spAutoFit/>
          </a:bodyPr>
          <a:lstStyle/>
          <a:p>
            <a:pPr algn="l"/>
            <a:r>
              <a:rPr sz="1800" b="1" i="0">
                <a:solidFill>
                  <a:srgbClr val="1E3A5F"/>
                </a:solidFill>
                <a:latin typeface="Inter"/>
              </a:rPr>
              <a:t>Launch Phase 2</a:t>
            </a:r>
          </a:p>
        </p:txBody>
      </p:sp>
      <p:sp>
        <p:nvSpPr>
          <p:cNvPr id="14" name="TextBox 13"/>
          <p:cNvSpPr txBox="1"/>
          <p:nvPr/>
        </p:nvSpPr>
        <p:spPr>
          <a:xfrm>
            <a:off x="1035800" y="2941600"/>
            <a:ext cx="7820400" cy="350000"/>
          </a:xfrm>
          <a:prstGeom prst="rect">
            <a:avLst/>
          </a:prstGeom>
          <a:noFill/>
        </p:spPr>
        <p:txBody>
          <a:bodyPr wrap="square" anchor="t">
            <a:spAutoFit/>
          </a:bodyPr>
          <a:lstStyle/>
          <a:p>
            <a:pPr algn="l"/>
            <a:r>
              <a:rPr sz="1200" b="0" i="0">
                <a:solidFill>
                  <a:srgbClr val="4A5568"/>
                </a:solidFill>
                <a:latin typeface="Inter"/>
              </a:rPr>
              <a:t>Deploy next-gen platform to pilot customers</a:t>
            </a:r>
          </a:p>
        </p:txBody>
      </p:sp>
      <p:sp>
        <p:nvSpPr>
          <p:cNvPr id="15" name="TextBox 14"/>
          <p:cNvSpPr txBox="1"/>
          <p:nvPr/>
        </p:nvSpPr>
        <p:spPr>
          <a:xfrm>
            <a:off x="9006200" y="2621600"/>
            <a:ext cx="2500000" cy="300000"/>
          </a:xfrm>
          <a:prstGeom prst="rect">
            <a:avLst/>
          </a:prstGeom>
          <a:noFill/>
        </p:spPr>
        <p:txBody>
          <a:bodyPr wrap="square" anchor="t">
            <a:spAutoFit/>
          </a:bodyPr>
          <a:lstStyle/>
          <a:p>
            <a:pPr algn="r"/>
            <a:r>
              <a:rPr sz="1100" b="0" i="0">
                <a:solidFill>
                  <a:srgbClr val="1E3A5F"/>
                </a:solidFill>
                <a:latin typeface="Inter"/>
              </a:rPr>
              <a:t>Product &amp; Engineering</a:t>
            </a:r>
          </a:p>
        </p:txBody>
      </p:sp>
      <p:sp>
        <p:nvSpPr>
          <p:cNvPr id="16" name="TextBox 15"/>
          <p:cNvSpPr txBox="1"/>
          <p:nvPr/>
        </p:nvSpPr>
        <p:spPr>
          <a:xfrm>
            <a:off x="9006200" y="2941600"/>
            <a:ext cx="2500000" cy="300000"/>
          </a:xfrm>
          <a:prstGeom prst="rect">
            <a:avLst/>
          </a:prstGeom>
          <a:noFill/>
        </p:spPr>
        <p:txBody>
          <a:bodyPr wrap="square" anchor="t">
            <a:spAutoFit/>
          </a:bodyPr>
          <a:lstStyle/>
          <a:p>
            <a:pPr algn="r"/>
            <a:r>
              <a:rPr sz="1000" b="0" i="0">
                <a:solidFill>
                  <a:srgbClr val="4A5568"/>
                </a:solidFill>
                <a:latin typeface="Inter"/>
              </a:rPr>
              <a:t>Apr 2026</a:t>
            </a:r>
          </a:p>
        </p:txBody>
      </p:sp>
      <p:cxnSp>
        <p:nvCxnSpPr>
          <p:cNvPr id="17" name="Connector 16"/>
          <p:cNvCxnSpPr/>
          <p:nvPr/>
        </p:nvCxnSpPr>
        <p:spPr>
          <a:xfrm>
            <a:off x="685800" y="3471600"/>
            <a:ext cx="1082040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3571600"/>
            <a:ext cx="300000" cy="350000"/>
          </a:xfrm>
          <a:prstGeom prst="rect">
            <a:avLst/>
          </a:prstGeom>
          <a:noFill/>
        </p:spPr>
        <p:txBody>
          <a:bodyPr wrap="square" anchor="t">
            <a:spAutoFit/>
          </a:bodyPr>
          <a:lstStyle/>
          <a:p>
            <a:pPr algn="l"/>
            <a:r>
              <a:rPr sz="1800" b="1" i="0">
                <a:solidFill>
                  <a:srgbClr val="1E3A5F"/>
                </a:solidFill>
                <a:latin typeface="Inter"/>
              </a:rPr>
              <a:t>3.</a:t>
            </a:r>
          </a:p>
        </p:txBody>
      </p:sp>
      <p:sp>
        <p:nvSpPr>
          <p:cNvPr id="19" name="TextBox 18"/>
          <p:cNvSpPr txBox="1"/>
          <p:nvPr/>
        </p:nvSpPr>
        <p:spPr>
          <a:xfrm>
            <a:off x="1035800" y="3571600"/>
            <a:ext cx="7820400" cy="350000"/>
          </a:xfrm>
          <a:prstGeom prst="rect">
            <a:avLst/>
          </a:prstGeom>
          <a:noFill/>
        </p:spPr>
        <p:txBody>
          <a:bodyPr wrap="square" anchor="t">
            <a:spAutoFit/>
          </a:bodyPr>
          <a:lstStyle/>
          <a:p>
            <a:pPr algn="l"/>
            <a:r>
              <a:rPr sz="1800" b="1" i="0">
                <a:solidFill>
                  <a:srgbClr val="1E3A5F"/>
                </a:solidFill>
                <a:latin typeface="Inter"/>
              </a:rPr>
              <a:t>Expand Sales</a:t>
            </a:r>
          </a:p>
        </p:txBody>
      </p:sp>
      <p:sp>
        <p:nvSpPr>
          <p:cNvPr id="20" name="TextBox 19"/>
          <p:cNvSpPr txBox="1"/>
          <p:nvPr/>
        </p:nvSpPr>
        <p:spPr>
          <a:xfrm>
            <a:off x="1035800" y="3891600"/>
            <a:ext cx="7820400" cy="350000"/>
          </a:xfrm>
          <a:prstGeom prst="rect">
            <a:avLst/>
          </a:prstGeom>
          <a:noFill/>
        </p:spPr>
        <p:txBody>
          <a:bodyPr wrap="square" anchor="t">
            <a:spAutoFit/>
          </a:bodyPr>
          <a:lstStyle/>
          <a:p>
            <a:pPr algn="l"/>
            <a:r>
              <a:rPr sz="1200" b="0" i="0">
                <a:solidFill>
                  <a:srgbClr val="4A5568"/>
                </a:solidFill>
                <a:latin typeface="Inter"/>
              </a:rPr>
              <a:t>Hire regional sales directors and activate channels</a:t>
            </a:r>
          </a:p>
        </p:txBody>
      </p:sp>
      <p:sp>
        <p:nvSpPr>
          <p:cNvPr id="21" name="TextBox 20"/>
          <p:cNvSpPr txBox="1"/>
          <p:nvPr/>
        </p:nvSpPr>
        <p:spPr>
          <a:xfrm>
            <a:off x="9006200" y="3571600"/>
            <a:ext cx="2500000" cy="300000"/>
          </a:xfrm>
          <a:prstGeom prst="rect">
            <a:avLst/>
          </a:prstGeom>
          <a:noFill/>
        </p:spPr>
        <p:txBody>
          <a:bodyPr wrap="square" anchor="t">
            <a:spAutoFit/>
          </a:bodyPr>
          <a:lstStyle/>
          <a:p>
            <a:pPr algn="r"/>
            <a:r>
              <a:rPr sz="1100" b="0" i="0">
                <a:solidFill>
                  <a:srgbClr val="1E3A5F"/>
                </a:solidFill>
                <a:latin typeface="Inter"/>
              </a:rPr>
              <a:t>VP Sales</a:t>
            </a:r>
          </a:p>
        </p:txBody>
      </p:sp>
      <p:sp>
        <p:nvSpPr>
          <p:cNvPr id="22" name="TextBox 21"/>
          <p:cNvSpPr txBox="1"/>
          <p:nvPr/>
        </p:nvSpPr>
        <p:spPr>
          <a:xfrm>
            <a:off x="9006200" y="3891600"/>
            <a:ext cx="2500000" cy="300000"/>
          </a:xfrm>
          <a:prstGeom prst="rect">
            <a:avLst/>
          </a:prstGeom>
          <a:noFill/>
        </p:spPr>
        <p:txBody>
          <a:bodyPr wrap="square" anchor="t">
            <a:spAutoFit/>
          </a:bodyPr>
          <a:lstStyle/>
          <a:p>
            <a:pPr algn="r"/>
            <a:r>
              <a:rPr sz="1000" b="0" i="0">
                <a:solidFill>
                  <a:srgbClr val="4A5568"/>
                </a:solidFill>
                <a:latin typeface="Inter"/>
              </a:rPr>
              <a:t>May 2026</a:t>
            </a:r>
          </a:p>
        </p:txBody>
      </p:sp>
      <p:cxnSp>
        <p:nvCxnSpPr>
          <p:cNvPr id="23" name="Connector 22"/>
          <p:cNvCxnSpPr/>
          <p:nvPr/>
        </p:nvCxnSpPr>
        <p:spPr>
          <a:xfrm>
            <a:off x="685800" y="4421600"/>
            <a:ext cx="1082040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85800" y="4521600"/>
            <a:ext cx="300000" cy="350000"/>
          </a:xfrm>
          <a:prstGeom prst="rect">
            <a:avLst/>
          </a:prstGeom>
          <a:noFill/>
        </p:spPr>
        <p:txBody>
          <a:bodyPr wrap="square" anchor="t">
            <a:spAutoFit/>
          </a:bodyPr>
          <a:lstStyle/>
          <a:p>
            <a:pPr algn="l"/>
            <a:r>
              <a:rPr sz="1800" b="1" i="0">
                <a:solidFill>
                  <a:srgbClr val="1E3A5F"/>
                </a:solidFill>
                <a:latin typeface="Inter"/>
              </a:rPr>
              <a:t>4.</a:t>
            </a:r>
          </a:p>
        </p:txBody>
      </p:sp>
      <p:sp>
        <p:nvSpPr>
          <p:cNvPr id="25" name="TextBox 24"/>
          <p:cNvSpPr txBox="1"/>
          <p:nvPr/>
        </p:nvSpPr>
        <p:spPr>
          <a:xfrm>
            <a:off x="1035800" y="4521600"/>
            <a:ext cx="7820400" cy="350000"/>
          </a:xfrm>
          <a:prstGeom prst="rect">
            <a:avLst/>
          </a:prstGeom>
          <a:noFill/>
        </p:spPr>
        <p:txBody>
          <a:bodyPr wrap="square" anchor="t">
            <a:spAutoFit/>
          </a:bodyPr>
          <a:lstStyle/>
          <a:p>
            <a:pPr algn="l"/>
            <a:r>
              <a:rPr sz="1800" b="1" i="0">
                <a:solidFill>
                  <a:srgbClr val="1E3A5F"/>
                </a:solidFill>
                <a:latin typeface="Inter"/>
              </a:rPr>
              <a:t>Review &amp; Iterate</a:t>
            </a:r>
          </a:p>
        </p:txBody>
      </p:sp>
      <p:sp>
        <p:nvSpPr>
          <p:cNvPr id="26" name="TextBox 25"/>
          <p:cNvSpPr txBox="1"/>
          <p:nvPr/>
        </p:nvSpPr>
        <p:spPr>
          <a:xfrm>
            <a:off x="1035800" y="4841600"/>
            <a:ext cx="7820400" cy="350000"/>
          </a:xfrm>
          <a:prstGeom prst="rect">
            <a:avLst/>
          </a:prstGeom>
          <a:noFill/>
        </p:spPr>
        <p:txBody>
          <a:bodyPr wrap="square" anchor="t">
            <a:spAutoFit/>
          </a:bodyPr>
          <a:lstStyle/>
          <a:p>
            <a:pPr algn="l"/>
            <a:r>
              <a:rPr sz="1200" b="0" i="0">
                <a:solidFill>
                  <a:srgbClr val="4A5568"/>
                </a:solidFill>
                <a:latin typeface="Inter"/>
              </a:rPr>
              <a:t>Quarterly business review and strategy refinement</a:t>
            </a:r>
          </a:p>
        </p:txBody>
      </p:sp>
      <p:sp>
        <p:nvSpPr>
          <p:cNvPr id="27" name="TextBox 26"/>
          <p:cNvSpPr txBox="1"/>
          <p:nvPr/>
        </p:nvSpPr>
        <p:spPr>
          <a:xfrm>
            <a:off x="9006200" y="4521600"/>
            <a:ext cx="2500000" cy="300000"/>
          </a:xfrm>
          <a:prstGeom prst="rect">
            <a:avLst/>
          </a:prstGeom>
          <a:noFill/>
        </p:spPr>
        <p:txBody>
          <a:bodyPr wrap="square" anchor="t">
            <a:spAutoFit/>
          </a:bodyPr>
          <a:lstStyle/>
          <a:p>
            <a:pPr algn="r"/>
            <a:r>
              <a:rPr sz="1100" b="0" i="0">
                <a:solidFill>
                  <a:srgbClr val="1E3A5F"/>
                </a:solidFill>
                <a:latin typeface="Inter"/>
              </a:rPr>
              <a:t>All Departments</a:t>
            </a:r>
          </a:p>
        </p:txBody>
      </p:sp>
      <p:sp>
        <p:nvSpPr>
          <p:cNvPr id="28" name="TextBox 27"/>
          <p:cNvSpPr txBox="1"/>
          <p:nvPr/>
        </p:nvSpPr>
        <p:spPr>
          <a:xfrm>
            <a:off x="9006200" y="4841600"/>
            <a:ext cx="2500000" cy="300000"/>
          </a:xfrm>
          <a:prstGeom prst="rect">
            <a:avLst/>
          </a:prstGeom>
          <a:noFill/>
        </p:spPr>
        <p:txBody>
          <a:bodyPr wrap="square" anchor="t">
            <a:spAutoFit/>
          </a:bodyPr>
          <a:lstStyle/>
          <a:p>
            <a:pPr algn="r"/>
            <a:r>
              <a:rPr sz="1000" b="0" i="0">
                <a:solidFill>
                  <a:srgbClr val="4A5568"/>
                </a:solidFill>
                <a:latin typeface="Inter"/>
              </a:rPr>
              <a:t>Jun 2026</a:t>
            </a:r>
          </a:p>
        </p:txBody>
      </p:sp>
      <p:cxnSp>
        <p:nvCxnSpPr>
          <p:cNvPr id="29" name="Connector 28"/>
          <p:cNvCxnSpPr/>
          <p:nvPr/>
        </p:nvCxnSpPr>
        <p:spPr>
          <a:xfrm>
            <a:off x="685800" y="5371600"/>
            <a:ext cx="10820400" cy="0"/>
          </a:xfrm>
          <a:prstGeom prst="line">
            <a:avLst/>
          </a:prstGeom>
          <a:ln w="6350">
            <a:solidFill>
              <a:srgbClr val="C8CCD1"/>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32" name="TextBox 31"/>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3352800" y="1929000"/>
            <a:ext cx="54864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435800" y="2229000"/>
            <a:ext cx="9320400" cy="1200000"/>
          </a:xfrm>
          <a:prstGeom prst="rect">
            <a:avLst/>
          </a:prstGeom>
          <a:noFill/>
        </p:spPr>
        <p:txBody>
          <a:bodyPr wrap="square" anchor="t">
            <a:spAutoFit/>
          </a:bodyPr>
          <a:lstStyle/>
          <a:p>
            <a:pPr algn="ctr"/>
            <a:r>
              <a:rPr sz="3200" b="1" i="0">
                <a:solidFill>
                  <a:srgbClr val="1E3A5F"/>
                </a:solidFill>
                <a:latin typeface="Inter"/>
              </a:rPr>
              <a:t>Advancing Knowledge
Together</a:t>
            </a:r>
          </a:p>
        </p:txBody>
      </p:sp>
      <p:cxnSp>
        <p:nvCxnSpPr>
          <p:cNvPr id="5" name="Connector 4"/>
          <p:cNvCxnSpPr/>
          <p:nvPr/>
        </p:nvCxnSpPr>
        <p:spPr>
          <a:xfrm>
            <a:off x="5796000" y="3529000"/>
            <a:ext cx="600000" cy="0"/>
          </a:xfrm>
          <a:prstGeom prst="line">
            <a:avLst/>
          </a:prstGeom>
          <a:ln w="19050">
            <a:solidFill>
              <a:srgbClr val="9B2335"/>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685800" y="3779000"/>
            <a:ext cx="8820400" cy="400000"/>
          </a:xfrm>
          <a:prstGeom prst="rect">
            <a:avLst/>
          </a:prstGeom>
          <a:noFill/>
        </p:spPr>
        <p:txBody>
          <a:bodyPr wrap="square" anchor="t">
            <a:spAutoFit/>
          </a:bodyPr>
          <a:lstStyle/>
          <a:p>
            <a:pPr algn="ctr"/>
            <a:r>
              <a:rPr sz="1400" b="0" i="0">
                <a:solidFill>
                  <a:srgbClr val="4A5568"/>
                </a:solidFill>
                <a:latin typeface="Inter"/>
              </a:rPr>
              <a:t>Join us in shaping the future through research, teaching, and innovation.</a:t>
            </a:r>
          </a:p>
        </p:txBody>
      </p:sp>
      <p:cxnSp>
        <p:nvCxnSpPr>
          <p:cNvPr id="7" name="Connector 6"/>
          <p:cNvCxnSpPr/>
          <p:nvPr/>
        </p:nvCxnSpPr>
        <p:spPr>
          <a:xfrm>
            <a:off x="3352800" y="4429000"/>
            <a:ext cx="54864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4729000"/>
            <a:ext cx="10820400" cy="400000"/>
          </a:xfrm>
          <a:prstGeom prst="rect">
            <a:avLst/>
          </a:prstGeom>
          <a:noFill/>
        </p:spPr>
        <p:txBody>
          <a:bodyPr wrap="square" anchor="t">
            <a:spAutoFit/>
          </a:bodyPr>
          <a:lstStyle/>
          <a:p>
            <a:pPr algn="ctr"/>
            <a:r>
              <a:rPr sz="1100" b="0" i="0">
                <a:solidFill>
                  <a:srgbClr val="4A5568"/>
                </a:solidFill>
                <a:latin typeface="Inter"/>
              </a:rPr>
              <a:t>Email: contact@company.com    |    Phone: +1 (555) 123-4567    |    Web: www.company.com</a:t>
            </a:r>
          </a:p>
        </p:txBody>
      </p:sp>
      <p:sp>
        <p:nvSpPr>
          <p:cNvPr id="9" name="Rectangle 8"/>
          <p:cNvSpPr/>
          <p:nvPr/>
        </p:nvSpPr>
        <p:spPr>
          <a:xfrm>
            <a:off x="0" y="6400800"/>
            <a:ext cx="12192000" cy="457200"/>
          </a:xfrm>
          <a:prstGeom prst="rect">
            <a:avLst/>
          </a:prstGeom>
          <a:solidFill>
            <a:srgbClr val="18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1540" y="6500800"/>
            <a:ext cx="3000000" cy="260000"/>
          </a:xfrm>
          <a:prstGeom prst="rect">
            <a:avLst/>
          </a:prstGeom>
          <a:noFill/>
        </p:spPr>
        <p:txBody>
          <a:bodyPr wrap="square" anchor="t">
            <a:spAutoFit/>
          </a:bodyPr>
          <a:lstStyle/>
          <a:p>
            <a:pPr algn="l"/>
            <a:r>
              <a:rPr sz="1200" b="0" i="0">
                <a:solidFill>
                  <a:srgbClr val="8E9CAF"/>
                </a:solidFill>
                <a:latin typeface="Inter"/>
              </a:rPr>
              <a:t>University</a:t>
            </a:r>
          </a:p>
        </p:txBody>
      </p:sp>
      <p:sp>
        <p:nvSpPr>
          <p:cNvPr id="11" name="TextBox 10"/>
          <p:cNvSpPr txBox="1"/>
          <p:nvPr/>
        </p:nvSpPr>
        <p:spPr>
          <a:xfrm>
            <a:off x="11106200" y="6500800"/>
            <a:ext cx="400000" cy="260000"/>
          </a:xfrm>
          <a:prstGeom prst="rect">
            <a:avLst/>
          </a:prstGeom>
          <a:noFill/>
        </p:spPr>
        <p:txBody>
          <a:bodyPr wrap="square" anchor="t">
            <a:spAutoFit/>
          </a:bodyPr>
          <a:lstStyle/>
          <a:p>
            <a:pPr algn="r"/>
            <a:r>
              <a:rPr sz="900" b="0" i="0">
                <a:solidFill>
                  <a:srgbClr val="8E9CAF"/>
                </a:solidFill>
                <a:latin typeface="Inter"/>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3352800" y="1829000"/>
            <a:ext cx="54864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2129000"/>
            <a:ext cx="10820400" cy="900000"/>
          </a:xfrm>
          <a:prstGeom prst="rect">
            <a:avLst/>
          </a:prstGeom>
          <a:noFill/>
        </p:spPr>
        <p:txBody>
          <a:bodyPr wrap="square" anchor="t">
            <a:spAutoFit/>
          </a:bodyPr>
          <a:lstStyle/>
          <a:p>
            <a:pPr algn="ctr"/>
            <a:r>
              <a:rPr sz="3800" b="1" i="0">
                <a:solidFill>
                  <a:srgbClr val="1E3A5F"/>
                </a:solidFill>
                <a:latin typeface="Inter"/>
              </a:rPr>
              <a:t>Thank You</a:t>
            </a:r>
          </a:p>
        </p:txBody>
      </p:sp>
      <p:cxnSp>
        <p:nvCxnSpPr>
          <p:cNvPr id="5" name="Connector 4"/>
          <p:cNvCxnSpPr/>
          <p:nvPr/>
        </p:nvCxnSpPr>
        <p:spPr>
          <a:xfrm>
            <a:off x="5796000" y="3229000"/>
            <a:ext cx="600000" cy="0"/>
          </a:xfrm>
          <a:prstGeom prst="line">
            <a:avLst/>
          </a:prstGeom>
          <a:ln w="19050">
            <a:solidFill>
              <a:srgbClr val="9B2335"/>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685800" y="3429000"/>
            <a:ext cx="8820400" cy="400000"/>
          </a:xfrm>
          <a:prstGeom prst="rect">
            <a:avLst/>
          </a:prstGeom>
          <a:noFill/>
        </p:spPr>
        <p:txBody>
          <a:bodyPr wrap="square" anchor="t">
            <a:spAutoFit/>
          </a:bodyPr>
          <a:lstStyle/>
          <a:p>
            <a:pPr algn="ctr"/>
            <a:r>
              <a:rPr sz="1400" b="0" i="0">
                <a:solidFill>
                  <a:srgbClr val="4A5568"/>
                </a:solidFill>
                <a:latin typeface="Inter"/>
              </a:rPr>
              <a:t>We appreciate your time and attention.</a:t>
            </a:r>
          </a:p>
        </p:txBody>
      </p:sp>
      <p:cxnSp>
        <p:nvCxnSpPr>
          <p:cNvPr id="7" name="Connector 6"/>
          <p:cNvCxnSpPr/>
          <p:nvPr/>
        </p:nvCxnSpPr>
        <p:spPr>
          <a:xfrm>
            <a:off x="3352800" y="4129000"/>
            <a:ext cx="5486400" cy="0"/>
          </a:xfrm>
          <a:prstGeom prst="line">
            <a:avLst/>
          </a:prstGeom>
          <a:ln w="6350">
            <a:solidFill>
              <a:srgbClr val="B6BBC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4429000"/>
            <a:ext cx="10820400" cy="300000"/>
          </a:xfrm>
          <a:prstGeom prst="rect">
            <a:avLst/>
          </a:prstGeom>
          <a:noFill/>
        </p:spPr>
        <p:txBody>
          <a:bodyPr wrap="square" anchor="t">
            <a:spAutoFit/>
          </a:bodyPr>
          <a:lstStyle/>
          <a:p>
            <a:pPr algn="ctr"/>
            <a:r>
              <a:rPr sz="1100" b="0" i="0">
                <a:solidFill>
                  <a:srgbClr val="4A5568"/>
                </a:solidFill>
                <a:latin typeface="Inter"/>
              </a:rPr>
              <a:t>✉  Email: contact@company.com</a:t>
            </a:r>
          </a:p>
        </p:txBody>
      </p:sp>
      <p:sp>
        <p:nvSpPr>
          <p:cNvPr id="9" name="TextBox 8"/>
          <p:cNvSpPr txBox="1"/>
          <p:nvPr/>
        </p:nvSpPr>
        <p:spPr>
          <a:xfrm>
            <a:off x="685800" y="4779000"/>
            <a:ext cx="10820400" cy="300000"/>
          </a:xfrm>
          <a:prstGeom prst="rect">
            <a:avLst/>
          </a:prstGeom>
          <a:noFill/>
        </p:spPr>
        <p:txBody>
          <a:bodyPr wrap="square" anchor="t">
            <a:spAutoFit/>
          </a:bodyPr>
          <a:lstStyle/>
          <a:p>
            <a:pPr algn="ctr"/>
            <a:r>
              <a:rPr sz="1100" b="0" i="0">
                <a:solidFill>
                  <a:srgbClr val="4A5568"/>
                </a:solidFill>
                <a:latin typeface="Inter"/>
              </a:rPr>
              <a:t>☎  Phone: +1 (555) 123-4567</a:t>
            </a:r>
          </a:p>
        </p:txBody>
      </p:sp>
      <p:sp>
        <p:nvSpPr>
          <p:cNvPr id="10" name="TextBox 9"/>
          <p:cNvSpPr txBox="1"/>
          <p:nvPr/>
        </p:nvSpPr>
        <p:spPr>
          <a:xfrm>
            <a:off x="685800" y="5129000"/>
            <a:ext cx="10820400" cy="300000"/>
          </a:xfrm>
          <a:prstGeom prst="rect">
            <a:avLst/>
          </a:prstGeom>
          <a:noFill/>
        </p:spPr>
        <p:txBody>
          <a:bodyPr wrap="square" anchor="t">
            <a:spAutoFit/>
          </a:bodyPr>
          <a:lstStyle/>
          <a:p>
            <a:pPr algn="ctr"/>
            <a:r>
              <a:rPr sz="1100" b="0" i="0">
                <a:solidFill>
                  <a:srgbClr val="4A5568"/>
                </a:solidFill>
                <a:latin typeface="Inter"/>
              </a:rPr>
              <a:t>⌂  Website: www.company.com</a:t>
            </a:r>
          </a:p>
        </p:txBody>
      </p:sp>
      <p:sp>
        <p:nvSpPr>
          <p:cNvPr id="11" name="TextBox 10"/>
          <p:cNvSpPr txBox="1"/>
          <p:nvPr/>
        </p:nvSpPr>
        <p:spPr>
          <a:xfrm>
            <a:off x="685800" y="5479000"/>
            <a:ext cx="10820400" cy="300000"/>
          </a:xfrm>
          <a:prstGeom prst="rect">
            <a:avLst/>
          </a:prstGeom>
          <a:noFill/>
        </p:spPr>
        <p:txBody>
          <a:bodyPr wrap="square" anchor="t">
            <a:spAutoFit/>
          </a:bodyPr>
          <a:lstStyle/>
          <a:p>
            <a:pPr algn="ctr"/>
            <a:r>
              <a:rPr sz="1100" b="0" i="0">
                <a:solidFill>
                  <a:srgbClr val="4A5568"/>
                </a:solidFill>
                <a:latin typeface="Inter"/>
              </a:rPr>
              <a:t>⚑  Location: New York, NY</a:t>
            </a:r>
          </a:p>
        </p:txBody>
      </p:sp>
      <p:sp>
        <p:nvSpPr>
          <p:cNvPr id="12" name="TextBox 11"/>
          <p:cNvSpPr txBox="1"/>
          <p:nvPr/>
        </p:nvSpPr>
        <p:spPr>
          <a:xfrm>
            <a:off x="685800" y="5958000"/>
            <a:ext cx="10820400" cy="350000"/>
          </a:xfrm>
          <a:prstGeom prst="rect">
            <a:avLst/>
          </a:prstGeom>
          <a:noFill/>
        </p:spPr>
        <p:txBody>
          <a:bodyPr wrap="square" anchor="t">
            <a:spAutoFit/>
          </a:bodyPr>
          <a:lstStyle/>
          <a:p>
            <a:pPr algn="ctr"/>
            <a:r>
              <a:rPr sz="1100" b="0" i="0">
                <a:solidFill>
                  <a:srgbClr val="A4AAB3"/>
                </a:solidFill>
                <a:latin typeface="Inter"/>
              </a:rPr>
              <a:t>University</a:t>
            </a:r>
          </a:p>
        </p:txBody>
      </p:sp>
      <p:sp>
        <p:nvSpPr>
          <p:cNvPr id="13" name="Rectangle 12"/>
          <p:cNvSpPr/>
          <p:nvPr/>
        </p:nvSpPr>
        <p:spPr>
          <a:xfrm>
            <a:off x="0" y="6400800"/>
            <a:ext cx="1219200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 y="6500800"/>
            <a:ext cx="3000000" cy="260000"/>
          </a:xfrm>
          <a:prstGeom prst="rect">
            <a:avLst/>
          </a:prstGeom>
          <a:noFill/>
        </p:spPr>
        <p:txBody>
          <a:bodyPr wrap="square" anchor="t">
            <a:spAutoFit/>
          </a:bodyPr>
          <a:lstStyle/>
          <a:p>
            <a:pPr algn="l"/>
            <a:r>
              <a:rPr sz="1200" b="0" i="0">
                <a:solidFill>
                  <a:srgbClr val="4A5568"/>
                </a:solidFill>
                <a:latin typeface="Inter"/>
              </a:rPr>
              <a:t>University</a:t>
            </a:r>
          </a:p>
        </p:txBody>
      </p:sp>
      <p:sp>
        <p:nvSpPr>
          <p:cNvPr id="15" name="TextBox 14"/>
          <p:cNvSpPr txBox="1"/>
          <p:nvPr/>
        </p:nvSpPr>
        <p:spPr>
          <a:xfrm>
            <a:off x="11106200" y="6500800"/>
            <a:ext cx="400000" cy="260000"/>
          </a:xfrm>
          <a:prstGeom prst="rect">
            <a:avLst/>
          </a:prstGeom>
          <a:noFill/>
        </p:spPr>
        <p:txBody>
          <a:bodyPr wrap="square" anchor="t">
            <a:spAutoFit/>
          </a:bodyPr>
          <a:lstStyle/>
          <a:p>
            <a:pPr algn="r"/>
            <a:r>
              <a:rPr sz="900" b="0" i="0">
                <a:solidFill>
                  <a:srgbClr val="4A5568"/>
                </a:solidFill>
                <a:latin typeface="Inter"/>
              </a:rPr>
              <a:t>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